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282" r:id="rId3"/>
    <p:sldId id="283" r:id="rId4"/>
    <p:sldId id="284" r:id="rId5"/>
    <p:sldId id="285" r:id="rId6"/>
    <p:sldId id="258" r:id="rId7"/>
    <p:sldId id="259" r:id="rId8"/>
    <p:sldId id="286" r:id="rId9"/>
    <p:sldId id="260" r:id="rId10"/>
    <p:sldId id="262" r:id="rId11"/>
    <p:sldId id="263" r:id="rId12"/>
    <p:sldId id="277" r:id="rId13"/>
    <p:sldId id="264" r:id="rId14"/>
    <p:sldId id="261" r:id="rId15"/>
    <p:sldId id="265" r:id="rId16"/>
    <p:sldId id="267" r:id="rId17"/>
    <p:sldId id="268" r:id="rId18"/>
    <p:sldId id="266" r:id="rId19"/>
    <p:sldId id="269" r:id="rId20"/>
    <p:sldId id="270" r:id="rId21"/>
    <p:sldId id="271" r:id="rId22"/>
    <p:sldId id="274" r:id="rId23"/>
    <p:sldId id="272" r:id="rId24"/>
    <p:sldId id="287" r:id="rId25"/>
    <p:sldId id="288" r:id="rId26"/>
    <p:sldId id="290" r:id="rId27"/>
    <p:sldId id="291" r:id="rId28"/>
    <p:sldId id="301" r:id="rId29"/>
    <p:sldId id="302" r:id="rId30"/>
    <p:sldId id="289" r:id="rId31"/>
    <p:sldId id="281" r:id="rId32"/>
    <p:sldId id="303" r:id="rId33"/>
    <p:sldId id="293" r:id="rId34"/>
    <p:sldId id="294" r:id="rId35"/>
    <p:sldId id="296" r:id="rId36"/>
    <p:sldId id="306" r:id="rId37"/>
    <p:sldId id="297" r:id="rId38"/>
    <p:sldId id="304" r:id="rId39"/>
    <p:sldId id="298" r:id="rId40"/>
    <p:sldId id="299" r:id="rId41"/>
    <p:sldId id="278" r:id="rId42"/>
    <p:sldId id="555" r:id="rId43"/>
    <p:sldId id="280" r:id="rId44"/>
    <p:sldId id="556" r:id="rId45"/>
    <p:sldId id="279" r:id="rId46"/>
    <p:sldId id="554" r:id="rId47"/>
    <p:sldId id="300" r:id="rId48"/>
    <p:sldId id="307" r:id="rId49"/>
    <p:sldId id="275" r:id="rId50"/>
    <p:sldId id="276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74802-B0E3-44F7-93F7-03CF97830261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E2892-B83A-4FCB-A35B-08AD7D1BA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64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88FEA-790F-4BCA-8DAB-0ED09F27C83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512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88FEA-790F-4BCA-8DAB-0ED09F27C83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453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88FEA-790F-4BCA-8DAB-0ED09F27C83F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091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88FEA-790F-4BCA-8DAB-0ED09F27C83F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99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D51F7-892B-C205-0EC3-3ADE2A66F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42ABA2-B2A3-D208-0C57-8EFC799CD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9BED6-5686-2AEA-4AFB-C2FA3619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32CAC8-C8A8-9B2F-2B37-E55BEC45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BAD8C-6213-AF7F-2320-E1796AF1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5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DA6AA-21E3-58D0-CE37-6F40E11B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79812D-7D37-6235-CA89-9162F4638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A6E7DC-9546-B6C5-A226-7F292B757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2695-F351-8A29-8806-88175101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6F066-BDB3-399C-AA40-480B3EB2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98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3FCC7-908E-D83E-222A-1D2B05F3E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7C151A-D1C2-4A63-503E-3AF82AD29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764AF-111C-0D7C-9F34-7A750C6C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D65D91-078E-4EF7-6E18-2299A8C5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58B3B6-80B8-C4D1-3557-B1F209B0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6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9856F-8DD8-E1BB-E3C6-94435A69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8B206-F7BC-475A-CAD2-7D2331C0F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FF8E16-AE05-5220-AC73-FF14B8D75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1936-4258-CD35-CE42-D7EB28E7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167DC-7690-C10E-807A-F39F53CF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DAC43-050D-DFFF-4357-974680CA3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23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2ADB7-DEAE-2F19-CB78-9D935790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9406E0-2AAC-A6B4-2739-2B8843DC8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933F44-A2D3-EE4E-095F-D053174B8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BF4B40-A98E-3B22-67B9-2D1458218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DAFE2D-A918-6D1D-32BD-209583715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E2EBD0-AC92-CF8D-6187-5074C285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FFD3F5-5ACB-9AAD-A6A1-31C9CABE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098B70-BF80-96D0-BCE3-94147C53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68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C9730-F00A-EC11-21BC-3916BB50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1C990F-8E56-7266-6608-A281B354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49BBDE-2F4B-02CD-871B-C4935F9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F8756E-2A0F-DADB-0B40-9DF68AC1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8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FAEF55-CC48-31FF-D858-E052882D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B2644A-31A4-4DC5-63E8-B81FA62A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92FEC1-F0B1-CA85-F256-2B522A7B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16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116D9-D395-0049-3719-F91EA8C1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4FD32-108E-4AF1-CAFC-6D8DB462D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79DFCA-FA11-D6E8-5ADA-1EFE97E5F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F7DDE9-0A1A-0183-0BA9-652F22BC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E9635F-640B-B3DA-9F3C-1A881579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D00C86-7752-9521-943B-C729F21D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2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69A1A-E99D-DA75-5AC8-D42D77FD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54C42A-113D-01F4-8DEB-770C4D1BC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E24D6-7632-7630-02FC-4636F408E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D95428-49B1-B7B0-C688-F500954D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A8E94-3556-14E5-A8E4-8319DD12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13D50A-A5DE-28E2-2166-2193D0D1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12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76345-6888-D7BF-BEBA-46F6098A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B7583F-2648-ED62-CF07-F7202221B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14D6F-8363-9A51-A1C8-F3D71A95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D9C188-EECB-8A0F-5ED8-A37711D2F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DE73CB-2516-319B-2DB9-ED88C007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38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102085-3A76-7891-1903-C53C1447B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C9EBA8-8D03-DC44-7D18-3D39BD0F1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1CEFC-6F61-B1A8-7567-77A667B38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B5DD4-C0EB-C797-98DC-EF86BBD8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77F9B-132E-7FFB-2E03-72C18DFA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1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505515-3973-7028-6747-A4C6BC9D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98E9B4-FA9D-7F48-4EF1-AEA3A5470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789ECC-C4E6-1AD0-37F1-154A4860B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45E23-2031-48F0-9DD9-7954A6E8D08B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978D6-6336-DCB1-3024-45CCAB6FE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C0DC6-4E45-7FD5-2D09-C8E3627BC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45E56-6D52-4A5E-816E-5761BBA91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36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.png"/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10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49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10.png"/><Relationship Id="rId9" Type="http://schemas.openxmlformats.org/officeDocument/2006/relationships/image" Target="../media/image81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3" Type="http://schemas.openxmlformats.org/officeDocument/2006/relationships/image" Target="../media/image57.png"/><Relationship Id="rId7" Type="http://schemas.openxmlformats.org/officeDocument/2006/relationships/image" Target="../media/image580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0.png"/><Relationship Id="rId5" Type="http://schemas.openxmlformats.org/officeDocument/2006/relationships/image" Target="../media/image58.png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1.png"/><Relationship Id="rId3" Type="http://schemas.openxmlformats.org/officeDocument/2006/relationships/image" Target="../media/image211.png"/><Relationship Id="rId7" Type="http://schemas.openxmlformats.org/officeDocument/2006/relationships/image" Target="../media/image61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100.png"/><Relationship Id="rId5" Type="http://schemas.openxmlformats.org/officeDocument/2006/relationships/image" Target="../media/image410.png"/><Relationship Id="rId10" Type="http://schemas.openxmlformats.org/officeDocument/2006/relationships/image" Target="../media/image90.png"/><Relationship Id="rId4" Type="http://schemas.openxmlformats.org/officeDocument/2006/relationships/image" Target="../media/image66.png"/><Relationship Id="rId9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20.png"/><Relationship Id="rId3" Type="http://schemas.openxmlformats.org/officeDocument/2006/relationships/image" Target="../media/image60.png"/><Relationship Id="rId7" Type="http://schemas.openxmlformats.org/officeDocument/2006/relationships/image" Target="../media/image160.png"/><Relationship Id="rId12" Type="http://schemas.openxmlformats.org/officeDocument/2006/relationships/image" Target="../media/image63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0.png"/><Relationship Id="rId5" Type="http://schemas.openxmlformats.org/officeDocument/2006/relationships/image" Target="../media/image62.png"/><Relationship Id="rId10" Type="http://schemas.openxmlformats.org/officeDocument/2006/relationships/image" Target="../media/image190.png"/><Relationship Id="rId4" Type="http://schemas.openxmlformats.org/officeDocument/2006/relationships/image" Target="../media/image131.png"/><Relationship Id="rId9" Type="http://schemas.openxmlformats.org/officeDocument/2006/relationships/image" Target="../media/image1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67.png"/><Relationship Id="rId4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2.png"/><Relationship Id="rId13" Type="http://schemas.openxmlformats.org/officeDocument/2006/relationships/image" Target="../media/image101.png"/><Relationship Id="rId18" Type="http://schemas.openxmlformats.org/officeDocument/2006/relationships/image" Target="../media/image78.png"/><Relationship Id="rId3" Type="http://schemas.openxmlformats.org/officeDocument/2006/relationships/image" Target="../media/image212.png"/><Relationship Id="rId7" Type="http://schemas.openxmlformats.org/officeDocument/2006/relationships/image" Target="../media/image511.png"/><Relationship Id="rId12" Type="http://schemas.openxmlformats.org/officeDocument/2006/relationships/image" Target="../media/image91.png"/><Relationship Id="rId17" Type="http://schemas.openxmlformats.org/officeDocument/2006/relationships/image" Target="../media/image77.png"/><Relationship Id="rId2" Type="http://schemas.openxmlformats.org/officeDocument/2006/relationships/image" Target="../media/image112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1.png"/><Relationship Id="rId11" Type="http://schemas.openxmlformats.org/officeDocument/2006/relationships/image" Target="../media/image83.png"/><Relationship Id="rId5" Type="http://schemas.openxmlformats.org/officeDocument/2006/relationships/image" Target="../media/image75.png"/><Relationship Id="rId15" Type="http://schemas.openxmlformats.org/officeDocument/2006/relationships/image" Target="../media/image120.png"/><Relationship Id="rId10" Type="http://schemas.openxmlformats.org/officeDocument/2006/relationships/image" Target="../media/image712.png"/><Relationship Id="rId4" Type="http://schemas.openxmlformats.org/officeDocument/2006/relationships/image" Target="../media/image311.png"/><Relationship Id="rId9" Type="http://schemas.openxmlformats.org/officeDocument/2006/relationships/image" Target="../media/image76.png"/><Relationship Id="rId14" Type="http://schemas.openxmlformats.org/officeDocument/2006/relationships/image" Target="../media/image1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9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0.png"/><Relationship Id="rId9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3" Type="http://schemas.openxmlformats.org/officeDocument/2006/relationships/image" Target="../media/image84.png"/><Relationship Id="rId7" Type="http://schemas.openxmlformats.org/officeDocument/2006/relationships/image" Target="../media/image870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8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2.png"/><Relationship Id="rId5" Type="http://schemas.openxmlformats.org/officeDocument/2006/relationships/image" Target="../media/image313.png"/><Relationship Id="rId10" Type="http://schemas.openxmlformats.org/officeDocument/2006/relationships/image" Target="../media/image93.png"/><Relationship Id="rId4" Type="http://schemas.openxmlformats.org/officeDocument/2006/relationships/image" Target="../media/image213.png"/><Relationship Id="rId9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7" Type="http://schemas.openxmlformats.org/officeDocument/2006/relationships/image" Target="../media/image104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0.png"/><Relationship Id="rId5" Type="http://schemas.openxmlformats.org/officeDocument/2006/relationships/image" Target="../media/image1020.png"/><Relationship Id="rId4" Type="http://schemas.openxmlformats.org/officeDocument/2006/relationships/image" Target="../media/image9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FAA69-787E-1578-64CB-50D472289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总复习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8961C3-6102-1784-9064-81895855C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龙志颖</a:t>
            </a:r>
          </a:p>
        </p:txBody>
      </p:sp>
    </p:spTree>
    <p:extLst>
      <p:ext uri="{BB962C8B-B14F-4D97-AF65-F5344CB8AC3E}">
        <p14:creationId xmlns:p14="http://schemas.microsoft.com/office/powerpoint/2010/main" val="196325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D9F250-40CC-2E58-DB99-96E6685761F0}"/>
              </a:ext>
            </a:extLst>
          </p:cNvPr>
          <p:cNvSpPr txBox="1"/>
          <p:nvPr/>
        </p:nvSpPr>
        <p:spPr>
          <a:xfrm>
            <a:off x="1260305" y="3119046"/>
            <a:ext cx="2045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电路结构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7AEE46-B46F-7474-BA8B-C40EAD4EB632}"/>
              </a:ext>
            </a:extLst>
          </p:cNvPr>
          <p:cNvSpPr txBox="1"/>
          <p:nvPr/>
        </p:nvSpPr>
        <p:spPr>
          <a:xfrm>
            <a:off x="7244753" y="3195229"/>
            <a:ext cx="245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电路功能</a:t>
            </a: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32BB277C-137C-7E42-FBA5-A71B05FE31E6}"/>
              </a:ext>
            </a:extLst>
          </p:cNvPr>
          <p:cNvSpPr/>
          <p:nvPr/>
        </p:nvSpPr>
        <p:spPr>
          <a:xfrm rot="3522382">
            <a:off x="2862511" y="2202796"/>
            <a:ext cx="345102" cy="871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A464917E-BC32-1531-EA1E-440A86574616}"/>
              </a:ext>
            </a:extLst>
          </p:cNvPr>
          <p:cNvSpPr/>
          <p:nvPr/>
        </p:nvSpPr>
        <p:spPr>
          <a:xfrm rot="18009198">
            <a:off x="7565656" y="2269033"/>
            <a:ext cx="345102" cy="871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B45D059-C9BB-80BB-A670-238B7CBF900B}"/>
              </a:ext>
            </a:extLst>
          </p:cNvPr>
          <p:cNvCxnSpPr>
            <a:cxnSpLocks/>
          </p:cNvCxnSpPr>
          <p:nvPr/>
        </p:nvCxnSpPr>
        <p:spPr>
          <a:xfrm flipV="1">
            <a:off x="3543300" y="3349049"/>
            <a:ext cx="3463290" cy="1548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2B73E5E-A523-BF10-3DB1-43345F76141A}"/>
              </a:ext>
            </a:extLst>
          </p:cNvPr>
          <p:cNvCxnSpPr>
            <a:cxnSpLocks/>
          </p:cNvCxnSpPr>
          <p:nvPr/>
        </p:nvCxnSpPr>
        <p:spPr>
          <a:xfrm flipH="1">
            <a:off x="3497039" y="3703821"/>
            <a:ext cx="350955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4A77258-E2B4-F814-EA77-231F21C723ED}"/>
              </a:ext>
            </a:extLst>
          </p:cNvPr>
          <p:cNvSpPr txBox="1"/>
          <p:nvPr/>
        </p:nvSpPr>
        <p:spPr>
          <a:xfrm>
            <a:off x="3646762" y="2825829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8CF6ED-DE17-EEA7-949F-7063F23808FE}"/>
              </a:ext>
            </a:extLst>
          </p:cNvPr>
          <p:cNvSpPr txBox="1"/>
          <p:nvPr/>
        </p:nvSpPr>
        <p:spPr>
          <a:xfrm>
            <a:off x="4327736" y="2856136"/>
            <a:ext cx="3167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（从抽象到具体）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E137E2-EC7D-C189-B3A2-186ADFE19A3F}"/>
              </a:ext>
            </a:extLst>
          </p:cNvPr>
          <p:cNvSpPr txBox="1"/>
          <p:nvPr/>
        </p:nvSpPr>
        <p:spPr>
          <a:xfrm>
            <a:off x="4225967" y="3733853"/>
            <a:ext cx="3167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（从具体到抽象）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E85B8E2-3CA0-C5DC-482B-6E77AB8C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217" y="1142302"/>
            <a:ext cx="4151962" cy="1325563"/>
          </a:xfrm>
        </p:spPr>
        <p:txBody>
          <a:bodyPr/>
          <a:lstStyle/>
          <a:p>
            <a:r>
              <a:rPr lang="zh-CN" altLang="en-US" dirty="0"/>
              <a:t>数字逻辑电路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9822B7-7568-1DB3-6F44-E6142A0A5188}"/>
              </a:ext>
            </a:extLst>
          </p:cNvPr>
          <p:cNvSpPr txBox="1"/>
          <p:nvPr/>
        </p:nvSpPr>
        <p:spPr>
          <a:xfrm>
            <a:off x="7198860" y="4009166"/>
            <a:ext cx="225655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第一章：逻辑代数基础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F81EF9-F8E6-A65C-02FC-1469AE338FFB}"/>
              </a:ext>
            </a:extLst>
          </p:cNvPr>
          <p:cNvSpPr txBox="1"/>
          <p:nvPr/>
        </p:nvSpPr>
        <p:spPr>
          <a:xfrm>
            <a:off x="3583547" y="3703821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6000C2-AA79-BF97-EB53-8365E3B53A26}"/>
              </a:ext>
            </a:extLst>
          </p:cNvPr>
          <p:cNvSpPr txBox="1"/>
          <p:nvPr/>
        </p:nvSpPr>
        <p:spPr>
          <a:xfrm>
            <a:off x="1437853" y="3803933"/>
            <a:ext cx="1571007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第二章：门电路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E1FB6C-E2F9-E10A-3A94-EEB2F914CB40}"/>
              </a:ext>
            </a:extLst>
          </p:cNvPr>
          <p:cNvSpPr txBox="1"/>
          <p:nvPr/>
        </p:nvSpPr>
        <p:spPr>
          <a:xfrm>
            <a:off x="3408046" y="4511732"/>
            <a:ext cx="1419816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第三章：组合逻辑电路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9EB24D-3ABA-A3A1-DB3C-5F2A0C923956}"/>
              </a:ext>
            </a:extLst>
          </p:cNvPr>
          <p:cNvSpPr txBox="1"/>
          <p:nvPr/>
        </p:nvSpPr>
        <p:spPr>
          <a:xfrm>
            <a:off x="5303453" y="4465159"/>
            <a:ext cx="1419816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第四章：时序逻辑电路</a:t>
            </a:r>
          </a:p>
        </p:txBody>
      </p:sp>
    </p:spTree>
    <p:extLst>
      <p:ext uri="{BB962C8B-B14F-4D97-AF65-F5344CB8AC3E}">
        <p14:creationId xmlns:p14="http://schemas.microsoft.com/office/powerpoint/2010/main" val="258662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10" grpId="0"/>
      <p:bldP spid="11" grpId="0"/>
      <p:bldP spid="12" grpId="0"/>
      <p:bldP spid="15" grpId="0" animBg="1"/>
      <p:bldP spid="19" grpId="0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A1694-22AB-F76C-4037-4CCD1395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第一章：逻辑代数基础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B097C5-637E-C965-0CB3-75BA6767054A}"/>
              </a:ext>
            </a:extLst>
          </p:cNvPr>
          <p:cNvSpPr txBox="1"/>
          <p:nvPr/>
        </p:nvSpPr>
        <p:spPr>
          <a:xfrm>
            <a:off x="9485947" y="1346682"/>
            <a:ext cx="325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常见的十进制编码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C60034-B4E3-7A6A-31A8-073CE036E025}"/>
              </a:ext>
            </a:extLst>
          </p:cNvPr>
          <p:cNvSpPr txBox="1"/>
          <p:nvPr/>
        </p:nvSpPr>
        <p:spPr>
          <a:xfrm>
            <a:off x="10155555" y="2128083"/>
            <a:ext cx="1920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8421BCD</a:t>
            </a:r>
            <a:r>
              <a:rPr lang="zh-CN" altLang="en-US" sz="2400" dirty="0"/>
              <a:t>码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C45CE5-A96F-F3DF-2616-29C41CC4369E}"/>
              </a:ext>
            </a:extLst>
          </p:cNvPr>
          <p:cNvSpPr txBox="1"/>
          <p:nvPr/>
        </p:nvSpPr>
        <p:spPr>
          <a:xfrm>
            <a:off x="2005012" y="4991985"/>
            <a:ext cx="306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格雷码（循环码）</a:t>
            </a:r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77AD40BE-EE2C-80C9-9458-50BBF0C95676}"/>
              </a:ext>
            </a:extLst>
          </p:cNvPr>
          <p:cNvSpPr/>
          <p:nvPr/>
        </p:nvSpPr>
        <p:spPr>
          <a:xfrm>
            <a:off x="9072563" y="2239428"/>
            <a:ext cx="845820" cy="21717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848075-5FF1-D5D2-26CA-87EC7E2AB76C}"/>
              </a:ext>
            </a:extLst>
          </p:cNvPr>
          <p:cNvSpPr txBox="1"/>
          <p:nvPr/>
        </p:nvSpPr>
        <p:spPr>
          <a:xfrm>
            <a:off x="4679633" y="2100916"/>
            <a:ext cx="412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前</a:t>
            </a:r>
            <a:r>
              <a:rPr lang="en-US" altLang="zh-CN" sz="2400" dirty="0"/>
              <a:t>10</a:t>
            </a:r>
            <a:r>
              <a:rPr lang="zh-CN" altLang="en-US" sz="2400" dirty="0"/>
              <a:t>个四位二进制编码（</a:t>
            </a:r>
            <a:r>
              <a:rPr lang="en-US" altLang="zh-CN" sz="2400" dirty="0"/>
              <a:t>0-9</a:t>
            </a:r>
            <a:r>
              <a:rPr lang="zh-CN" altLang="en-US" sz="2400" dirty="0"/>
              <a:t>）</a:t>
            </a:r>
          </a:p>
        </p:txBody>
      </p:sp>
      <p:sp>
        <p:nvSpPr>
          <p:cNvPr id="22" name="箭头: 左右 21">
            <a:extLst>
              <a:ext uri="{FF2B5EF4-FFF2-40B4-BE49-F238E27FC236}">
                <a16:creationId xmlns:a16="http://schemas.microsoft.com/office/drawing/2014/main" id="{13F756C7-34B9-6814-3055-9A4295760CB9}"/>
              </a:ext>
            </a:extLst>
          </p:cNvPr>
          <p:cNvSpPr/>
          <p:nvPr/>
        </p:nvSpPr>
        <p:spPr>
          <a:xfrm>
            <a:off x="9172576" y="3030288"/>
            <a:ext cx="845820" cy="21717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7840A5-927A-C668-6F73-850E22DDB81E}"/>
              </a:ext>
            </a:extLst>
          </p:cNvPr>
          <p:cNvSpPr txBox="1"/>
          <p:nvPr/>
        </p:nvSpPr>
        <p:spPr>
          <a:xfrm>
            <a:off x="4552235" y="2952896"/>
            <a:ext cx="4520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4-13</a:t>
            </a:r>
            <a:r>
              <a:rPr lang="zh-CN" altLang="en-US" sz="2400" dirty="0"/>
              <a:t>个四位二进制编码（</a:t>
            </a:r>
            <a:r>
              <a:rPr lang="en-US" altLang="zh-CN" sz="2400" dirty="0"/>
              <a:t>3-12</a:t>
            </a:r>
            <a:r>
              <a:rPr lang="zh-CN" altLang="en-US" sz="2400" dirty="0"/>
              <a:t>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50FDEAE-BBDA-3E87-C8A9-4314876CDDAA}"/>
              </a:ext>
            </a:extLst>
          </p:cNvPr>
          <p:cNvSpPr txBox="1"/>
          <p:nvPr/>
        </p:nvSpPr>
        <p:spPr>
          <a:xfrm>
            <a:off x="2084070" y="2597963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二进制编码</a:t>
            </a:r>
          </a:p>
        </p:txBody>
      </p:sp>
      <p:sp>
        <p:nvSpPr>
          <p:cNvPr id="25" name="箭头: 左右 24">
            <a:extLst>
              <a:ext uri="{FF2B5EF4-FFF2-40B4-BE49-F238E27FC236}">
                <a16:creationId xmlns:a16="http://schemas.microsoft.com/office/drawing/2014/main" id="{F94C6BF2-4629-6676-BD94-D35A25B911F1}"/>
              </a:ext>
            </a:extLst>
          </p:cNvPr>
          <p:cNvSpPr/>
          <p:nvPr/>
        </p:nvSpPr>
        <p:spPr>
          <a:xfrm>
            <a:off x="9072563" y="5195490"/>
            <a:ext cx="845820" cy="21717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8F6E10-23B6-EA04-10AD-EEDCF9CCE221}"/>
              </a:ext>
            </a:extLst>
          </p:cNvPr>
          <p:cNvSpPr txBox="1"/>
          <p:nvPr/>
        </p:nvSpPr>
        <p:spPr>
          <a:xfrm>
            <a:off x="6642735" y="5073242"/>
            <a:ext cx="266700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4-13</a:t>
            </a:r>
            <a:r>
              <a:rPr lang="zh-CN" altLang="en-US" sz="2400" dirty="0"/>
              <a:t>个格雷码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2B42A2-2E93-CE03-351D-045230D17891}"/>
              </a:ext>
            </a:extLst>
          </p:cNvPr>
          <p:cNvSpPr txBox="1"/>
          <p:nvPr/>
        </p:nvSpPr>
        <p:spPr>
          <a:xfrm>
            <a:off x="245745" y="3157483"/>
            <a:ext cx="12839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数字电路中常用的编码方式</a:t>
            </a: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265CC4E7-1738-A7D5-C2BA-DE5120DFE0E2}"/>
              </a:ext>
            </a:extLst>
          </p:cNvPr>
          <p:cNvSpPr/>
          <p:nvPr/>
        </p:nvSpPr>
        <p:spPr>
          <a:xfrm>
            <a:off x="1398270" y="2741092"/>
            <a:ext cx="638175" cy="249608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5A5F21B-BA15-9346-D869-2164D5BB99DE}"/>
              </a:ext>
            </a:extLst>
          </p:cNvPr>
          <p:cNvSpPr txBox="1"/>
          <p:nvPr/>
        </p:nvSpPr>
        <p:spPr>
          <a:xfrm>
            <a:off x="10055541" y="5051923"/>
            <a:ext cx="2158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余三循环码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DDD9FEA-1667-DE42-2508-7A1167223BE9}"/>
              </a:ext>
            </a:extLst>
          </p:cNvPr>
          <p:cNvSpPr txBox="1"/>
          <p:nvPr/>
        </p:nvSpPr>
        <p:spPr>
          <a:xfrm>
            <a:off x="10288904" y="2886770"/>
            <a:ext cx="1135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余三码</a:t>
            </a:r>
            <a:endParaRPr lang="en-US" altLang="zh-CN" sz="24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65D3C1B-05D7-8860-EDFD-D537F7C24A69}"/>
              </a:ext>
            </a:extLst>
          </p:cNvPr>
          <p:cNvCxnSpPr>
            <a:cxnSpLocks/>
          </p:cNvCxnSpPr>
          <p:nvPr/>
        </p:nvCxnSpPr>
        <p:spPr>
          <a:xfrm flipV="1">
            <a:off x="3779998" y="2449137"/>
            <a:ext cx="606740" cy="3135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F538761-EFF4-7091-20F4-5A6EA11FF983}"/>
              </a:ext>
            </a:extLst>
          </p:cNvPr>
          <p:cNvCxnSpPr>
            <a:cxnSpLocks/>
          </p:cNvCxnSpPr>
          <p:nvPr/>
        </p:nvCxnSpPr>
        <p:spPr>
          <a:xfrm>
            <a:off x="3814762" y="2910801"/>
            <a:ext cx="571976" cy="2976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839061F-444D-81D6-1A49-33197CF8AA9F}"/>
              </a:ext>
            </a:extLst>
          </p:cNvPr>
          <p:cNvCxnSpPr>
            <a:cxnSpLocks/>
          </p:cNvCxnSpPr>
          <p:nvPr/>
        </p:nvCxnSpPr>
        <p:spPr>
          <a:xfrm flipV="1">
            <a:off x="4966452" y="5266880"/>
            <a:ext cx="1351478" cy="1643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5A5FEC7E-00CE-5192-E0EF-A241C10B12E2}"/>
              </a:ext>
            </a:extLst>
          </p:cNvPr>
          <p:cNvSpPr/>
          <p:nvPr/>
        </p:nvSpPr>
        <p:spPr>
          <a:xfrm>
            <a:off x="10055541" y="1975450"/>
            <a:ext cx="1994419" cy="3933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A8125F2-CCB1-9964-1B42-F6402B8BE383}"/>
              </a:ext>
            </a:extLst>
          </p:cNvPr>
          <p:cNvSpPr txBox="1"/>
          <p:nvPr/>
        </p:nvSpPr>
        <p:spPr>
          <a:xfrm>
            <a:off x="2005012" y="5534908"/>
            <a:ext cx="2381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相邻的两个数值只有一个二进制位不同</a:t>
            </a:r>
          </a:p>
        </p:txBody>
      </p:sp>
    </p:spTree>
    <p:extLst>
      <p:ext uri="{BB962C8B-B14F-4D97-AF65-F5344CB8AC3E}">
        <p14:creationId xmlns:p14="http://schemas.microsoft.com/office/powerpoint/2010/main" val="168076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0" grpId="0" animBg="1"/>
      <p:bldP spid="21" grpId="0"/>
      <p:bldP spid="22" grpId="0" animBg="1"/>
      <p:bldP spid="23" grpId="0"/>
      <p:bldP spid="24" grpId="0"/>
      <p:bldP spid="25" grpId="0" animBg="1"/>
      <p:bldP spid="26" grpId="0"/>
      <p:bldP spid="28" grpId="0" animBg="1"/>
      <p:bldP spid="30" grpId="0"/>
      <p:bldP spid="32" grpId="0"/>
      <p:bldP spid="40" grpId="0" animBg="1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左大括号 31">
            <a:extLst>
              <a:ext uri="{FF2B5EF4-FFF2-40B4-BE49-F238E27FC236}">
                <a16:creationId xmlns:a16="http://schemas.microsoft.com/office/drawing/2014/main" id="{7E044835-BD26-172D-6A2B-60F06D662B74}"/>
              </a:ext>
            </a:extLst>
          </p:cNvPr>
          <p:cNvSpPr/>
          <p:nvPr/>
        </p:nvSpPr>
        <p:spPr>
          <a:xfrm>
            <a:off x="1602462" y="2610771"/>
            <a:ext cx="870437" cy="33476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C4976F1-150C-B429-CE1C-84993FB30762}"/>
              </a:ext>
            </a:extLst>
          </p:cNvPr>
          <p:cNvSpPr txBox="1"/>
          <p:nvPr/>
        </p:nvSpPr>
        <p:spPr>
          <a:xfrm>
            <a:off x="4232569" y="2162172"/>
            <a:ext cx="181998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逻辑表达式</a:t>
            </a:r>
            <a:endParaRPr lang="en-US" altLang="zh-CN" sz="2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20445F-5A37-B71C-376C-6FEA2D1C9A58}"/>
              </a:ext>
            </a:extLst>
          </p:cNvPr>
          <p:cNvSpPr txBox="1"/>
          <p:nvPr/>
        </p:nvSpPr>
        <p:spPr>
          <a:xfrm>
            <a:off x="4170235" y="2807412"/>
            <a:ext cx="223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标准表达式</a:t>
            </a:r>
            <a:endParaRPr lang="en-US" altLang="zh-CN" sz="28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4E213FE-38E2-232F-CB18-2E85BDF4C90C}"/>
              </a:ext>
            </a:extLst>
          </p:cNvPr>
          <p:cNvSpPr txBox="1"/>
          <p:nvPr/>
        </p:nvSpPr>
        <p:spPr>
          <a:xfrm>
            <a:off x="7529024" y="2852757"/>
            <a:ext cx="122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最小项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AE4B313-E857-4F2A-A9AD-4C03A9D27F49}"/>
                  </a:ext>
                </a:extLst>
              </p:cNvPr>
              <p:cNvSpPr txBox="1"/>
              <p:nvPr/>
            </p:nvSpPr>
            <p:spPr>
              <a:xfrm>
                <a:off x="9020879" y="2347532"/>
                <a:ext cx="1680210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AE4B313-E857-4F2A-A9AD-4C03A9D27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879" y="2347532"/>
                <a:ext cx="1680210" cy="491417"/>
              </a:xfrm>
              <a:prstGeom prst="rect">
                <a:avLst/>
              </a:prstGeom>
              <a:blipFill>
                <a:blip r:embed="rId2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9F55517-6585-FA6B-5CB7-A79B2142F7A2}"/>
                  </a:ext>
                </a:extLst>
              </p:cNvPr>
              <p:cNvSpPr txBox="1"/>
              <p:nvPr/>
            </p:nvSpPr>
            <p:spPr>
              <a:xfrm>
                <a:off x="9244649" y="3330425"/>
                <a:ext cx="2500843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2400" dirty="0"/>
                  <a:t>相邻最小项可以消去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个因子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9F55517-6585-FA6B-5CB7-A79B2142F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649" y="3330425"/>
                <a:ext cx="2500843" cy="738664"/>
              </a:xfrm>
              <a:prstGeom prst="rect">
                <a:avLst/>
              </a:prstGeom>
              <a:blipFill>
                <a:blip r:embed="rId3"/>
                <a:stretch>
                  <a:fillRect l="-7561" t="-11475" r="-5854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箭头: 右 41">
            <a:extLst>
              <a:ext uri="{FF2B5EF4-FFF2-40B4-BE49-F238E27FC236}">
                <a16:creationId xmlns:a16="http://schemas.microsoft.com/office/drawing/2014/main" id="{23894516-D963-DDB7-609A-7D1960796648}"/>
              </a:ext>
            </a:extLst>
          </p:cNvPr>
          <p:cNvSpPr/>
          <p:nvPr/>
        </p:nvSpPr>
        <p:spPr>
          <a:xfrm>
            <a:off x="7119923" y="2949403"/>
            <a:ext cx="452438" cy="23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左大括号 42">
            <a:extLst>
              <a:ext uri="{FF2B5EF4-FFF2-40B4-BE49-F238E27FC236}">
                <a16:creationId xmlns:a16="http://schemas.microsoft.com/office/drawing/2014/main" id="{1149DC27-5ABE-9CD2-AF3A-9C646207A3A4}"/>
              </a:ext>
            </a:extLst>
          </p:cNvPr>
          <p:cNvSpPr/>
          <p:nvPr/>
        </p:nvSpPr>
        <p:spPr>
          <a:xfrm>
            <a:off x="8646545" y="2610771"/>
            <a:ext cx="374334" cy="97648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BD6F7F-0CD6-38BA-0E5D-94D95D01CA65}"/>
              </a:ext>
            </a:extLst>
          </p:cNvPr>
          <p:cNvSpPr txBox="1"/>
          <p:nvPr/>
        </p:nvSpPr>
        <p:spPr>
          <a:xfrm>
            <a:off x="2864707" y="4890716"/>
            <a:ext cx="1014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具体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E5C9259-4793-0285-1385-FF464723475F}"/>
              </a:ext>
            </a:extLst>
          </p:cNvPr>
          <p:cNvSpPr txBox="1"/>
          <p:nvPr/>
        </p:nvSpPr>
        <p:spPr>
          <a:xfrm>
            <a:off x="2864707" y="2961105"/>
            <a:ext cx="1014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抽象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94718EC-CEB4-0F80-993A-0760C0C5E72F}"/>
              </a:ext>
            </a:extLst>
          </p:cNvPr>
          <p:cNvSpPr txBox="1"/>
          <p:nvPr/>
        </p:nvSpPr>
        <p:spPr>
          <a:xfrm>
            <a:off x="304886" y="3429000"/>
            <a:ext cx="1268730" cy="138499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逻辑函数的表示方法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23712F0-A931-817E-847D-1543D82B6426}"/>
              </a:ext>
            </a:extLst>
          </p:cNvPr>
          <p:cNvSpPr txBox="1"/>
          <p:nvPr/>
        </p:nvSpPr>
        <p:spPr>
          <a:xfrm>
            <a:off x="2591830" y="2496323"/>
            <a:ext cx="1600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表达式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D67F0BC-0A7B-82C2-1593-1FD7C6A2557F}"/>
              </a:ext>
            </a:extLst>
          </p:cNvPr>
          <p:cNvSpPr txBox="1"/>
          <p:nvPr/>
        </p:nvSpPr>
        <p:spPr>
          <a:xfrm>
            <a:off x="3879596" y="4429051"/>
            <a:ext cx="1200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（唯一）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86980FD-4164-1589-F669-DA8D38539655}"/>
              </a:ext>
            </a:extLst>
          </p:cNvPr>
          <p:cNvSpPr txBox="1"/>
          <p:nvPr/>
        </p:nvSpPr>
        <p:spPr>
          <a:xfrm>
            <a:off x="4200185" y="3468925"/>
            <a:ext cx="184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最简表达式</a:t>
            </a:r>
            <a:endParaRPr lang="en-US" altLang="zh-CN" sz="24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14CA71C-BEAB-D818-7302-212D572397A3}"/>
              </a:ext>
            </a:extLst>
          </p:cNvPr>
          <p:cNvSpPr txBox="1"/>
          <p:nvPr/>
        </p:nvSpPr>
        <p:spPr>
          <a:xfrm>
            <a:off x="2639829" y="4370552"/>
            <a:ext cx="1600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真值表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789178B-CC8B-A0C1-EF2D-1D023A840ADB}"/>
              </a:ext>
            </a:extLst>
          </p:cNvPr>
          <p:cNvSpPr txBox="1"/>
          <p:nvPr/>
        </p:nvSpPr>
        <p:spPr>
          <a:xfrm>
            <a:off x="3108619" y="248186"/>
            <a:ext cx="2247900" cy="15696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3200" dirty="0"/>
          </a:p>
          <a:p>
            <a:pPr algn="ctr"/>
            <a:r>
              <a:rPr lang="en-US" altLang="zh-CN" sz="3200" i="1" dirty="0"/>
              <a:t>f</a:t>
            </a:r>
            <a:r>
              <a:rPr lang="en-US" altLang="zh-CN" sz="3200" dirty="0"/>
              <a:t>(A,B)</a:t>
            </a:r>
          </a:p>
          <a:p>
            <a:endParaRPr lang="zh-CN" altLang="en-US" sz="3200" dirty="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47E5DC83-8C0A-FD5C-F1E5-1521720BAC76}"/>
              </a:ext>
            </a:extLst>
          </p:cNvPr>
          <p:cNvCxnSpPr/>
          <p:nvPr/>
        </p:nvCxnSpPr>
        <p:spPr>
          <a:xfrm>
            <a:off x="1749719" y="740122"/>
            <a:ext cx="1358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79BD97AA-E9EA-F85B-27AC-204E3AF1FF0C}"/>
              </a:ext>
            </a:extLst>
          </p:cNvPr>
          <p:cNvCxnSpPr/>
          <p:nvPr/>
        </p:nvCxnSpPr>
        <p:spPr>
          <a:xfrm>
            <a:off x="1768769" y="1425922"/>
            <a:ext cx="1358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4F0B7A38-6624-1357-7761-7F2E090C546D}"/>
              </a:ext>
            </a:extLst>
          </p:cNvPr>
          <p:cNvSpPr txBox="1"/>
          <p:nvPr/>
        </p:nvSpPr>
        <p:spPr>
          <a:xfrm>
            <a:off x="2187869" y="314513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</a:t>
            </a:r>
            <a:endParaRPr lang="zh-CN" altLang="en-US" sz="28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76582EB-FD03-56C3-0037-904EF695A09E}"/>
              </a:ext>
            </a:extLst>
          </p:cNvPr>
          <p:cNvSpPr txBox="1"/>
          <p:nvPr/>
        </p:nvSpPr>
        <p:spPr>
          <a:xfrm>
            <a:off x="2235494" y="986481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B</a:t>
            </a:r>
            <a:endParaRPr lang="zh-CN" altLang="en-US" sz="2800" dirty="0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7F6430BF-1D7B-DA08-CF8F-2764620FD065}"/>
              </a:ext>
            </a:extLst>
          </p:cNvPr>
          <p:cNvCxnSpPr>
            <a:cxnSpLocks/>
          </p:cNvCxnSpPr>
          <p:nvPr/>
        </p:nvCxnSpPr>
        <p:spPr>
          <a:xfrm>
            <a:off x="5356519" y="999975"/>
            <a:ext cx="1016000" cy="330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A90635DB-3FB3-FD71-30B5-E70E75695070}"/>
              </a:ext>
            </a:extLst>
          </p:cNvPr>
          <p:cNvSpPr txBox="1"/>
          <p:nvPr/>
        </p:nvSpPr>
        <p:spPr>
          <a:xfrm>
            <a:off x="6035969" y="493275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Z</a:t>
            </a:r>
            <a:endParaRPr lang="zh-CN" altLang="en-US" sz="28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70B2FD6-E79B-8D31-24A6-22557B624317}"/>
              </a:ext>
            </a:extLst>
          </p:cNvPr>
          <p:cNvSpPr txBox="1"/>
          <p:nvPr/>
        </p:nvSpPr>
        <p:spPr>
          <a:xfrm>
            <a:off x="7067007" y="314513"/>
            <a:ext cx="45752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逻辑函数</a:t>
            </a:r>
            <a:r>
              <a:rPr lang="en-US" altLang="zh-CN" sz="2400" i="1" dirty="0"/>
              <a:t>f</a:t>
            </a:r>
            <a:r>
              <a:rPr lang="en-US" altLang="zh-CN" sz="2400" dirty="0"/>
              <a:t>(A,B)</a:t>
            </a:r>
          </a:p>
          <a:p>
            <a:endParaRPr lang="en-US" altLang="zh-CN" sz="2400" dirty="0"/>
          </a:p>
          <a:p>
            <a:r>
              <a:rPr lang="zh-CN" altLang="en-US" sz="2400" dirty="0"/>
              <a:t>描述的是输入和输出之间的</a:t>
            </a:r>
            <a:r>
              <a:rPr lang="zh-CN" altLang="en-US" sz="2400" b="1" dirty="0"/>
              <a:t>逻辑运算</a:t>
            </a:r>
            <a:r>
              <a:rPr lang="zh-CN" altLang="en-US" sz="2400" dirty="0"/>
              <a:t>关系。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D3CF1A-FE04-2AF8-7D51-438B2382C6DE}"/>
              </a:ext>
            </a:extLst>
          </p:cNvPr>
          <p:cNvSpPr txBox="1"/>
          <p:nvPr/>
        </p:nvSpPr>
        <p:spPr>
          <a:xfrm>
            <a:off x="2632510" y="5864558"/>
            <a:ext cx="1600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04811B-77D9-D54A-A6B8-6A4135F2D966}"/>
              </a:ext>
            </a:extLst>
          </p:cNvPr>
          <p:cNvSpPr txBox="1"/>
          <p:nvPr/>
        </p:nvSpPr>
        <p:spPr>
          <a:xfrm>
            <a:off x="5823631" y="2833986"/>
            <a:ext cx="1200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（唯一）</a:t>
            </a:r>
          </a:p>
        </p:txBody>
      </p:sp>
    </p:spTree>
    <p:extLst>
      <p:ext uri="{BB962C8B-B14F-4D97-AF65-F5344CB8AC3E}">
        <p14:creationId xmlns:p14="http://schemas.microsoft.com/office/powerpoint/2010/main" val="407569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/>
      <p:bldP spid="35" grpId="0"/>
      <p:bldP spid="39" grpId="0"/>
      <p:bldP spid="40" grpId="0"/>
      <p:bldP spid="42" grpId="0" animBg="1"/>
      <p:bldP spid="43" grpId="0" animBg="1"/>
      <p:bldP spid="49" grpId="0"/>
      <p:bldP spid="50" grpId="0"/>
      <p:bldP spid="62" grpId="0"/>
      <p:bldP spid="64" grpId="0" animBg="1"/>
      <p:bldP spid="67" grpId="0"/>
      <p:bldP spid="68" grpId="0"/>
      <p:bldP spid="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547500-BFC4-8973-C455-E1236EAC7516}"/>
              </a:ext>
            </a:extLst>
          </p:cNvPr>
          <p:cNvSpPr txBox="1"/>
          <p:nvPr/>
        </p:nvSpPr>
        <p:spPr>
          <a:xfrm>
            <a:off x="464106" y="2951946"/>
            <a:ext cx="1692116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逻辑函数的化简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642AFACC-2D18-1FD2-E8D8-BA6CE236AAF5}"/>
              </a:ext>
            </a:extLst>
          </p:cNvPr>
          <p:cNvSpPr/>
          <p:nvPr/>
        </p:nvSpPr>
        <p:spPr>
          <a:xfrm>
            <a:off x="2320289" y="1329899"/>
            <a:ext cx="838677" cy="390504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495939-3735-C954-E5B9-4063CEA74205}"/>
              </a:ext>
            </a:extLst>
          </p:cNvPr>
          <p:cNvSpPr txBox="1"/>
          <p:nvPr/>
        </p:nvSpPr>
        <p:spPr>
          <a:xfrm>
            <a:off x="3063239" y="1020343"/>
            <a:ext cx="1280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公式化简法</a:t>
            </a:r>
            <a:endParaRPr lang="en-US" altLang="zh-CN" sz="2400" dirty="0"/>
          </a:p>
          <a:p>
            <a:r>
              <a:rPr lang="zh-CN" altLang="en-US" sz="2400" dirty="0"/>
              <a:t>（最简与或表达式）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4C516B-3B6D-FE14-B1A9-5DA2B573DECD}"/>
              </a:ext>
            </a:extLst>
          </p:cNvPr>
          <p:cNvSpPr txBox="1"/>
          <p:nvPr/>
        </p:nvSpPr>
        <p:spPr>
          <a:xfrm>
            <a:off x="6336988" y="433441"/>
            <a:ext cx="1409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并项法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F2C9FE-E426-3CDD-697C-6BD67728F812}"/>
                  </a:ext>
                </a:extLst>
              </p:cNvPr>
              <p:cNvSpPr txBox="1"/>
              <p:nvPr/>
            </p:nvSpPr>
            <p:spPr>
              <a:xfrm>
                <a:off x="7468557" y="433441"/>
                <a:ext cx="3680461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=1,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𝐴𝐵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F2C9FE-E426-3CDD-697C-6BD67728F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57" y="433441"/>
                <a:ext cx="3680461" cy="462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3A63C34-2A97-E91A-DBAB-649C2E8B1FF6}"/>
              </a:ext>
            </a:extLst>
          </p:cNvPr>
          <p:cNvSpPr txBox="1"/>
          <p:nvPr/>
        </p:nvSpPr>
        <p:spPr>
          <a:xfrm>
            <a:off x="6336988" y="1218271"/>
            <a:ext cx="1409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吸收法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61453C-8887-23E3-60E7-6C5D2FD88A87}"/>
              </a:ext>
            </a:extLst>
          </p:cNvPr>
          <p:cNvSpPr txBox="1"/>
          <p:nvPr/>
        </p:nvSpPr>
        <p:spPr>
          <a:xfrm>
            <a:off x="6336988" y="2002332"/>
            <a:ext cx="1409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消去法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FCC021-5CC7-C3EF-D915-22E36F2F169F}"/>
              </a:ext>
            </a:extLst>
          </p:cNvPr>
          <p:cNvSpPr txBox="1"/>
          <p:nvPr/>
        </p:nvSpPr>
        <p:spPr>
          <a:xfrm>
            <a:off x="7544759" y="1218271"/>
            <a:ext cx="2288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A+AB=A</a:t>
            </a:r>
            <a:endParaRPr lang="zh-CN" altLang="en-US" sz="2400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1C033A64-3F25-43C9-AA71-CE5331FB2397}"/>
              </a:ext>
            </a:extLst>
          </p:cNvPr>
          <p:cNvSpPr/>
          <p:nvPr/>
        </p:nvSpPr>
        <p:spPr>
          <a:xfrm>
            <a:off x="5844183" y="607998"/>
            <a:ext cx="542926" cy="1683783"/>
          </a:xfrm>
          <a:prstGeom prst="leftBrace">
            <a:avLst>
              <a:gd name="adj1" fmla="val 8333"/>
              <a:gd name="adj2" fmla="val 5135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B6387761-9171-A58E-0BA4-A30C885C194B}"/>
                  </a:ext>
                </a:extLst>
              </p:cNvPr>
              <p:cNvSpPr txBox="1"/>
              <p:nvPr/>
            </p:nvSpPr>
            <p:spPr bwMode="auto">
              <a:xfrm>
                <a:off x="7544759" y="1936404"/>
                <a:ext cx="1611631" cy="547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B6387761-9171-A58E-0BA4-A30C885C1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4759" y="1936404"/>
                <a:ext cx="1611631" cy="5476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DF4357C-2D63-4AE6-C56A-A6E9EEE59EC9}"/>
                  </a:ext>
                </a:extLst>
              </p:cNvPr>
              <p:cNvSpPr txBox="1"/>
              <p:nvPr/>
            </p:nvSpPr>
            <p:spPr>
              <a:xfrm>
                <a:off x="8739716" y="1979415"/>
                <a:ext cx="1624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DF4357C-2D63-4AE6-C56A-A6E9EEE59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716" y="1979415"/>
                <a:ext cx="162444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61CBA0FB-2D01-43A5-4D61-E06B94DABBA3}"/>
                  </a:ext>
                </a:extLst>
              </p:cNvPr>
              <p:cNvSpPr txBox="1"/>
              <p:nvPr/>
            </p:nvSpPr>
            <p:spPr bwMode="auto">
              <a:xfrm>
                <a:off x="7468557" y="2402994"/>
                <a:ext cx="2708911" cy="54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61CBA0FB-2D01-43A5-4D61-E06B94DAB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8557" y="2402994"/>
                <a:ext cx="2708911" cy="547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343432F-9653-601F-2804-4654C247C329}"/>
                  </a:ext>
                </a:extLst>
              </p:cNvPr>
              <p:cNvSpPr txBox="1"/>
              <p:nvPr/>
            </p:nvSpPr>
            <p:spPr>
              <a:xfrm>
                <a:off x="9296721" y="2369238"/>
                <a:ext cx="2400299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343432F-9653-601F-2804-4654C247C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721" y="2369238"/>
                <a:ext cx="2400299" cy="505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845AA8E6-206B-EF13-53D1-564CF73A8CB0}"/>
              </a:ext>
            </a:extLst>
          </p:cNvPr>
          <p:cNvSpPr txBox="1"/>
          <p:nvPr/>
        </p:nvSpPr>
        <p:spPr>
          <a:xfrm>
            <a:off x="3158966" y="4819442"/>
            <a:ext cx="960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卡诺图法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7F580CE-EBFA-7D5B-863C-A47737B6E050}"/>
              </a:ext>
            </a:extLst>
          </p:cNvPr>
          <p:cNvSpPr txBox="1"/>
          <p:nvPr/>
        </p:nvSpPr>
        <p:spPr>
          <a:xfrm>
            <a:off x="4790124" y="4025437"/>
            <a:ext cx="1957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相邻格仅一位变量不同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F94D95-0FC3-7671-4240-97478C0A9729}"/>
              </a:ext>
            </a:extLst>
          </p:cNvPr>
          <p:cNvSpPr txBox="1"/>
          <p:nvPr/>
        </p:nvSpPr>
        <p:spPr>
          <a:xfrm>
            <a:off x="2496977" y="5584656"/>
            <a:ext cx="19628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把真值表按格雷码重新 </a:t>
            </a:r>
            <a:r>
              <a:rPr lang="zh-CN" altLang="en-US" sz="2000" b="1" dirty="0"/>
              <a:t>排布成一个几何空间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C1FC10-B635-A195-F080-BFB30348F0C1}"/>
              </a:ext>
            </a:extLst>
          </p:cNvPr>
          <p:cNvSpPr txBox="1"/>
          <p:nvPr/>
        </p:nvSpPr>
        <p:spPr>
          <a:xfrm>
            <a:off x="7888526" y="3997277"/>
            <a:ext cx="1852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逻辑相邻变为空间相邻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F917A6-C4F7-0114-C977-E38A22FE4B48}"/>
              </a:ext>
            </a:extLst>
          </p:cNvPr>
          <p:cNvSpPr txBox="1"/>
          <p:nvPr/>
        </p:nvSpPr>
        <p:spPr>
          <a:xfrm>
            <a:off x="4742022" y="5343436"/>
            <a:ext cx="23040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通过相邻格合并实现化简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98B7C3-DA75-A8BE-DC24-BB4B16BD1E13}"/>
              </a:ext>
            </a:extLst>
          </p:cNvPr>
          <p:cNvSpPr txBox="1"/>
          <p:nvPr/>
        </p:nvSpPr>
        <p:spPr>
          <a:xfrm>
            <a:off x="7468557" y="4988631"/>
            <a:ext cx="296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个相邻消去</a:t>
            </a:r>
            <a:r>
              <a:rPr lang="en-US" altLang="zh-CN" sz="2400" dirty="0"/>
              <a:t>1</a:t>
            </a:r>
            <a:r>
              <a:rPr lang="zh-CN" altLang="en-US" sz="2400" dirty="0"/>
              <a:t>个变量</a:t>
            </a:r>
            <a:endParaRPr lang="en-US" altLang="zh-CN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6A05F5-7E55-1139-740C-F8DC2B90F7FF}"/>
              </a:ext>
            </a:extLst>
          </p:cNvPr>
          <p:cNvSpPr txBox="1"/>
          <p:nvPr/>
        </p:nvSpPr>
        <p:spPr>
          <a:xfrm>
            <a:off x="7539675" y="5528101"/>
            <a:ext cx="296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</a:t>
            </a:r>
            <a:r>
              <a:rPr lang="zh-CN" altLang="en-US" sz="2400" dirty="0"/>
              <a:t>个相邻消去</a:t>
            </a:r>
            <a:r>
              <a:rPr lang="en-US" altLang="zh-CN" sz="2400" dirty="0"/>
              <a:t>2</a:t>
            </a:r>
            <a:r>
              <a:rPr lang="zh-CN" altLang="en-US" sz="2400" dirty="0"/>
              <a:t>个变量</a:t>
            </a:r>
            <a:endParaRPr lang="en-US" altLang="zh-CN" sz="2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0F52055-EB6F-1658-473C-E7A93D5CCC3A}"/>
              </a:ext>
            </a:extLst>
          </p:cNvPr>
          <p:cNvSpPr txBox="1"/>
          <p:nvPr/>
        </p:nvSpPr>
        <p:spPr>
          <a:xfrm>
            <a:off x="7646033" y="6046321"/>
            <a:ext cx="296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8</a:t>
            </a:r>
            <a:r>
              <a:rPr lang="zh-CN" altLang="en-US" sz="2400" dirty="0"/>
              <a:t>个相邻消去</a:t>
            </a:r>
            <a:r>
              <a:rPr lang="en-US" altLang="zh-CN" sz="2400" dirty="0"/>
              <a:t>3</a:t>
            </a:r>
            <a:r>
              <a:rPr lang="zh-CN" altLang="en-US" sz="2400" dirty="0"/>
              <a:t>个变量</a:t>
            </a:r>
            <a:endParaRPr lang="en-US" altLang="zh-CN" sz="2400" dirty="0"/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29BD2B24-007D-BFC7-FBA1-EA4CCE9BF415}"/>
              </a:ext>
            </a:extLst>
          </p:cNvPr>
          <p:cNvSpPr/>
          <p:nvPr/>
        </p:nvSpPr>
        <p:spPr>
          <a:xfrm>
            <a:off x="4128135" y="4583810"/>
            <a:ext cx="526016" cy="1286024"/>
          </a:xfrm>
          <a:prstGeom prst="leftBrace">
            <a:avLst>
              <a:gd name="adj1" fmla="val 8333"/>
              <a:gd name="adj2" fmla="val 5135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左右 26">
            <a:extLst>
              <a:ext uri="{FF2B5EF4-FFF2-40B4-BE49-F238E27FC236}">
                <a16:creationId xmlns:a16="http://schemas.microsoft.com/office/drawing/2014/main" id="{F15D5A15-4F1C-9C11-28B9-8643FFDEB08E}"/>
              </a:ext>
            </a:extLst>
          </p:cNvPr>
          <p:cNvSpPr/>
          <p:nvPr/>
        </p:nvSpPr>
        <p:spPr>
          <a:xfrm>
            <a:off x="6801088" y="4298060"/>
            <a:ext cx="893129" cy="28575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376147C6-5B4F-7C0D-36B8-B6A27AF1EAAF}"/>
              </a:ext>
            </a:extLst>
          </p:cNvPr>
          <p:cNvSpPr/>
          <p:nvPr/>
        </p:nvSpPr>
        <p:spPr>
          <a:xfrm>
            <a:off x="6776106" y="5159541"/>
            <a:ext cx="681950" cy="1198787"/>
          </a:xfrm>
          <a:prstGeom prst="leftBrace">
            <a:avLst>
              <a:gd name="adj1" fmla="val 8333"/>
              <a:gd name="adj2" fmla="val 5135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9DE3DA4B-90B8-6EEA-EE4C-E53A2B185699}"/>
              </a:ext>
            </a:extLst>
          </p:cNvPr>
          <p:cNvSpPr/>
          <p:nvPr/>
        </p:nvSpPr>
        <p:spPr>
          <a:xfrm>
            <a:off x="4033953" y="257681"/>
            <a:ext cx="706637" cy="29797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87B996-745C-2E4D-B86C-ED4771C6295B}"/>
              </a:ext>
            </a:extLst>
          </p:cNvPr>
          <p:cNvSpPr txBox="1"/>
          <p:nvPr/>
        </p:nvSpPr>
        <p:spPr>
          <a:xfrm>
            <a:off x="4688922" y="111211"/>
            <a:ext cx="1687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基本公式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8EFD9A-A5E6-883D-365A-BE9BF3762B83}"/>
              </a:ext>
            </a:extLst>
          </p:cNvPr>
          <p:cNvSpPr txBox="1"/>
          <p:nvPr/>
        </p:nvSpPr>
        <p:spPr>
          <a:xfrm>
            <a:off x="4778937" y="1140970"/>
            <a:ext cx="818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常用公式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060B5A-814E-F078-C17F-3F7025CD39E8}"/>
              </a:ext>
            </a:extLst>
          </p:cNvPr>
          <p:cNvSpPr txBox="1"/>
          <p:nvPr/>
        </p:nvSpPr>
        <p:spPr>
          <a:xfrm>
            <a:off x="4873064" y="2735598"/>
            <a:ext cx="818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三条规则</a:t>
            </a:r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F820247F-1294-01C6-FD79-164DC379DA4D}"/>
              </a:ext>
            </a:extLst>
          </p:cNvPr>
          <p:cNvSpPr/>
          <p:nvPr/>
        </p:nvSpPr>
        <p:spPr>
          <a:xfrm>
            <a:off x="5613231" y="2735598"/>
            <a:ext cx="407749" cy="1150996"/>
          </a:xfrm>
          <a:prstGeom prst="leftBrace">
            <a:avLst>
              <a:gd name="adj1" fmla="val 8333"/>
              <a:gd name="adj2" fmla="val 5135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591B5A7-6F46-58DB-6CDA-0983E24B1F46}"/>
              </a:ext>
            </a:extLst>
          </p:cNvPr>
          <p:cNvSpPr txBox="1"/>
          <p:nvPr/>
        </p:nvSpPr>
        <p:spPr>
          <a:xfrm>
            <a:off x="6020980" y="2503575"/>
            <a:ext cx="89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代入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BD82ADD-52FE-8C30-BFD6-50EDF73062A0}"/>
              </a:ext>
            </a:extLst>
          </p:cNvPr>
          <p:cNvSpPr txBox="1"/>
          <p:nvPr/>
        </p:nvSpPr>
        <p:spPr>
          <a:xfrm>
            <a:off x="6008123" y="2993345"/>
            <a:ext cx="89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对偶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3B5A022-B807-1EAE-C343-AFE0AC6F8BC2}"/>
              </a:ext>
            </a:extLst>
          </p:cNvPr>
          <p:cNvSpPr txBox="1"/>
          <p:nvPr/>
        </p:nvSpPr>
        <p:spPr>
          <a:xfrm>
            <a:off x="6048928" y="3586673"/>
            <a:ext cx="89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反演</a:t>
            </a:r>
          </a:p>
        </p:txBody>
      </p:sp>
    </p:spTree>
    <p:extLst>
      <p:ext uri="{BB962C8B-B14F-4D97-AF65-F5344CB8AC3E}">
        <p14:creationId xmlns:p14="http://schemas.microsoft.com/office/powerpoint/2010/main" val="85431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31" grpId="0" animBg="1"/>
      <p:bldP spid="32" grpId="0"/>
      <p:bldP spid="33" grpId="0"/>
      <p:bldP spid="34" grpId="0"/>
      <p:bldP spid="35" grpId="0" animBg="1"/>
      <p:bldP spid="36" grpId="0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3155D-2014-B725-37E2-79F9B12B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358" y="275172"/>
            <a:ext cx="4151962" cy="1325563"/>
          </a:xfrm>
        </p:spPr>
        <p:txBody>
          <a:bodyPr/>
          <a:lstStyle/>
          <a:p>
            <a:r>
              <a:rPr lang="zh-CN" altLang="en-US" dirty="0"/>
              <a:t>数字逻辑电路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D83D6-5E2E-F1B5-8D0A-BD01E7868E8B}"/>
              </a:ext>
            </a:extLst>
          </p:cNvPr>
          <p:cNvSpPr txBox="1"/>
          <p:nvPr/>
        </p:nvSpPr>
        <p:spPr>
          <a:xfrm>
            <a:off x="1546860" y="2499068"/>
            <a:ext cx="2045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电路结构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6B181-5E54-65AD-5C58-6E367E6481B5}"/>
              </a:ext>
            </a:extLst>
          </p:cNvPr>
          <p:cNvSpPr txBox="1"/>
          <p:nvPr/>
        </p:nvSpPr>
        <p:spPr>
          <a:xfrm>
            <a:off x="6663385" y="2521231"/>
            <a:ext cx="245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电路功能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BE414E16-2792-ACB5-8B2C-B9658660CCB4}"/>
              </a:ext>
            </a:extLst>
          </p:cNvPr>
          <p:cNvSpPr/>
          <p:nvPr/>
        </p:nvSpPr>
        <p:spPr>
          <a:xfrm rot="3522382">
            <a:off x="3269784" y="1403934"/>
            <a:ext cx="345102" cy="871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F85B2B48-8411-F7A1-EBCA-D8BA98EF3236}"/>
              </a:ext>
            </a:extLst>
          </p:cNvPr>
          <p:cNvSpPr/>
          <p:nvPr/>
        </p:nvSpPr>
        <p:spPr>
          <a:xfrm rot="18009198">
            <a:off x="5678244" y="1309642"/>
            <a:ext cx="345102" cy="871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CABCA75-1C8D-5275-9F87-98541C8C06DC}"/>
              </a:ext>
            </a:extLst>
          </p:cNvPr>
          <p:cNvCxnSpPr>
            <a:cxnSpLocks/>
          </p:cNvCxnSpPr>
          <p:nvPr/>
        </p:nvCxnSpPr>
        <p:spPr>
          <a:xfrm flipV="1">
            <a:off x="3577590" y="2644438"/>
            <a:ext cx="2736661" cy="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BC2532-063E-F735-29B5-5D8778A11C81}"/>
              </a:ext>
            </a:extLst>
          </p:cNvPr>
          <p:cNvCxnSpPr>
            <a:cxnSpLocks/>
          </p:cNvCxnSpPr>
          <p:nvPr/>
        </p:nvCxnSpPr>
        <p:spPr>
          <a:xfrm flipH="1">
            <a:off x="3531329" y="2983731"/>
            <a:ext cx="278292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F3856DB-DAFC-E6B7-C406-3598A8165DD0}"/>
              </a:ext>
            </a:extLst>
          </p:cNvPr>
          <p:cNvSpPr txBox="1"/>
          <p:nvPr/>
        </p:nvSpPr>
        <p:spPr>
          <a:xfrm>
            <a:off x="3681052" y="2105739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F81EF9-F8E6-A65C-02FC-1469AE338FFB}"/>
              </a:ext>
            </a:extLst>
          </p:cNvPr>
          <p:cNvSpPr txBox="1"/>
          <p:nvPr/>
        </p:nvSpPr>
        <p:spPr>
          <a:xfrm>
            <a:off x="3653035" y="2982012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854308-C8CD-12C9-7560-77BB97C22038}"/>
              </a:ext>
            </a:extLst>
          </p:cNvPr>
          <p:cNvSpPr txBox="1"/>
          <p:nvPr/>
        </p:nvSpPr>
        <p:spPr>
          <a:xfrm>
            <a:off x="1729740" y="3658531"/>
            <a:ext cx="196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66596F-6210-BA7A-40B4-9E9BF38296FA}"/>
              </a:ext>
            </a:extLst>
          </p:cNvPr>
          <p:cNvSpPr txBox="1"/>
          <p:nvPr/>
        </p:nvSpPr>
        <p:spPr>
          <a:xfrm>
            <a:off x="6740731" y="3702621"/>
            <a:ext cx="196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逻辑表达式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5ABEC2-4069-3BAE-EE75-48F6B2EC4E67}"/>
              </a:ext>
            </a:extLst>
          </p:cNvPr>
          <p:cNvSpPr txBox="1"/>
          <p:nvPr/>
        </p:nvSpPr>
        <p:spPr>
          <a:xfrm>
            <a:off x="6954502" y="4738687"/>
            <a:ext cx="196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真值表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5B7EF84-D366-EF4F-6100-BB75631F5CA5}"/>
              </a:ext>
            </a:extLst>
          </p:cNvPr>
          <p:cNvSpPr txBox="1"/>
          <p:nvPr/>
        </p:nvSpPr>
        <p:spPr>
          <a:xfrm>
            <a:off x="10388570" y="5764841"/>
            <a:ext cx="11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具体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CFBA84-C6AF-0B8D-A1AA-BE78638BF638}"/>
              </a:ext>
            </a:extLst>
          </p:cNvPr>
          <p:cNvSpPr txBox="1"/>
          <p:nvPr/>
        </p:nvSpPr>
        <p:spPr>
          <a:xfrm>
            <a:off x="10286341" y="3658530"/>
            <a:ext cx="11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抽象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CE8F63-699D-818E-002A-319FE69F57DF}"/>
              </a:ext>
            </a:extLst>
          </p:cNvPr>
          <p:cNvSpPr/>
          <p:nvPr/>
        </p:nvSpPr>
        <p:spPr>
          <a:xfrm rot="16200000">
            <a:off x="10022328" y="4872142"/>
            <a:ext cx="1453373" cy="251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63002A2-DFE2-9DBC-F3AA-6C59E35581AD}"/>
              </a:ext>
            </a:extLst>
          </p:cNvPr>
          <p:cNvSpPr txBox="1"/>
          <p:nvPr/>
        </p:nvSpPr>
        <p:spPr>
          <a:xfrm>
            <a:off x="6832936" y="5578210"/>
            <a:ext cx="196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功能描述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4298C76-1DBA-1812-CC9F-EDC7B44B5005}"/>
              </a:ext>
            </a:extLst>
          </p:cNvPr>
          <p:cNvCxnSpPr/>
          <p:nvPr/>
        </p:nvCxnSpPr>
        <p:spPr>
          <a:xfrm>
            <a:off x="3402599" y="3780920"/>
            <a:ext cx="304038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B28A7-8064-D831-690E-FDDAC89748FE}"/>
              </a:ext>
            </a:extLst>
          </p:cNvPr>
          <p:cNvCxnSpPr>
            <a:cxnSpLocks/>
          </p:cNvCxnSpPr>
          <p:nvPr/>
        </p:nvCxnSpPr>
        <p:spPr>
          <a:xfrm flipV="1">
            <a:off x="6489637" y="3752326"/>
            <a:ext cx="14850" cy="121719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C0B7A56-0D87-FE35-9924-2746CB55DD59}"/>
              </a:ext>
            </a:extLst>
          </p:cNvPr>
          <p:cNvCxnSpPr>
            <a:cxnSpLocks/>
          </p:cNvCxnSpPr>
          <p:nvPr/>
        </p:nvCxnSpPr>
        <p:spPr>
          <a:xfrm flipH="1" flipV="1">
            <a:off x="6115464" y="4969519"/>
            <a:ext cx="11430" cy="1100777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E8B6471-AFB1-02B5-CD9E-FC31C95235F6}"/>
              </a:ext>
            </a:extLst>
          </p:cNvPr>
          <p:cNvCxnSpPr>
            <a:cxnSpLocks/>
          </p:cNvCxnSpPr>
          <p:nvPr/>
        </p:nvCxnSpPr>
        <p:spPr>
          <a:xfrm>
            <a:off x="3335481" y="4020153"/>
            <a:ext cx="2675289" cy="44091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03065A8-69E5-2EDB-D488-76FCAC4E25C1}"/>
              </a:ext>
            </a:extLst>
          </p:cNvPr>
          <p:cNvSpPr/>
          <p:nvPr/>
        </p:nvSpPr>
        <p:spPr>
          <a:xfrm>
            <a:off x="6755644" y="3662718"/>
            <a:ext cx="1767537" cy="157192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463F84E-3346-8A3A-250F-C4FB40E19A3E}"/>
              </a:ext>
            </a:extLst>
          </p:cNvPr>
          <p:cNvSpPr txBox="1"/>
          <p:nvPr/>
        </p:nvSpPr>
        <p:spPr>
          <a:xfrm>
            <a:off x="4382996" y="3441481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0F0A161-232C-9A71-E4B9-3F143032C656}"/>
              </a:ext>
            </a:extLst>
          </p:cNvPr>
          <p:cNvSpPr txBox="1"/>
          <p:nvPr/>
        </p:nvSpPr>
        <p:spPr>
          <a:xfrm>
            <a:off x="4217182" y="4164286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CA79008-A8F6-B016-E238-86BEBCA61D51}"/>
              </a:ext>
            </a:extLst>
          </p:cNvPr>
          <p:cNvSpPr txBox="1"/>
          <p:nvPr/>
        </p:nvSpPr>
        <p:spPr>
          <a:xfrm>
            <a:off x="711449" y="3544662"/>
            <a:ext cx="8436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组合逻辑电路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D3E7BE-7C91-466B-D09A-539CCA8E0D4F}"/>
              </a:ext>
            </a:extLst>
          </p:cNvPr>
          <p:cNvSpPr txBox="1"/>
          <p:nvPr/>
        </p:nvSpPr>
        <p:spPr>
          <a:xfrm>
            <a:off x="8952894" y="4013165"/>
            <a:ext cx="1305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输入与输出之间的关系</a:t>
            </a:r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78DCCD8C-E422-EF1C-67F5-920BDEF5F7BD}"/>
              </a:ext>
            </a:extLst>
          </p:cNvPr>
          <p:cNvSpPr/>
          <p:nvPr/>
        </p:nvSpPr>
        <p:spPr>
          <a:xfrm rot="16200000">
            <a:off x="8555940" y="4316706"/>
            <a:ext cx="318118" cy="4211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BA63219-5B2F-F816-EC3A-5AB3725261CD}"/>
              </a:ext>
            </a:extLst>
          </p:cNvPr>
          <p:cNvSpPr txBox="1"/>
          <p:nvPr/>
        </p:nvSpPr>
        <p:spPr>
          <a:xfrm>
            <a:off x="4362026" y="2136046"/>
            <a:ext cx="3167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（从抽象到具体）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34D3BFE-5E14-60FB-7D89-66DD588D56EB}"/>
              </a:ext>
            </a:extLst>
          </p:cNvPr>
          <p:cNvSpPr txBox="1"/>
          <p:nvPr/>
        </p:nvSpPr>
        <p:spPr>
          <a:xfrm>
            <a:off x="4267193" y="2922245"/>
            <a:ext cx="3167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（从具体到抽象）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C9BDAAC-F565-9C29-10F4-8C6F16E32FEF}"/>
              </a:ext>
            </a:extLst>
          </p:cNvPr>
          <p:cNvCxnSpPr>
            <a:cxnSpLocks/>
          </p:cNvCxnSpPr>
          <p:nvPr/>
        </p:nvCxnSpPr>
        <p:spPr>
          <a:xfrm flipV="1">
            <a:off x="6452181" y="5028828"/>
            <a:ext cx="0" cy="110257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98B20E6-6C9A-0905-99E2-84D4F1209022}"/>
              </a:ext>
            </a:extLst>
          </p:cNvPr>
          <p:cNvCxnSpPr>
            <a:cxnSpLocks/>
          </p:cNvCxnSpPr>
          <p:nvPr/>
        </p:nvCxnSpPr>
        <p:spPr>
          <a:xfrm flipV="1">
            <a:off x="6134828" y="4056609"/>
            <a:ext cx="19727" cy="82688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54F94FE-83BA-8286-2B93-2E19F5717969}"/>
              </a:ext>
            </a:extLst>
          </p:cNvPr>
          <p:cNvSpPr txBox="1"/>
          <p:nvPr/>
        </p:nvSpPr>
        <p:spPr>
          <a:xfrm>
            <a:off x="5193469" y="5227575"/>
            <a:ext cx="851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逻辑抽象</a:t>
            </a:r>
          </a:p>
        </p:txBody>
      </p:sp>
    </p:spTree>
    <p:extLst>
      <p:ext uri="{BB962C8B-B14F-4D97-AF65-F5344CB8AC3E}">
        <p14:creationId xmlns:p14="http://schemas.microsoft.com/office/powerpoint/2010/main" val="47608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6" grpId="0"/>
      <p:bldP spid="27" grpId="0"/>
      <p:bldP spid="28" grpId="0" animBg="1"/>
      <p:bldP spid="29" grpId="0"/>
      <p:bldP spid="49" grpId="0" animBg="1"/>
      <p:bldP spid="50" grpId="0"/>
      <p:bldP spid="51" grpId="0"/>
      <p:bldP spid="53" grpId="0"/>
      <p:bldP spid="55" grpId="0"/>
      <p:bldP spid="56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3155D-2014-B725-37E2-79F9B12B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890" y="228423"/>
            <a:ext cx="10515600" cy="1325563"/>
          </a:xfrm>
        </p:spPr>
        <p:txBody>
          <a:bodyPr/>
          <a:lstStyle/>
          <a:p>
            <a:r>
              <a:rPr lang="zh-CN" altLang="en-US" dirty="0"/>
              <a:t>数字逻辑电路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D83D6-5E2E-F1B5-8D0A-BD01E7868E8B}"/>
              </a:ext>
            </a:extLst>
          </p:cNvPr>
          <p:cNvSpPr txBox="1"/>
          <p:nvPr/>
        </p:nvSpPr>
        <p:spPr>
          <a:xfrm>
            <a:off x="1546860" y="2499068"/>
            <a:ext cx="2045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电路结构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6B181-5E54-65AD-5C58-6E367E6481B5}"/>
              </a:ext>
            </a:extLst>
          </p:cNvPr>
          <p:cNvSpPr txBox="1"/>
          <p:nvPr/>
        </p:nvSpPr>
        <p:spPr>
          <a:xfrm>
            <a:off x="6577253" y="2429461"/>
            <a:ext cx="245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电路功能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BE414E16-2792-ACB5-8B2C-B9658660CCB4}"/>
              </a:ext>
            </a:extLst>
          </p:cNvPr>
          <p:cNvSpPr/>
          <p:nvPr/>
        </p:nvSpPr>
        <p:spPr>
          <a:xfrm rot="3522382">
            <a:off x="3269784" y="1403934"/>
            <a:ext cx="345102" cy="871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F85B2B48-8411-F7A1-EBCA-D8BA98EF3236}"/>
              </a:ext>
            </a:extLst>
          </p:cNvPr>
          <p:cNvSpPr/>
          <p:nvPr/>
        </p:nvSpPr>
        <p:spPr>
          <a:xfrm rot="18009198">
            <a:off x="5678244" y="1309642"/>
            <a:ext cx="345102" cy="871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CABCA75-1C8D-5275-9F87-98541C8C06DC}"/>
              </a:ext>
            </a:extLst>
          </p:cNvPr>
          <p:cNvCxnSpPr>
            <a:cxnSpLocks/>
          </p:cNvCxnSpPr>
          <p:nvPr/>
        </p:nvCxnSpPr>
        <p:spPr>
          <a:xfrm flipV="1">
            <a:off x="3577590" y="2644438"/>
            <a:ext cx="2736661" cy="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BC2532-063E-F735-29B5-5D8778A11C81}"/>
              </a:ext>
            </a:extLst>
          </p:cNvPr>
          <p:cNvCxnSpPr>
            <a:cxnSpLocks/>
          </p:cNvCxnSpPr>
          <p:nvPr/>
        </p:nvCxnSpPr>
        <p:spPr>
          <a:xfrm flipH="1">
            <a:off x="3531329" y="2983731"/>
            <a:ext cx="278292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F3856DB-DAFC-E6B7-C406-3598A8165DD0}"/>
              </a:ext>
            </a:extLst>
          </p:cNvPr>
          <p:cNvSpPr txBox="1"/>
          <p:nvPr/>
        </p:nvSpPr>
        <p:spPr>
          <a:xfrm>
            <a:off x="4332240" y="2056903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F81EF9-F8E6-A65C-02FC-1469AE338FFB}"/>
              </a:ext>
            </a:extLst>
          </p:cNvPr>
          <p:cNvSpPr txBox="1"/>
          <p:nvPr/>
        </p:nvSpPr>
        <p:spPr>
          <a:xfrm>
            <a:off x="4332239" y="2934896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854308-C8CD-12C9-7560-77BB97C22038}"/>
              </a:ext>
            </a:extLst>
          </p:cNvPr>
          <p:cNvSpPr txBox="1"/>
          <p:nvPr/>
        </p:nvSpPr>
        <p:spPr>
          <a:xfrm>
            <a:off x="1729740" y="3658531"/>
            <a:ext cx="196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66596F-6210-BA7A-40B4-9E9BF38296FA}"/>
              </a:ext>
            </a:extLst>
          </p:cNvPr>
          <p:cNvSpPr txBox="1"/>
          <p:nvPr/>
        </p:nvSpPr>
        <p:spPr>
          <a:xfrm>
            <a:off x="6740731" y="3702621"/>
            <a:ext cx="301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驱动方程、输出方程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5ABEC2-4069-3BAE-EE75-48F6B2EC4E67}"/>
              </a:ext>
            </a:extLst>
          </p:cNvPr>
          <p:cNvSpPr txBox="1"/>
          <p:nvPr/>
        </p:nvSpPr>
        <p:spPr>
          <a:xfrm>
            <a:off x="6825443" y="4735078"/>
            <a:ext cx="2572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状态表</a:t>
            </a:r>
            <a:endParaRPr lang="en-US" altLang="zh-CN" sz="2400" dirty="0"/>
          </a:p>
          <a:p>
            <a:r>
              <a:rPr lang="zh-CN" altLang="en-US" sz="2400" dirty="0"/>
              <a:t>状态图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5B7EF84-D366-EF4F-6100-BB75631F5CA5}"/>
              </a:ext>
            </a:extLst>
          </p:cNvPr>
          <p:cNvSpPr txBox="1"/>
          <p:nvPr/>
        </p:nvSpPr>
        <p:spPr>
          <a:xfrm>
            <a:off x="11260203" y="5839572"/>
            <a:ext cx="11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具体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CFBA84-C6AF-0B8D-A1AA-BE78638BF638}"/>
              </a:ext>
            </a:extLst>
          </p:cNvPr>
          <p:cNvSpPr txBox="1"/>
          <p:nvPr/>
        </p:nvSpPr>
        <p:spPr>
          <a:xfrm>
            <a:off x="11142710" y="3542788"/>
            <a:ext cx="11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抽象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CE8F63-699D-818E-002A-319FE69F57DF}"/>
              </a:ext>
            </a:extLst>
          </p:cNvPr>
          <p:cNvSpPr/>
          <p:nvPr/>
        </p:nvSpPr>
        <p:spPr>
          <a:xfrm rot="16200000">
            <a:off x="10764486" y="4719379"/>
            <a:ext cx="1681791" cy="2519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63002A2-DFE2-9DBC-F3AA-6C59E35581AD}"/>
              </a:ext>
            </a:extLst>
          </p:cNvPr>
          <p:cNvSpPr txBox="1"/>
          <p:nvPr/>
        </p:nvSpPr>
        <p:spPr>
          <a:xfrm>
            <a:off x="6801532" y="5800955"/>
            <a:ext cx="196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功能描述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4298C76-1DBA-1812-CC9F-EDC7B44B5005}"/>
              </a:ext>
            </a:extLst>
          </p:cNvPr>
          <p:cNvCxnSpPr/>
          <p:nvPr/>
        </p:nvCxnSpPr>
        <p:spPr>
          <a:xfrm>
            <a:off x="3402599" y="3780920"/>
            <a:ext cx="30403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B28A7-8064-D831-690E-FDDAC89748FE}"/>
              </a:ext>
            </a:extLst>
          </p:cNvPr>
          <p:cNvCxnSpPr>
            <a:cxnSpLocks/>
          </p:cNvCxnSpPr>
          <p:nvPr/>
        </p:nvCxnSpPr>
        <p:spPr>
          <a:xfrm flipV="1">
            <a:off x="6442979" y="3780920"/>
            <a:ext cx="0" cy="593058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C0B7A56-0D87-FE35-9924-2746CB55DD59}"/>
              </a:ext>
            </a:extLst>
          </p:cNvPr>
          <p:cNvCxnSpPr>
            <a:cxnSpLocks/>
          </p:cNvCxnSpPr>
          <p:nvPr/>
        </p:nvCxnSpPr>
        <p:spPr>
          <a:xfrm flipV="1">
            <a:off x="6290868" y="5505694"/>
            <a:ext cx="0" cy="71836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E8B6471-AFB1-02B5-CD9E-FC31C95235F6}"/>
              </a:ext>
            </a:extLst>
          </p:cNvPr>
          <p:cNvCxnSpPr>
            <a:cxnSpLocks/>
          </p:cNvCxnSpPr>
          <p:nvPr/>
        </p:nvCxnSpPr>
        <p:spPr>
          <a:xfrm>
            <a:off x="3377895" y="4019454"/>
            <a:ext cx="2675289" cy="20874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03065A8-69E5-2EDB-D488-76FCAC4E25C1}"/>
              </a:ext>
            </a:extLst>
          </p:cNvPr>
          <p:cNvSpPr/>
          <p:nvPr/>
        </p:nvSpPr>
        <p:spPr>
          <a:xfrm>
            <a:off x="6755643" y="3662718"/>
            <a:ext cx="2868417" cy="194634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463F84E-3346-8A3A-250F-C4FB40E19A3E}"/>
              </a:ext>
            </a:extLst>
          </p:cNvPr>
          <p:cNvSpPr txBox="1"/>
          <p:nvPr/>
        </p:nvSpPr>
        <p:spPr>
          <a:xfrm>
            <a:off x="4237149" y="3357908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0F0A161-232C-9A71-E4B9-3F143032C656}"/>
              </a:ext>
            </a:extLst>
          </p:cNvPr>
          <p:cNvSpPr txBox="1"/>
          <p:nvPr/>
        </p:nvSpPr>
        <p:spPr>
          <a:xfrm>
            <a:off x="4330555" y="4043428"/>
            <a:ext cx="1181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设计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CA79008-A8F6-B016-E238-86BEBCA61D51}"/>
              </a:ext>
            </a:extLst>
          </p:cNvPr>
          <p:cNvSpPr txBox="1"/>
          <p:nvPr/>
        </p:nvSpPr>
        <p:spPr>
          <a:xfrm>
            <a:off x="711449" y="3544662"/>
            <a:ext cx="8436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时序</a:t>
            </a:r>
            <a:endParaRPr lang="en-US" altLang="zh-CN" sz="2800" dirty="0"/>
          </a:p>
          <a:p>
            <a:r>
              <a:rPr lang="zh-CN" altLang="en-US" sz="2800" dirty="0"/>
              <a:t>逻辑电路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D3E7BE-7C91-466B-D09A-539CCA8E0D4F}"/>
              </a:ext>
            </a:extLst>
          </p:cNvPr>
          <p:cNvSpPr txBox="1"/>
          <p:nvPr/>
        </p:nvSpPr>
        <p:spPr>
          <a:xfrm>
            <a:off x="9977823" y="3982456"/>
            <a:ext cx="13050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输入、输出、状态之间的关系</a:t>
            </a:r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78DCCD8C-E422-EF1C-67F5-920BDEF5F7BD}"/>
              </a:ext>
            </a:extLst>
          </p:cNvPr>
          <p:cNvSpPr/>
          <p:nvPr/>
        </p:nvSpPr>
        <p:spPr>
          <a:xfrm rot="16200000">
            <a:off x="9661533" y="4322440"/>
            <a:ext cx="318118" cy="4211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1BEDD8-F337-35B1-CAE4-BB5B7F11B68A}"/>
              </a:ext>
            </a:extLst>
          </p:cNvPr>
          <p:cNvSpPr txBox="1"/>
          <p:nvPr/>
        </p:nvSpPr>
        <p:spPr>
          <a:xfrm>
            <a:off x="6755643" y="4117215"/>
            <a:ext cx="1544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状态方程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8DF271-5570-7503-8A1E-A0567840602D}"/>
              </a:ext>
            </a:extLst>
          </p:cNvPr>
          <p:cNvCxnSpPr>
            <a:cxnSpLocks/>
          </p:cNvCxnSpPr>
          <p:nvPr/>
        </p:nvCxnSpPr>
        <p:spPr>
          <a:xfrm flipV="1">
            <a:off x="6478510" y="4566648"/>
            <a:ext cx="0" cy="71836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9C7BD94-D42F-ACCA-F136-F655531600E9}"/>
              </a:ext>
            </a:extLst>
          </p:cNvPr>
          <p:cNvCxnSpPr>
            <a:cxnSpLocks/>
          </p:cNvCxnSpPr>
          <p:nvPr/>
        </p:nvCxnSpPr>
        <p:spPr>
          <a:xfrm flipV="1">
            <a:off x="6469308" y="5566075"/>
            <a:ext cx="0" cy="674817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072F332-E227-672A-86B2-B6D0C1AD02E9}"/>
              </a:ext>
            </a:extLst>
          </p:cNvPr>
          <p:cNvCxnSpPr>
            <a:cxnSpLocks/>
          </p:cNvCxnSpPr>
          <p:nvPr/>
        </p:nvCxnSpPr>
        <p:spPr>
          <a:xfrm flipV="1">
            <a:off x="6263310" y="4692095"/>
            <a:ext cx="0" cy="71836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9C82E6C-8F26-1C3E-4995-67A4BE47308F}"/>
              </a:ext>
            </a:extLst>
          </p:cNvPr>
          <p:cNvCxnSpPr>
            <a:cxnSpLocks/>
          </p:cNvCxnSpPr>
          <p:nvPr/>
        </p:nvCxnSpPr>
        <p:spPr>
          <a:xfrm flipV="1">
            <a:off x="6253290" y="3982456"/>
            <a:ext cx="0" cy="681762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42A9A2F0-E29A-08B9-C363-B0BCA73AF7B7}"/>
              </a:ext>
            </a:extLst>
          </p:cNvPr>
          <p:cNvSpPr txBox="1"/>
          <p:nvPr/>
        </p:nvSpPr>
        <p:spPr>
          <a:xfrm>
            <a:off x="5347675" y="5505694"/>
            <a:ext cx="850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逻辑抽象</a:t>
            </a:r>
          </a:p>
        </p:txBody>
      </p:sp>
    </p:spTree>
    <p:extLst>
      <p:ext uri="{BB962C8B-B14F-4D97-AF65-F5344CB8AC3E}">
        <p14:creationId xmlns:p14="http://schemas.microsoft.com/office/powerpoint/2010/main" val="35838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6" grpId="0"/>
      <p:bldP spid="27" grpId="0"/>
      <p:bldP spid="28" grpId="0" animBg="1"/>
      <p:bldP spid="29" grpId="0"/>
      <p:bldP spid="49" grpId="0" animBg="1"/>
      <p:bldP spid="50" grpId="0"/>
      <p:bldP spid="51" grpId="0"/>
      <p:bldP spid="53" grpId="0"/>
      <p:bldP spid="55" grpId="0"/>
      <p:bldP spid="56" grpId="0" animBg="1"/>
      <p:bldP spid="3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9910BD3D-539E-A3A5-5D5B-2738B9670D01}"/>
              </a:ext>
            </a:extLst>
          </p:cNvPr>
          <p:cNvGrpSpPr/>
          <p:nvPr/>
        </p:nvGrpSpPr>
        <p:grpSpPr>
          <a:xfrm>
            <a:off x="459043" y="1581185"/>
            <a:ext cx="4537617" cy="1268696"/>
            <a:chOff x="575341" y="2389552"/>
            <a:chExt cx="4537617" cy="126869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C56ABD8-2968-1BBA-1F54-52E54EF37C2F}"/>
                </a:ext>
              </a:extLst>
            </p:cNvPr>
            <p:cNvSpPr txBox="1"/>
            <p:nvPr/>
          </p:nvSpPr>
          <p:spPr>
            <a:xfrm>
              <a:off x="1680210" y="2457919"/>
              <a:ext cx="2137410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endParaRPr lang="en-US" altLang="zh-CN" sz="2400" dirty="0"/>
            </a:p>
            <a:p>
              <a:pPr algn="ctr"/>
              <a:r>
                <a:rPr lang="zh-CN" altLang="en-US" sz="2400" dirty="0"/>
                <a:t>组合逻辑电路</a:t>
              </a:r>
              <a:endParaRPr lang="en-US" altLang="zh-CN" sz="2400" dirty="0"/>
            </a:p>
            <a:p>
              <a:endParaRPr lang="zh-CN" altLang="en-US" sz="2400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5333B5E9-0D02-646D-AE37-627E5C53A4C1}"/>
                </a:ext>
              </a:extLst>
            </p:cNvPr>
            <p:cNvCxnSpPr>
              <a:cxnSpLocks/>
            </p:cNvCxnSpPr>
            <p:nvPr/>
          </p:nvCxnSpPr>
          <p:spPr>
            <a:xfrm>
              <a:off x="765810" y="2788920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34885A00-6B7C-721A-AD96-651BCA373245}"/>
                </a:ext>
              </a:extLst>
            </p:cNvPr>
            <p:cNvCxnSpPr>
              <a:cxnSpLocks/>
            </p:cNvCxnSpPr>
            <p:nvPr/>
          </p:nvCxnSpPr>
          <p:spPr>
            <a:xfrm>
              <a:off x="765810" y="3326130"/>
              <a:ext cx="9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F40834E-5838-D2E6-5C3C-BC5ABE5BA3D1}"/>
                </a:ext>
              </a:extLst>
            </p:cNvPr>
            <p:cNvCxnSpPr>
              <a:cxnSpLocks/>
            </p:cNvCxnSpPr>
            <p:nvPr/>
          </p:nvCxnSpPr>
          <p:spPr>
            <a:xfrm>
              <a:off x="3817620" y="2788920"/>
              <a:ext cx="1051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B47AEF3-AE5D-76A5-AF98-8910242B097E}"/>
                </a:ext>
              </a:extLst>
            </p:cNvPr>
            <p:cNvCxnSpPr>
              <a:cxnSpLocks/>
            </p:cNvCxnSpPr>
            <p:nvPr/>
          </p:nvCxnSpPr>
          <p:spPr>
            <a:xfrm>
              <a:off x="3817620" y="3360420"/>
              <a:ext cx="1051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0A41035-92DE-F776-E0B5-03CAF4E3AC66}"/>
                    </a:ext>
                  </a:extLst>
                </p:cNvPr>
                <p:cNvSpPr txBox="1"/>
                <p:nvPr/>
              </p:nvSpPr>
              <p:spPr>
                <a:xfrm>
                  <a:off x="628650" y="2389552"/>
                  <a:ext cx="38093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0A41035-92DE-F776-E0B5-03CAF4E3A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389552"/>
                  <a:ext cx="380938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7937" r="-4762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D36BDD2-8A2E-744E-1372-C3C3DDA2FB1E}"/>
                    </a:ext>
                  </a:extLst>
                </p:cNvPr>
                <p:cNvSpPr txBox="1"/>
                <p:nvPr/>
              </p:nvSpPr>
              <p:spPr>
                <a:xfrm>
                  <a:off x="575341" y="2926761"/>
                  <a:ext cx="3444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D36BDD2-8A2E-744E-1372-C3C3DDA2F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341" y="2926761"/>
                  <a:ext cx="34445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772" r="-5263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89996E7-F683-2016-6099-AD86D50BFCD7}"/>
                    </a:ext>
                  </a:extLst>
                </p:cNvPr>
                <p:cNvSpPr txBox="1"/>
                <p:nvPr/>
              </p:nvSpPr>
              <p:spPr>
                <a:xfrm>
                  <a:off x="4732020" y="2389552"/>
                  <a:ext cx="38093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89996E7-F683-2016-6099-AD86D50BF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20" y="2389552"/>
                  <a:ext cx="38093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7460" r="-3175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00366B-4948-A976-D0C6-5909B06A581B}"/>
                    </a:ext>
                  </a:extLst>
                </p:cNvPr>
                <p:cNvSpPr txBox="1"/>
                <p:nvPr/>
              </p:nvSpPr>
              <p:spPr>
                <a:xfrm>
                  <a:off x="4732020" y="2955337"/>
                  <a:ext cx="355675" cy="3990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00366B-4948-A976-D0C6-5909B06A5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20" y="2955337"/>
                  <a:ext cx="355675" cy="399084"/>
                </a:xfrm>
                <a:prstGeom prst="rect">
                  <a:avLst/>
                </a:prstGeom>
                <a:blipFill>
                  <a:blip r:embed="rId5"/>
                  <a:stretch>
                    <a:fillRect l="-18644" r="-10169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E2E3554-E47F-BAE0-E4DE-EFE751A1C285}"/>
              </a:ext>
            </a:extLst>
          </p:cNvPr>
          <p:cNvGrpSpPr/>
          <p:nvPr/>
        </p:nvGrpSpPr>
        <p:grpSpPr>
          <a:xfrm>
            <a:off x="6096000" y="1950517"/>
            <a:ext cx="5690654" cy="3336263"/>
            <a:chOff x="5850545" y="1990116"/>
            <a:chExt cx="5690654" cy="3336263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5EC97EF1-5345-1F72-14FE-172AAA36B9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0545" y="1990116"/>
              <a:ext cx="5659420" cy="333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BD376DBF-0A52-EBC4-87CF-B1A7AB1D48ED}"/>
                    </a:ext>
                  </a:extLst>
                </p:cNvPr>
                <p:cNvSpPr txBox="1"/>
                <p:nvPr/>
              </p:nvSpPr>
              <p:spPr>
                <a:xfrm>
                  <a:off x="5916069" y="2232350"/>
                  <a:ext cx="35650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BD376DBF-0A52-EBC4-87CF-B1A7AB1D4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6069" y="2232350"/>
                  <a:ext cx="356508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8621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B6A6798-78E8-2EAB-346D-E604233C818D}"/>
                    </a:ext>
                  </a:extLst>
                </p:cNvPr>
                <p:cNvSpPr txBox="1"/>
                <p:nvPr/>
              </p:nvSpPr>
              <p:spPr>
                <a:xfrm>
                  <a:off x="5881779" y="2604514"/>
                  <a:ext cx="356508" cy="30873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B6A6798-78E8-2EAB-346D-E604233C8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1779" y="2604514"/>
                  <a:ext cx="356508" cy="308739"/>
                </a:xfrm>
                <a:prstGeom prst="rect">
                  <a:avLst/>
                </a:prstGeom>
                <a:blipFill>
                  <a:blip r:embed="rId8"/>
                  <a:stretch>
                    <a:fillRect l="-6780" b="-2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2664E16-D60B-D661-765A-83A5BBABC9FD}"/>
                    </a:ext>
                  </a:extLst>
                </p:cNvPr>
                <p:cNvSpPr txBox="1"/>
                <p:nvPr/>
              </p:nvSpPr>
              <p:spPr>
                <a:xfrm>
                  <a:off x="11163255" y="2228356"/>
                  <a:ext cx="36298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2664E16-D60B-D661-765A-83A5BBABC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3255" y="2228356"/>
                  <a:ext cx="36298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5254" r="-1695" b="-235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67C484E-2258-69E1-9D78-45FECD80C8F3}"/>
                    </a:ext>
                  </a:extLst>
                </p:cNvPr>
                <p:cNvSpPr txBox="1"/>
                <p:nvPr/>
              </p:nvSpPr>
              <p:spPr>
                <a:xfrm>
                  <a:off x="11178215" y="2574218"/>
                  <a:ext cx="362984" cy="34355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67C484E-2258-69E1-9D78-45FECD80C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8215" y="2574218"/>
                  <a:ext cx="362984" cy="343556"/>
                </a:xfrm>
                <a:prstGeom prst="rect">
                  <a:avLst/>
                </a:prstGeom>
                <a:blipFill>
                  <a:blip r:embed="rId10"/>
                  <a:stretch>
                    <a:fillRect l="-15000" b="-267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B6A791B-6CED-7824-7F02-F9814FD45DF6}"/>
                    </a:ext>
                  </a:extLst>
                </p:cNvPr>
                <p:cNvSpPr txBox="1"/>
                <p:nvPr/>
              </p:nvSpPr>
              <p:spPr>
                <a:xfrm>
                  <a:off x="9894525" y="3726826"/>
                  <a:ext cx="39164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B6A791B-6CED-7824-7F02-F9814FD45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4525" y="3726826"/>
                  <a:ext cx="391646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12308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66F49D5-87F6-9485-8D8B-773A20C5AFC0}"/>
                    </a:ext>
                  </a:extLst>
                </p:cNvPr>
                <p:cNvSpPr txBox="1"/>
                <p:nvPr/>
              </p:nvSpPr>
              <p:spPr>
                <a:xfrm>
                  <a:off x="9894525" y="4858396"/>
                  <a:ext cx="39164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66F49D5-87F6-9485-8D8B-773A20C5A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4525" y="4858396"/>
                  <a:ext cx="391646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12308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6A3A083-5F74-0FF8-F8D5-4243112D3416}"/>
                    </a:ext>
                  </a:extLst>
                </p:cNvPr>
                <p:cNvSpPr txBox="1"/>
                <p:nvPr/>
              </p:nvSpPr>
              <p:spPr>
                <a:xfrm>
                  <a:off x="7179369" y="3726827"/>
                  <a:ext cx="38683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6A3A083-5F74-0FF8-F8D5-4243112D3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9369" y="3726827"/>
                  <a:ext cx="386837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19048" b="-2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FCFE5B6-EC6B-A65C-42A2-F65BA5584009}"/>
                    </a:ext>
                  </a:extLst>
                </p:cNvPr>
                <p:cNvSpPr txBox="1"/>
                <p:nvPr/>
              </p:nvSpPr>
              <p:spPr>
                <a:xfrm>
                  <a:off x="7134978" y="4858396"/>
                  <a:ext cx="38683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FCFE5B6-EC6B-A65C-42A2-F65BA55840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4978" y="4858396"/>
                  <a:ext cx="386837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19048" b="-25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5EB3CBCE-2B4A-3B4E-09E9-1F5B731CD99A}"/>
              </a:ext>
            </a:extLst>
          </p:cNvPr>
          <p:cNvSpPr txBox="1"/>
          <p:nvPr/>
        </p:nvSpPr>
        <p:spPr>
          <a:xfrm>
            <a:off x="1106712" y="363925"/>
            <a:ext cx="3175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组合逻辑电路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D31952A-8C18-D0B0-C1FF-484AAEDC8504}"/>
              </a:ext>
            </a:extLst>
          </p:cNvPr>
          <p:cNvSpPr txBox="1"/>
          <p:nvPr/>
        </p:nvSpPr>
        <p:spPr>
          <a:xfrm>
            <a:off x="7309471" y="267429"/>
            <a:ext cx="3175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时序逻辑电路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E2FB48-23C1-C77C-E871-9B1E150806FD}"/>
              </a:ext>
            </a:extLst>
          </p:cNvPr>
          <p:cNvSpPr txBox="1"/>
          <p:nvPr/>
        </p:nvSpPr>
        <p:spPr>
          <a:xfrm>
            <a:off x="1034846" y="3519359"/>
            <a:ext cx="3483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逻辑表达式：</a:t>
            </a:r>
            <a:r>
              <a:rPr lang="en-US" altLang="zh-CN" sz="2800" dirty="0"/>
              <a:t>Y=f(X)</a:t>
            </a:r>
            <a:endParaRPr lang="zh-CN" altLang="en-US" sz="28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0159BE0-549F-8758-7ADC-F1EA69618F2F}"/>
              </a:ext>
            </a:extLst>
          </p:cNvPr>
          <p:cNvSpPr txBox="1"/>
          <p:nvPr/>
        </p:nvSpPr>
        <p:spPr>
          <a:xfrm>
            <a:off x="1018668" y="4427595"/>
            <a:ext cx="4412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输出只与当前输入有关。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组合逻辑电路必须有输入。</a:t>
            </a:r>
          </a:p>
        </p:txBody>
      </p:sp>
      <p:sp>
        <p:nvSpPr>
          <p:cNvPr id="54" name="箭头: 下 53">
            <a:extLst>
              <a:ext uri="{FF2B5EF4-FFF2-40B4-BE49-F238E27FC236}">
                <a16:creationId xmlns:a16="http://schemas.microsoft.com/office/drawing/2014/main" id="{89FA192B-FD11-639F-8964-2EE0C1EA2874}"/>
              </a:ext>
            </a:extLst>
          </p:cNvPr>
          <p:cNvSpPr/>
          <p:nvPr/>
        </p:nvSpPr>
        <p:spPr>
          <a:xfrm>
            <a:off x="2373765" y="2947615"/>
            <a:ext cx="258852" cy="4783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箭头: 下 54">
            <a:extLst>
              <a:ext uri="{FF2B5EF4-FFF2-40B4-BE49-F238E27FC236}">
                <a16:creationId xmlns:a16="http://schemas.microsoft.com/office/drawing/2014/main" id="{ECFAF6F4-474F-1B7A-681C-3D5AE4695FAD}"/>
              </a:ext>
            </a:extLst>
          </p:cNvPr>
          <p:cNvSpPr/>
          <p:nvPr/>
        </p:nvSpPr>
        <p:spPr>
          <a:xfrm rot="10800000">
            <a:off x="8785674" y="1713748"/>
            <a:ext cx="222864" cy="4783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4A279B96-DFB5-9622-CF02-544BEC4F42C6}"/>
                  </a:ext>
                </a:extLst>
              </p:cNvPr>
              <p:cNvSpPr txBox="1"/>
              <p:nvPr/>
            </p:nvSpPr>
            <p:spPr>
              <a:xfrm>
                <a:off x="6500584" y="853113"/>
                <a:ext cx="4793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驱动方程：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4A279B96-DFB5-9622-CF02-544BEC4F4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584" y="853113"/>
                <a:ext cx="4793042" cy="461665"/>
              </a:xfrm>
              <a:prstGeom prst="rect">
                <a:avLst/>
              </a:prstGeom>
              <a:blipFill>
                <a:blip r:embed="rId15"/>
                <a:stretch>
                  <a:fillRect l="-1906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D2EA2DC-F557-DE9A-A1A0-DA68C158D183}"/>
                  </a:ext>
                </a:extLst>
              </p:cNvPr>
              <p:cNvSpPr txBox="1"/>
              <p:nvPr/>
            </p:nvSpPr>
            <p:spPr>
              <a:xfrm>
                <a:off x="6518032" y="1314778"/>
                <a:ext cx="4793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输出方程：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D2EA2DC-F557-DE9A-A1A0-DA68C158D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032" y="1314778"/>
                <a:ext cx="4793042" cy="461665"/>
              </a:xfrm>
              <a:prstGeom prst="rect">
                <a:avLst/>
              </a:prstGeom>
              <a:blipFill>
                <a:blip r:embed="rId16"/>
                <a:stretch>
                  <a:fillRect l="-1908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箭头: 下 57">
            <a:extLst>
              <a:ext uri="{FF2B5EF4-FFF2-40B4-BE49-F238E27FC236}">
                <a16:creationId xmlns:a16="http://schemas.microsoft.com/office/drawing/2014/main" id="{BF327463-BBE9-AF51-DA4E-5A277C66CB20}"/>
              </a:ext>
            </a:extLst>
          </p:cNvPr>
          <p:cNvSpPr/>
          <p:nvPr/>
        </p:nvSpPr>
        <p:spPr>
          <a:xfrm>
            <a:off x="8934656" y="5064837"/>
            <a:ext cx="222864" cy="4783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AED7D67-F450-99D5-F453-4AEE0EA4BAF3}"/>
                  </a:ext>
                </a:extLst>
              </p:cNvPr>
              <p:cNvSpPr txBox="1"/>
              <p:nvPr/>
            </p:nvSpPr>
            <p:spPr>
              <a:xfrm>
                <a:off x="6700787" y="5599292"/>
                <a:ext cx="4793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状态方程：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AED7D67-F450-99D5-F453-4AEE0EA4B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787" y="5599292"/>
                <a:ext cx="4793042" cy="461665"/>
              </a:xfrm>
              <a:prstGeom prst="rect">
                <a:avLst/>
              </a:prstGeom>
              <a:blipFill>
                <a:blip r:embed="rId17"/>
                <a:stretch>
                  <a:fillRect l="-1908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DC3F1BC-71F6-03E0-FD4C-FD4D18988187}"/>
              </a:ext>
            </a:extLst>
          </p:cNvPr>
          <p:cNvSpPr txBox="1"/>
          <p:nvPr/>
        </p:nvSpPr>
        <p:spPr>
          <a:xfrm>
            <a:off x="6644099" y="5995688"/>
            <a:ext cx="4506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输出不仅与当前输入有关，还与之前的状态有关。</a:t>
            </a:r>
          </a:p>
        </p:txBody>
      </p:sp>
    </p:spTree>
    <p:extLst>
      <p:ext uri="{BB962C8B-B14F-4D97-AF65-F5344CB8AC3E}">
        <p14:creationId xmlns:p14="http://schemas.microsoft.com/office/powerpoint/2010/main" val="114796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 animBg="1"/>
      <p:bldP spid="55" grpId="0" animBg="1"/>
      <p:bldP spid="56" grpId="0"/>
      <p:bldP spid="57" grpId="0"/>
      <p:bldP spid="58" grpId="0" animBg="1"/>
      <p:bldP spid="59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5FB06-6949-CE23-98AA-CF204CEC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97" y="-207297"/>
            <a:ext cx="10515600" cy="1325563"/>
          </a:xfrm>
        </p:spPr>
        <p:txBody>
          <a:bodyPr/>
          <a:lstStyle/>
          <a:p>
            <a:r>
              <a:rPr lang="zh-CN" altLang="en-US" dirty="0"/>
              <a:t>组合逻辑电路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082CA7-46E3-A609-E1B2-74E2100DACDC}"/>
              </a:ext>
            </a:extLst>
          </p:cNvPr>
          <p:cNvSpPr txBox="1"/>
          <p:nvPr/>
        </p:nvSpPr>
        <p:spPr>
          <a:xfrm>
            <a:off x="844911" y="1181649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译码器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46C657-7FF1-91CC-F813-3B5A744CBEFD}"/>
              </a:ext>
            </a:extLst>
          </p:cNvPr>
          <p:cNvSpPr txBox="1"/>
          <p:nvPr/>
        </p:nvSpPr>
        <p:spPr>
          <a:xfrm>
            <a:off x="5184850" y="1181568"/>
            <a:ext cx="248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数据选择器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12AEC9-2C4C-58A7-641A-A1BE8C591C02}"/>
              </a:ext>
            </a:extLst>
          </p:cNvPr>
          <p:cNvSpPr txBox="1"/>
          <p:nvPr/>
        </p:nvSpPr>
        <p:spPr>
          <a:xfrm>
            <a:off x="9368096" y="1207944"/>
            <a:ext cx="2154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数据分配</a:t>
            </a:r>
          </a:p>
        </p:txBody>
      </p:sp>
      <p:graphicFrame>
        <p:nvGraphicFramePr>
          <p:cNvPr id="31" name="Object 1024">
            <a:extLst>
              <a:ext uri="{FF2B5EF4-FFF2-40B4-BE49-F238E27FC236}">
                <a16:creationId xmlns:a16="http://schemas.microsoft.com/office/drawing/2014/main" id="{48759821-64C7-0A27-C837-822BBF0BF8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1244" y="1727642"/>
          <a:ext cx="3773487" cy="280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4315427" imgH="3209524" progId="Paint.Picture">
                  <p:embed/>
                </p:oleObj>
              </mc:Choice>
              <mc:Fallback>
                <p:oleObj name="BMP 图像" r:id="rId2" imgW="4315427" imgH="3209524" progId="Paint.Picture">
                  <p:embed/>
                  <p:pic>
                    <p:nvPicPr>
                      <p:cNvPr id="31" name="Object 1024">
                        <a:extLst>
                          <a:ext uri="{FF2B5EF4-FFF2-40B4-BE49-F238E27FC236}">
                            <a16:creationId xmlns:a16="http://schemas.microsoft.com/office/drawing/2014/main" id="{48759821-64C7-0A27-C837-822BBF0BF8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244" y="1727642"/>
                        <a:ext cx="3773487" cy="280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91593B33-F501-96D4-5C44-A2AB3247C79B}"/>
              </a:ext>
            </a:extLst>
          </p:cNvPr>
          <p:cNvGrpSpPr/>
          <p:nvPr/>
        </p:nvGrpSpPr>
        <p:grpSpPr>
          <a:xfrm>
            <a:off x="74143" y="2002621"/>
            <a:ext cx="3970524" cy="2684377"/>
            <a:chOff x="241258" y="2843587"/>
            <a:chExt cx="4080676" cy="2822922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B08D701-56F1-81FF-A49B-529AC5704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258" y="3881005"/>
              <a:ext cx="4064371" cy="1785504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C98D8D7-B791-7CBB-04C3-BB5EF29F6629}"/>
                </a:ext>
              </a:extLst>
            </p:cNvPr>
            <p:cNvSpPr txBox="1"/>
            <p:nvPr/>
          </p:nvSpPr>
          <p:spPr>
            <a:xfrm>
              <a:off x="1911927" y="3574473"/>
              <a:ext cx="51261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&amp;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3D2B51E-4FC0-0270-476F-805FE7E48ACB}"/>
                </a:ext>
              </a:extLst>
            </p:cNvPr>
            <p:cNvSpPr txBox="1"/>
            <p:nvPr/>
          </p:nvSpPr>
          <p:spPr>
            <a:xfrm>
              <a:off x="2596159" y="3574473"/>
              <a:ext cx="51261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&amp;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442CD83-8DD8-3028-6E18-CB91363247DD}"/>
                </a:ext>
              </a:extLst>
            </p:cNvPr>
            <p:cNvSpPr txBox="1"/>
            <p:nvPr/>
          </p:nvSpPr>
          <p:spPr>
            <a:xfrm>
              <a:off x="3194584" y="3574473"/>
              <a:ext cx="51261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&amp;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B4E2CFC-DD12-FDF6-BE8F-647E0DB4F453}"/>
                </a:ext>
              </a:extLst>
            </p:cNvPr>
            <p:cNvSpPr txBox="1"/>
            <p:nvPr/>
          </p:nvSpPr>
          <p:spPr>
            <a:xfrm>
              <a:off x="3809315" y="3574473"/>
              <a:ext cx="51261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&amp;</a:t>
              </a:r>
              <a:endParaRPr lang="zh-CN" altLang="en-US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1F78BB3-C7BB-9A60-1DE8-609BB8E564AC}"/>
                </a:ext>
              </a:extLst>
            </p:cNvPr>
            <p:cNvCxnSpPr>
              <a:endCxn id="20" idx="0"/>
            </p:cNvCxnSpPr>
            <p:nvPr/>
          </p:nvCxnSpPr>
          <p:spPr>
            <a:xfrm>
              <a:off x="2168236" y="3269673"/>
              <a:ext cx="1" cy="304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2CFCDD4-46E6-5C5D-4DA8-E97C8C78ADBA}"/>
                </a:ext>
              </a:extLst>
            </p:cNvPr>
            <p:cNvCxnSpPr/>
            <p:nvPr/>
          </p:nvCxnSpPr>
          <p:spPr>
            <a:xfrm>
              <a:off x="2845540" y="3255819"/>
              <a:ext cx="1" cy="304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914E405-C6CA-AD83-5332-4CA2C4A0819E}"/>
                </a:ext>
              </a:extLst>
            </p:cNvPr>
            <p:cNvCxnSpPr/>
            <p:nvPr/>
          </p:nvCxnSpPr>
          <p:spPr>
            <a:xfrm>
              <a:off x="3450892" y="3255819"/>
              <a:ext cx="1" cy="304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530B4FF-B2CC-22BF-A0C2-5A87731E04F0}"/>
                </a:ext>
              </a:extLst>
            </p:cNvPr>
            <p:cNvCxnSpPr/>
            <p:nvPr/>
          </p:nvCxnSpPr>
          <p:spPr>
            <a:xfrm>
              <a:off x="4056243" y="3255819"/>
              <a:ext cx="1" cy="304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B6C7092-6221-E1AF-3AAE-EBC00DB21689}"/>
                    </a:ext>
                  </a:extLst>
                </p:cNvPr>
                <p:cNvSpPr txBox="1"/>
                <p:nvPr/>
              </p:nvSpPr>
              <p:spPr>
                <a:xfrm>
                  <a:off x="1790700" y="2881745"/>
                  <a:ext cx="377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B6C7092-6221-E1AF-3AAE-EBC00DB216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0700" y="2881745"/>
                  <a:ext cx="377532" cy="400110"/>
                </a:xfrm>
                <a:prstGeom prst="rect">
                  <a:avLst/>
                </a:prstGeom>
                <a:blipFill>
                  <a:blip r:embed="rId5"/>
                  <a:stretch>
                    <a:fillRect r="-9836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48FA84A-5ED3-AEE9-0FBE-B468A8643823}"/>
                    </a:ext>
                  </a:extLst>
                </p:cNvPr>
                <p:cNvSpPr txBox="1"/>
                <p:nvPr/>
              </p:nvSpPr>
              <p:spPr>
                <a:xfrm>
                  <a:off x="2613726" y="2843587"/>
                  <a:ext cx="377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48FA84A-5ED3-AEE9-0FBE-B468A8643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726" y="2843587"/>
                  <a:ext cx="377532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8333"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9CB54D7-E85C-A52B-A915-D0584FD06653}"/>
                    </a:ext>
                  </a:extLst>
                </p:cNvPr>
                <p:cNvSpPr txBox="1"/>
                <p:nvPr/>
              </p:nvSpPr>
              <p:spPr>
                <a:xfrm>
                  <a:off x="3232190" y="2843587"/>
                  <a:ext cx="377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9CB54D7-E85C-A52B-A915-D0584FD06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2190" y="2843587"/>
                  <a:ext cx="377532" cy="400110"/>
                </a:xfrm>
                <a:prstGeom prst="rect">
                  <a:avLst/>
                </a:prstGeom>
                <a:blipFill>
                  <a:blip r:embed="rId7"/>
                  <a:stretch>
                    <a:fillRect r="-10000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8CC310-F638-C620-3CA2-385F40030223}"/>
                    </a:ext>
                  </a:extLst>
                </p:cNvPr>
                <p:cNvSpPr txBox="1"/>
                <p:nvPr/>
              </p:nvSpPr>
              <p:spPr>
                <a:xfrm>
                  <a:off x="3827878" y="2843587"/>
                  <a:ext cx="377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8CC310-F638-C620-3CA2-385F40030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878" y="2843587"/>
                  <a:ext cx="377532" cy="400110"/>
                </a:xfrm>
                <a:prstGeom prst="rect">
                  <a:avLst/>
                </a:prstGeom>
                <a:blipFill>
                  <a:blip r:embed="rId8"/>
                  <a:stretch>
                    <a:fillRect r="-10000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4C2CC612-89F1-C4F1-3772-DD196B96D4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1577" y="2013813"/>
            <a:ext cx="3816280" cy="2408858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52FDF97D-80E7-9739-2A52-921FEE60CFFE}"/>
              </a:ext>
            </a:extLst>
          </p:cNvPr>
          <p:cNvSpPr txBox="1"/>
          <p:nvPr/>
        </p:nvSpPr>
        <p:spPr>
          <a:xfrm>
            <a:off x="460158" y="4779946"/>
            <a:ext cx="3141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个地址输入，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输出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7FBA8E9-67DF-BCEE-BAAC-CA41BE902A3B}"/>
              </a:ext>
            </a:extLst>
          </p:cNvPr>
          <p:cNvSpPr txBox="1"/>
          <p:nvPr/>
        </p:nvSpPr>
        <p:spPr>
          <a:xfrm>
            <a:off x="4689391" y="4651898"/>
            <a:ext cx="3292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个地址输入，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个数据输入，</a:t>
            </a:r>
            <a:r>
              <a:rPr lang="en-US" altLang="zh-CN" sz="2400" dirty="0"/>
              <a:t>1</a:t>
            </a:r>
            <a:r>
              <a:rPr lang="zh-CN" altLang="en-US" sz="2400" dirty="0"/>
              <a:t>个输出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9C5799-EE11-AAC7-E461-55D3E00E9E4D}"/>
              </a:ext>
            </a:extLst>
          </p:cNvPr>
          <p:cNvSpPr txBox="1"/>
          <p:nvPr/>
        </p:nvSpPr>
        <p:spPr>
          <a:xfrm>
            <a:off x="8642914" y="4595279"/>
            <a:ext cx="3292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个地址输入，</a:t>
            </a:r>
            <a:r>
              <a:rPr lang="en-US" altLang="zh-CN" sz="2400" dirty="0"/>
              <a:t>1</a:t>
            </a:r>
            <a:r>
              <a:rPr lang="zh-CN" altLang="en-US" sz="2400" dirty="0"/>
              <a:t>个数据输入，</a:t>
            </a:r>
            <a:r>
              <a:rPr lang="en-US" altLang="zh-CN" sz="2400" dirty="0"/>
              <a:t> 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个输出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4BC8562-057F-15BC-DD1E-1F3CD17B11DE}"/>
              </a:ext>
            </a:extLst>
          </p:cNvPr>
          <p:cNvSpPr txBox="1"/>
          <p:nvPr/>
        </p:nvSpPr>
        <p:spPr>
          <a:xfrm>
            <a:off x="211696" y="5451739"/>
            <a:ext cx="3555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选通某个地址（最小项），输出为</a:t>
            </a:r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8E4589E-D242-7837-9C04-AD4DC975AD17}"/>
              </a:ext>
            </a:extLst>
          </p:cNvPr>
          <p:cNvSpPr txBox="1"/>
          <p:nvPr/>
        </p:nvSpPr>
        <p:spPr>
          <a:xfrm>
            <a:off x="4317476" y="5468105"/>
            <a:ext cx="4211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选通某个地址（最小项），选择该地址对应的数据输出。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B3A1E10-C2F8-A96B-5283-17C9975369FC}"/>
              </a:ext>
            </a:extLst>
          </p:cNvPr>
          <p:cNvSpPr txBox="1"/>
          <p:nvPr/>
        </p:nvSpPr>
        <p:spPr>
          <a:xfrm>
            <a:off x="8565986" y="5468105"/>
            <a:ext cx="3520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选通某个地址（最小项），将数据从该地址输出。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1025">
                <a:extLst>
                  <a:ext uri="{FF2B5EF4-FFF2-40B4-BE49-F238E27FC236}">
                    <a16:creationId xmlns:a16="http://schemas.microsoft.com/office/drawing/2014/main" id="{3A56E51F-3CC6-D7B7-66FC-3B2723300E4C}"/>
                  </a:ext>
                </a:extLst>
              </p:cNvPr>
              <p:cNvSpPr txBox="1"/>
              <p:nvPr/>
            </p:nvSpPr>
            <p:spPr bwMode="auto">
              <a:xfrm>
                <a:off x="5599958" y="6228866"/>
                <a:ext cx="1946861" cy="5270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400" baseline="-25000" dirty="0"/>
              </a:p>
            </p:txBody>
          </p:sp>
        </mc:Choice>
        <mc:Fallback xmlns="">
          <p:sp>
            <p:nvSpPr>
              <p:cNvPr id="45" name="Object 1025">
                <a:extLst>
                  <a:ext uri="{FF2B5EF4-FFF2-40B4-BE49-F238E27FC236}">
                    <a16:creationId xmlns:a16="http://schemas.microsoft.com/office/drawing/2014/main" id="{3A56E51F-3CC6-D7B7-66FC-3B2723300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9958" y="6228866"/>
                <a:ext cx="1946861" cy="527077"/>
              </a:xfrm>
              <a:prstGeom prst="rect">
                <a:avLst/>
              </a:prstGeom>
              <a:blipFill>
                <a:blip r:embed="rId10"/>
                <a:stretch>
                  <a:fillRect b="-220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4D3CEE1-778F-F137-9796-833A3D73887D}"/>
                  </a:ext>
                </a:extLst>
              </p:cNvPr>
              <p:cNvSpPr txBox="1"/>
              <p:nvPr/>
            </p:nvSpPr>
            <p:spPr>
              <a:xfrm>
                <a:off x="9679477" y="6344987"/>
                <a:ext cx="15316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4D3CEE1-778F-F137-9796-833A3D738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477" y="6344987"/>
                <a:ext cx="1531620" cy="461665"/>
              </a:xfrm>
              <a:prstGeom prst="rect">
                <a:avLst/>
              </a:prstGeom>
              <a:blipFill>
                <a:blip r:embed="rId11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BC15594-0540-5EE2-26D8-0D9CDA2EBEDA}"/>
                  </a:ext>
                </a:extLst>
              </p:cNvPr>
              <p:cNvSpPr txBox="1"/>
              <p:nvPr/>
            </p:nvSpPr>
            <p:spPr>
              <a:xfrm>
                <a:off x="1332639" y="6304432"/>
                <a:ext cx="15316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BC15594-0540-5EE2-26D8-0D9CDA2EB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639" y="6304432"/>
                <a:ext cx="1531620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8CFEA9B-92EF-785A-270A-874F15468175}"/>
              </a:ext>
            </a:extLst>
          </p:cNvPr>
          <p:cNvCxnSpPr/>
          <p:nvPr/>
        </p:nvCxnSpPr>
        <p:spPr>
          <a:xfrm>
            <a:off x="1533053" y="840594"/>
            <a:ext cx="0" cy="397164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237B793-DF10-7561-8ABA-93D3D7A4FC8A}"/>
              </a:ext>
            </a:extLst>
          </p:cNvPr>
          <p:cNvCxnSpPr>
            <a:cxnSpLocks/>
          </p:cNvCxnSpPr>
          <p:nvPr/>
        </p:nvCxnSpPr>
        <p:spPr>
          <a:xfrm flipV="1">
            <a:off x="1533053" y="776962"/>
            <a:ext cx="8257309" cy="636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209FDF-63EA-7680-CABC-2AB23FB95842}"/>
              </a:ext>
            </a:extLst>
          </p:cNvPr>
          <p:cNvCxnSpPr>
            <a:cxnSpLocks/>
          </p:cNvCxnSpPr>
          <p:nvPr/>
        </p:nvCxnSpPr>
        <p:spPr>
          <a:xfrm>
            <a:off x="9790362" y="776962"/>
            <a:ext cx="0" cy="404606"/>
          </a:xfrm>
          <a:prstGeom prst="line">
            <a:avLst/>
          </a:prstGeom>
          <a:ln w="38100">
            <a:headEnd type="diamond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74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37" grpId="0"/>
      <p:bldP spid="38" grpId="0"/>
      <p:bldP spid="39" grpId="0"/>
      <p:bldP spid="40" grpId="0"/>
      <p:bldP spid="43" grpId="0"/>
      <p:bldP spid="44" grpId="0"/>
      <p:bldP spid="45" grpId="0"/>
      <p:bldP spid="46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0FC94-9DD8-1AA7-161C-A55F782F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28" y="84254"/>
            <a:ext cx="10515600" cy="1094221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译码器、数据选择器、数据分配器的扩展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0F5BC-9227-EC57-403E-F3EA7D88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8" y="1178475"/>
            <a:ext cx="10515600" cy="4351338"/>
          </a:xfrm>
        </p:spPr>
        <p:txBody>
          <a:bodyPr/>
          <a:lstStyle/>
          <a:p>
            <a:r>
              <a:rPr lang="zh-CN" altLang="en-US" dirty="0"/>
              <a:t>译码器：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sz="2400" dirty="0"/>
              <a:t>两片</a:t>
            </a:r>
            <a:r>
              <a:rPr lang="en-US" altLang="zh-CN" sz="2400" dirty="0"/>
              <a:t>n—2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译码器能扩展为</a:t>
            </a:r>
            <a:r>
              <a:rPr lang="en-US" altLang="zh-CN" sz="2400" dirty="0"/>
              <a:t>(                 )</a:t>
            </a:r>
            <a:r>
              <a:rPr lang="zh-CN" altLang="en-US" sz="2400" dirty="0"/>
              <a:t>译码器</a:t>
            </a:r>
            <a:endParaRPr lang="zh-CN" altLang="en-US" baseline="30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D4D1DD-4EDE-D39A-35D7-7820EDD0995A}"/>
              </a:ext>
            </a:extLst>
          </p:cNvPr>
          <p:cNvSpPr txBox="1"/>
          <p:nvPr/>
        </p:nvSpPr>
        <p:spPr>
          <a:xfrm>
            <a:off x="4339950" y="1681594"/>
            <a:ext cx="1756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n+1—2</a:t>
            </a:r>
            <a:r>
              <a:rPr lang="en-US" altLang="zh-CN" sz="2400" baseline="30000" dirty="0"/>
              <a:t>n+1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E6CE5B-6898-66DD-5F15-C60BAC55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23" y="2319696"/>
            <a:ext cx="6212075" cy="30266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3E904B-BB61-AC3B-1C93-0A35551E5A21}"/>
              </a:ext>
            </a:extLst>
          </p:cNvPr>
          <p:cNvSpPr txBox="1"/>
          <p:nvPr/>
        </p:nvSpPr>
        <p:spPr>
          <a:xfrm>
            <a:off x="681183" y="5706250"/>
            <a:ext cx="85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低的</a:t>
            </a:r>
            <a:r>
              <a:rPr lang="en-US" altLang="zh-CN" sz="2400" dirty="0"/>
              <a:t>n</a:t>
            </a:r>
            <a:r>
              <a:rPr lang="zh-CN" altLang="en-US" sz="2400" dirty="0"/>
              <a:t>位地址连接两个芯片的地址，高位地址作为片选信号连接各个芯片的控制端。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8039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6C2DC-706C-DD2A-74AE-3A99ECD1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译码器、数据选择器、数据分配器的扩展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3EBA3-F74E-C898-610E-384130B0A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数据选择器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  两片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选</a:t>
            </a:r>
            <a:r>
              <a:rPr lang="en-US" altLang="zh-CN" sz="2800" dirty="0"/>
              <a:t>1</a:t>
            </a:r>
            <a:r>
              <a:rPr lang="zh-CN" altLang="en-US" dirty="0"/>
              <a:t>数据选择器</a:t>
            </a:r>
            <a:r>
              <a:rPr lang="zh-CN" altLang="en-US" sz="2800" dirty="0"/>
              <a:t>能扩展为</a:t>
            </a:r>
            <a:r>
              <a:rPr lang="en-US" altLang="zh-CN" sz="2800" dirty="0"/>
              <a:t>(              )</a:t>
            </a:r>
            <a:r>
              <a:rPr lang="zh-CN" altLang="en-US" sz="2800" dirty="0"/>
              <a:t>译码器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36381D-AF40-9CE0-5BAF-1D421EA0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44" y="3006205"/>
            <a:ext cx="4109172" cy="21655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3B6376-479B-E08B-527F-B8C3435E7A0F}"/>
              </a:ext>
            </a:extLst>
          </p:cNvPr>
          <p:cNvSpPr txBox="1"/>
          <p:nvPr/>
        </p:nvSpPr>
        <p:spPr>
          <a:xfrm>
            <a:off x="812739" y="5538768"/>
            <a:ext cx="9934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低的</a:t>
            </a:r>
            <a:r>
              <a:rPr lang="en-US" altLang="zh-CN" sz="2800" dirty="0"/>
              <a:t>n</a:t>
            </a:r>
            <a:r>
              <a:rPr lang="zh-CN" altLang="en-US" sz="2800" dirty="0"/>
              <a:t>位地址连接两个芯片的地址，高位地址作为片选信号连接各个芯片的控制端。</a:t>
            </a:r>
            <a:endParaRPr lang="en-US" altLang="zh-CN" sz="2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F3E060-B4EA-1B8A-25C8-C2D9B0E3B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022" y="2798135"/>
            <a:ext cx="4109172" cy="21655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B6DA979-068B-E6CA-A572-AF1CF1D66C02}"/>
              </a:ext>
            </a:extLst>
          </p:cNvPr>
          <p:cNvSpPr txBox="1"/>
          <p:nvPr/>
        </p:nvSpPr>
        <p:spPr>
          <a:xfrm>
            <a:off x="5995792" y="2343569"/>
            <a:ext cx="1507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2</a:t>
            </a:r>
            <a:r>
              <a:rPr lang="en-US" altLang="zh-CN" sz="2800" baseline="30000" dirty="0"/>
              <a:t>n+1</a:t>
            </a:r>
            <a:r>
              <a:rPr lang="zh-CN" altLang="en-US" sz="2800" dirty="0"/>
              <a:t>选</a:t>
            </a:r>
            <a:r>
              <a:rPr lang="en-US" altLang="zh-CN" sz="2800" dirty="0"/>
              <a:t>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145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2398C4C-50E0-897D-8B79-5A81B73FB9EE}"/>
              </a:ext>
            </a:extLst>
          </p:cNvPr>
          <p:cNvSpPr txBox="1"/>
          <p:nvPr/>
        </p:nvSpPr>
        <p:spPr>
          <a:xfrm>
            <a:off x="57309" y="207875"/>
            <a:ext cx="9698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使用双四选一数据选择器</a:t>
            </a:r>
            <a:r>
              <a:rPr lang="en-US" altLang="zh-CN" sz="2800" dirty="0"/>
              <a:t>74HC153</a:t>
            </a:r>
            <a:r>
              <a:rPr lang="zh-CN" altLang="en-US" sz="2800" dirty="0"/>
              <a:t>接成八选一数据选择器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3F28BD-5E94-1E59-DFC8-7B8F4CF75D57}"/>
              </a:ext>
            </a:extLst>
          </p:cNvPr>
          <p:cNvSpPr/>
          <p:nvPr/>
        </p:nvSpPr>
        <p:spPr>
          <a:xfrm>
            <a:off x="1789856" y="4898044"/>
            <a:ext cx="4390025" cy="170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C34482-34A1-5F5C-0FEF-CC365FAEC3D3}"/>
              </a:ext>
            </a:extLst>
          </p:cNvPr>
          <p:cNvSpPr/>
          <p:nvPr/>
        </p:nvSpPr>
        <p:spPr>
          <a:xfrm>
            <a:off x="554181" y="2988508"/>
            <a:ext cx="1322172" cy="2317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659E1A8-5814-6683-50D2-495FBA7A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567" y="1545527"/>
            <a:ext cx="5742857" cy="5000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EF4694B-A721-E6DD-EB6F-D14CAF4AC5F8}"/>
              </a:ext>
            </a:extLst>
          </p:cNvPr>
          <p:cNvSpPr/>
          <p:nvPr/>
        </p:nvSpPr>
        <p:spPr>
          <a:xfrm>
            <a:off x="7415556" y="4898044"/>
            <a:ext cx="4390025" cy="170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327030-C01A-A330-B44E-D25704D1A46A}"/>
              </a:ext>
            </a:extLst>
          </p:cNvPr>
          <p:cNvSpPr/>
          <p:nvPr/>
        </p:nvSpPr>
        <p:spPr>
          <a:xfrm>
            <a:off x="7342536" y="1620053"/>
            <a:ext cx="4536063" cy="1237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4222DD-124C-8679-9172-775134A68088}"/>
              </a:ext>
            </a:extLst>
          </p:cNvPr>
          <p:cNvSpPr/>
          <p:nvPr/>
        </p:nvSpPr>
        <p:spPr>
          <a:xfrm>
            <a:off x="6179881" y="2988508"/>
            <a:ext cx="1322172" cy="2317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099212-7D85-0836-FABC-FCC208D5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01" y="924388"/>
            <a:ext cx="5857143" cy="3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7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5F50E-6935-6E8B-6461-8160EE84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0" y="309707"/>
            <a:ext cx="10515600" cy="1325563"/>
          </a:xfrm>
        </p:spPr>
        <p:txBody>
          <a:bodyPr/>
          <a:lstStyle/>
          <a:p>
            <a:r>
              <a:rPr lang="zh-CN" altLang="en-US" dirty="0"/>
              <a:t>用译码器和数据选择器设计逻辑函数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9E2D8-13EC-34C4-44E5-6C12DB3B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4"/>
            <a:ext cx="10515600" cy="4351338"/>
          </a:xfrm>
        </p:spPr>
        <p:txBody>
          <a:bodyPr/>
          <a:lstStyle/>
          <a:p>
            <a:r>
              <a:rPr lang="zh-CN" altLang="en-US" dirty="0"/>
              <a:t>译码器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n—2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译码器能生成输入变量小于等于</a:t>
            </a:r>
            <a:r>
              <a:rPr lang="en-US" altLang="zh-CN" sz="2800" dirty="0"/>
              <a:t>n</a:t>
            </a:r>
            <a:r>
              <a:rPr lang="zh-CN" altLang="en-US" sz="2800" dirty="0"/>
              <a:t>的逻辑函数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0CCAD6-DA4B-D74C-082A-9F5EF7C93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19" y="2802824"/>
            <a:ext cx="2763289" cy="31757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787C409-6E3C-09B1-72F1-6C41415BF4A5}"/>
              </a:ext>
            </a:extLst>
          </p:cNvPr>
          <p:cNvSpPr txBox="1"/>
          <p:nvPr/>
        </p:nvSpPr>
        <p:spPr>
          <a:xfrm>
            <a:off x="3860800" y="2802824"/>
            <a:ext cx="81464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输入变量个数等于</a:t>
            </a:r>
            <a:r>
              <a:rPr lang="en-US" altLang="zh-CN" sz="2400" dirty="0"/>
              <a:t>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将逻辑函数变为</a:t>
            </a:r>
            <a:r>
              <a:rPr lang="en-US" altLang="zh-CN" sz="2400" dirty="0"/>
              <a:t>n</a:t>
            </a:r>
            <a:r>
              <a:rPr lang="zh-CN" altLang="en-US" sz="2400" dirty="0"/>
              <a:t>变量的最小项相或的标准式子。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输入变量直接连译码器的</a:t>
            </a:r>
            <a:r>
              <a:rPr lang="en-US" altLang="zh-CN" sz="2400" dirty="0"/>
              <a:t>n</a:t>
            </a:r>
            <a:r>
              <a:rPr lang="zh-CN" altLang="en-US" sz="2400" dirty="0"/>
              <a:t>位地址输入。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输出为逻辑函数包含的所有最小项对应的译码器输出的</a:t>
            </a:r>
            <a:r>
              <a:rPr lang="zh-CN" altLang="en-US" sz="2400" b="1" dirty="0"/>
              <a:t>与非</a:t>
            </a:r>
            <a:r>
              <a:rPr lang="zh-CN" altLang="en-US" sz="2400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A25D6F6-E7E1-0D1B-EE66-860983F585ED}"/>
                  </a:ext>
                </a:extLst>
              </p:cNvPr>
              <p:cNvSpPr txBox="1"/>
              <p:nvPr/>
            </p:nvSpPr>
            <p:spPr>
              <a:xfrm>
                <a:off x="642819" y="6185600"/>
                <a:ext cx="335280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A25D6F6-E7E1-0D1B-EE66-860983F58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19" y="6185600"/>
                <a:ext cx="3352800" cy="462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40E6BA-FA94-D25B-0855-9290697A3593}"/>
                  </a:ext>
                </a:extLst>
              </p:cNvPr>
              <p:cNvSpPr txBox="1"/>
              <p:nvPr/>
            </p:nvSpPr>
            <p:spPr>
              <a:xfrm>
                <a:off x="4516582" y="6185600"/>
                <a:ext cx="5477164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40E6BA-FA94-D25B-0855-9290697A3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582" y="6185600"/>
                <a:ext cx="5477164" cy="462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9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5F50E-6935-6E8B-6461-8160EE84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0" y="309707"/>
            <a:ext cx="10515600" cy="1325563"/>
          </a:xfrm>
        </p:spPr>
        <p:txBody>
          <a:bodyPr/>
          <a:lstStyle/>
          <a:p>
            <a:r>
              <a:rPr lang="zh-CN" altLang="en-US" dirty="0"/>
              <a:t>用译码器和数据选择器设计逻辑函数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9E2D8-13EC-34C4-44E5-6C12DB3B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4"/>
            <a:ext cx="10515600" cy="4351338"/>
          </a:xfrm>
        </p:spPr>
        <p:txBody>
          <a:bodyPr/>
          <a:lstStyle/>
          <a:p>
            <a:r>
              <a:rPr lang="zh-CN" altLang="en-US" dirty="0"/>
              <a:t>译码器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n—2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译码器能生成输入变量小于等于</a:t>
            </a:r>
            <a:r>
              <a:rPr lang="en-US" altLang="zh-CN" sz="2800" dirty="0"/>
              <a:t>n</a:t>
            </a:r>
            <a:r>
              <a:rPr lang="zh-CN" altLang="en-US" sz="2800" dirty="0"/>
              <a:t>的逻辑函数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0CCAD6-DA4B-D74C-082A-9F5EF7C93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19" y="2802824"/>
            <a:ext cx="2763289" cy="31757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B4C1D05-4CD6-FB7D-CD19-74C0C9EC7E52}"/>
              </a:ext>
            </a:extLst>
          </p:cNvPr>
          <p:cNvSpPr txBox="1"/>
          <p:nvPr/>
        </p:nvSpPr>
        <p:spPr>
          <a:xfrm>
            <a:off x="3601489" y="2802824"/>
            <a:ext cx="823182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输入变量个数</a:t>
            </a:r>
            <a:r>
              <a:rPr lang="en-US" altLang="zh-CN" sz="2400" dirty="0"/>
              <a:t>m</a:t>
            </a:r>
            <a:r>
              <a:rPr lang="zh-CN" altLang="en-US" sz="2400" dirty="0"/>
              <a:t>小于</a:t>
            </a:r>
            <a:r>
              <a:rPr lang="en-US" altLang="zh-CN" sz="2400" dirty="0"/>
              <a:t>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把逻辑函数写成</a:t>
            </a:r>
            <a:r>
              <a:rPr lang="en-US" altLang="zh-CN" sz="2400" dirty="0"/>
              <a:t>m</a:t>
            </a:r>
            <a:r>
              <a:rPr lang="zh-CN" altLang="en-US" sz="2400" dirty="0"/>
              <a:t>变量的最小项标准形式。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输入变量连译码器的低</a:t>
            </a:r>
            <a:r>
              <a:rPr lang="en-US" altLang="zh-CN" sz="2400" dirty="0"/>
              <a:t>m</a:t>
            </a:r>
            <a:r>
              <a:rPr lang="zh-CN" altLang="en-US" sz="2400" dirty="0"/>
              <a:t>位地址输入。译码器高位置</a:t>
            </a:r>
            <a:r>
              <a:rPr lang="en-US" altLang="zh-CN" sz="2400" dirty="0"/>
              <a:t>0</a:t>
            </a:r>
            <a:r>
              <a:rPr lang="zh-CN" altLang="en-US" sz="2400" dirty="0"/>
              <a:t>或者</a:t>
            </a:r>
            <a:r>
              <a:rPr lang="en-US" altLang="zh-CN" sz="2400" dirty="0"/>
              <a:t>1</a:t>
            </a:r>
          </a:p>
          <a:p>
            <a:endParaRPr lang="en-US" altLang="zh-CN" sz="2400" dirty="0"/>
          </a:p>
          <a:p>
            <a:r>
              <a:rPr lang="zh-CN" altLang="en-US" sz="2400" dirty="0"/>
              <a:t>输出为对应译码器对应最小项的与非。</a:t>
            </a:r>
            <a:endParaRPr lang="en-US" altLang="zh-CN" sz="2400" dirty="0"/>
          </a:p>
          <a:p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3B2B8C2-E929-B159-9872-B92B38012ED3}"/>
                  </a:ext>
                </a:extLst>
              </p:cNvPr>
              <p:cNvSpPr txBox="1"/>
              <p:nvPr/>
            </p:nvSpPr>
            <p:spPr>
              <a:xfrm>
                <a:off x="476565" y="6085859"/>
                <a:ext cx="335280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3B2B8C2-E929-B159-9872-B92B38012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65" y="6085859"/>
                <a:ext cx="3352800" cy="462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902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ABCA0-7ED7-5089-EBB4-3237DA84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73" y="-18078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用译码器和数据选择器设计逻辑函数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C00A98-7A17-9B3F-754F-8A1104FE8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01988"/>
            <a:ext cx="10515600" cy="4351338"/>
          </a:xfrm>
        </p:spPr>
        <p:txBody>
          <a:bodyPr/>
          <a:lstStyle/>
          <a:p>
            <a:r>
              <a:rPr lang="zh-CN" altLang="en-US" dirty="0"/>
              <a:t>数据选择器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选</a:t>
            </a:r>
            <a:r>
              <a:rPr lang="en-US" altLang="zh-CN" sz="2800" dirty="0"/>
              <a:t>1</a:t>
            </a:r>
            <a:r>
              <a:rPr lang="zh-CN" altLang="en-US" sz="2800" dirty="0"/>
              <a:t>数据选择器可以生成任意逻辑函数。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）逻辑函数输入变量个数</a:t>
            </a:r>
            <a:r>
              <a:rPr lang="en-US" altLang="zh-CN" dirty="0"/>
              <a:t>m=n</a:t>
            </a:r>
          </a:p>
          <a:p>
            <a:pPr marL="0" indent="0">
              <a:buNone/>
            </a:pPr>
            <a:r>
              <a:rPr lang="zh-CN" altLang="en-US" dirty="0"/>
              <a:t>   把逻辑函数写成</a:t>
            </a:r>
            <a:r>
              <a:rPr lang="en-US" altLang="zh-CN" dirty="0"/>
              <a:t>n</a:t>
            </a:r>
            <a:r>
              <a:rPr lang="zh-CN" altLang="en-US" dirty="0"/>
              <a:t>个变量的最小项标准式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数据选择器的</a:t>
            </a:r>
            <a:r>
              <a:rPr lang="en-US" altLang="zh-CN" dirty="0"/>
              <a:t>n</a:t>
            </a:r>
            <a:r>
              <a:rPr lang="zh-CN" altLang="en-US" dirty="0"/>
              <a:t>位地址连接逻辑函数的</a:t>
            </a:r>
            <a:r>
              <a:rPr lang="en-US" altLang="zh-CN" dirty="0"/>
              <a:t>n</a:t>
            </a:r>
            <a:r>
              <a:rPr lang="zh-CN" altLang="en-US" dirty="0"/>
              <a:t>个变量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个数据端分别设置为</a:t>
            </a:r>
            <a:r>
              <a:rPr lang="en-US" altLang="zh-CN" sz="2800" dirty="0"/>
              <a:t>0</a:t>
            </a:r>
            <a:r>
              <a:rPr lang="zh-CN" altLang="en-US" sz="2800" dirty="0"/>
              <a:t>或者</a:t>
            </a:r>
            <a:r>
              <a:rPr lang="en-US" altLang="zh-CN" sz="2800" dirty="0"/>
              <a:t>1</a:t>
            </a:r>
            <a:r>
              <a:rPr lang="zh-CN" altLang="en-US" sz="2800" dirty="0"/>
              <a:t>（逻辑函数包含的最小项）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395656-8353-8094-0824-9E841867B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9" y="4068931"/>
            <a:ext cx="4494842" cy="23687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C4ED6C0-70D4-2161-FB78-B5F8444E63DF}"/>
                  </a:ext>
                </a:extLst>
              </p:cNvPr>
              <p:cNvSpPr txBox="1"/>
              <p:nvPr/>
            </p:nvSpPr>
            <p:spPr>
              <a:xfrm>
                <a:off x="5944492" y="4292146"/>
                <a:ext cx="335280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C4ED6C0-70D4-2161-FB78-B5F8444E6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492" y="4292146"/>
                <a:ext cx="3352800" cy="462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882F88-1505-5535-55AF-2B5252F6F0D7}"/>
                  </a:ext>
                </a:extLst>
              </p:cNvPr>
              <p:cNvSpPr txBox="1"/>
              <p:nvPr/>
            </p:nvSpPr>
            <p:spPr>
              <a:xfrm>
                <a:off x="5504873" y="5271482"/>
                <a:ext cx="5477164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882F88-1505-5535-55AF-2B5252F6F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73" y="5271482"/>
                <a:ext cx="5477164" cy="462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70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ABCA0-7ED7-5089-EBB4-3237DA84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73" y="-18078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用译码器和数据选择器设计逻辑函数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C00A98-7A17-9B3F-754F-8A1104FE8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01988"/>
            <a:ext cx="10515600" cy="4351338"/>
          </a:xfrm>
        </p:spPr>
        <p:txBody>
          <a:bodyPr/>
          <a:lstStyle/>
          <a:p>
            <a:r>
              <a:rPr lang="zh-CN" altLang="en-US" dirty="0"/>
              <a:t>数据选择器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）逻辑函数输入变量个数</a:t>
            </a:r>
            <a:r>
              <a:rPr lang="en-US" altLang="zh-CN" dirty="0"/>
              <a:t>m&lt;n</a:t>
            </a:r>
          </a:p>
          <a:p>
            <a:pPr marL="0" indent="0">
              <a:buNone/>
            </a:pPr>
            <a:r>
              <a:rPr lang="zh-CN" altLang="en-US" dirty="0"/>
              <a:t>   把逻辑函数写成</a:t>
            </a:r>
            <a:r>
              <a:rPr lang="en-US" altLang="zh-CN" dirty="0"/>
              <a:t>m</a:t>
            </a:r>
            <a:r>
              <a:rPr lang="zh-CN" altLang="en-US" dirty="0"/>
              <a:t>个变量的最小项标准式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数据选择器的低</a:t>
            </a:r>
            <a:r>
              <a:rPr lang="en-US" altLang="zh-CN" dirty="0"/>
              <a:t>m</a:t>
            </a:r>
            <a:r>
              <a:rPr lang="zh-CN" altLang="en-US" dirty="0"/>
              <a:t>位地址连接逻辑函数的</a:t>
            </a:r>
            <a:r>
              <a:rPr lang="en-US" altLang="zh-CN" dirty="0"/>
              <a:t>m</a:t>
            </a:r>
            <a:r>
              <a:rPr lang="zh-CN" altLang="en-US" dirty="0"/>
              <a:t>个变量，高位地址置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个数据端分别设置为</a:t>
            </a:r>
            <a:r>
              <a:rPr lang="en-US" altLang="zh-CN" sz="2800" dirty="0"/>
              <a:t>0</a:t>
            </a:r>
            <a:r>
              <a:rPr lang="zh-CN" altLang="en-US" sz="2800" dirty="0"/>
              <a:t>或者</a:t>
            </a:r>
            <a:r>
              <a:rPr lang="en-US" altLang="zh-CN" sz="2800" dirty="0"/>
              <a:t>1</a:t>
            </a:r>
            <a:r>
              <a:rPr lang="zh-CN" altLang="en-US" sz="2800" dirty="0"/>
              <a:t>（逻辑函数包含最小项）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DD322B-A632-ACBE-6A90-88A85DEF3854}"/>
                  </a:ext>
                </a:extLst>
              </p:cNvPr>
              <p:cNvSpPr txBox="1"/>
              <p:nvPr/>
            </p:nvSpPr>
            <p:spPr>
              <a:xfrm>
                <a:off x="5874327" y="4277544"/>
                <a:ext cx="335280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DD322B-A632-ACBE-6A90-88A85DEF3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327" y="4277544"/>
                <a:ext cx="3352800" cy="462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7655BBA3-1EDD-E58D-77F6-0F2BBCAA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19" y="3967611"/>
            <a:ext cx="4552381" cy="2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5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DD50C-14EF-04BE-2B97-36CA89E7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用译码器和数据选择器设计逻辑函数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BA087-7989-DEB5-19E0-E7836A4C8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63" y="1632787"/>
            <a:ext cx="10515600" cy="4351338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）逻辑函数输入变量个数</a:t>
            </a:r>
            <a:r>
              <a:rPr lang="en-US" altLang="zh-CN" dirty="0"/>
              <a:t>m&gt;n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0EF8FA-E05F-59F8-3526-20B9AEDE4F38}"/>
              </a:ext>
            </a:extLst>
          </p:cNvPr>
          <p:cNvSpPr txBox="1"/>
          <p:nvPr/>
        </p:nvSpPr>
        <p:spPr>
          <a:xfrm>
            <a:off x="709863" y="2496685"/>
            <a:ext cx="5883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写出逻辑函数的最小项标准表达式。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393E81-784F-A10D-E2E6-11B0E1B9EE8D}"/>
              </a:ext>
            </a:extLst>
          </p:cNvPr>
          <p:cNvSpPr txBox="1"/>
          <p:nvPr/>
        </p:nvSpPr>
        <p:spPr>
          <a:xfrm>
            <a:off x="709863" y="3278487"/>
            <a:ext cx="5883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写出数据选择器的输出函数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5B618C-FFF6-DDDC-F20C-5B0FD2E676BD}"/>
              </a:ext>
            </a:extLst>
          </p:cNvPr>
          <p:cNvSpPr txBox="1"/>
          <p:nvPr/>
        </p:nvSpPr>
        <p:spPr>
          <a:xfrm>
            <a:off x="704394" y="4071584"/>
            <a:ext cx="5883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3. </a:t>
            </a:r>
            <a:r>
              <a:rPr lang="zh-CN" altLang="en-US" sz="2400" dirty="0"/>
              <a:t>从逻辑函数的</a:t>
            </a:r>
            <a:r>
              <a:rPr lang="en-US" altLang="zh-CN" sz="2400" dirty="0"/>
              <a:t>m</a:t>
            </a:r>
            <a:r>
              <a:rPr lang="zh-CN" altLang="en-US" sz="2400" dirty="0"/>
              <a:t>个变量中选择</a:t>
            </a:r>
            <a:r>
              <a:rPr lang="en-US" altLang="zh-CN" sz="2400" dirty="0"/>
              <a:t>n</a:t>
            </a:r>
            <a:r>
              <a:rPr lang="zh-CN" altLang="en-US" sz="2400" dirty="0"/>
              <a:t>个变量接数据选择器的地址输入端。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C359A2-7067-B6E3-B02A-C4F992BDB6B1}"/>
              </a:ext>
            </a:extLst>
          </p:cNvPr>
          <p:cNvSpPr txBox="1"/>
          <p:nvPr/>
        </p:nvSpPr>
        <p:spPr>
          <a:xfrm>
            <a:off x="599157" y="5336552"/>
            <a:ext cx="4183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4. </a:t>
            </a:r>
            <a:r>
              <a:rPr lang="zh-CN" altLang="en-US" sz="2400" dirty="0"/>
              <a:t>数据选择器的数据输入端为每个最小项中剩余的</a:t>
            </a:r>
            <a:r>
              <a:rPr lang="en-US" altLang="zh-CN" sz="2400" dirty="0"/>
              <a:t>m-n</a:t>
            </a:r>
            <a:r>
              <a:rPr lang="zh-CN" altLang="en-US" sz="2400" dirty="0"/>
              <a:t>个变量的组合逻辑或者为</a:t>
            </a:r>
            <a:r>
              <a:rPr lang="en-US" altLang="zh-CN" sz="2400" dirty="0"/>
              <a:t>0/1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B1522C0-BEE2-D4FA-F576-5C0AB5746B25}"/>
                  </a:ext>
                </a:extLst>
              </p:cNvPr>
              <p:cNvSpPr txBox="1"/>
              <p:nvPr/>
            </p:nvSpPr>
            <p:spPr>
              <a:xfrm>
                <a:off x="6721859" y="2512469"/>
                <a:ext cx="5861785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F=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̅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𝐴𝐵𝐶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B1522C0-BEE2-D4FA-F576-5C0AB5746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859" y="2512469"/>
                <a:ext cx="5861785" cy="462434"/>
              </a:xfrm>
              <a:prstGeom prst="rect">
                <a:avLst/>
              </a:prstGeom>
              <a:blipFill>
                <a:blip r:embed="rId2"/>
                <a:stretch>
                  <a:fillRect l="-166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350384D-D8D8-6272-8E7D-E096ADAEB67B}"/>
                  </a:ext>
                </a:extLst>
              </p:cNvPr>
              <p:cNvSpPr txBox="1"/>
              <p:nvPr/>
            </p:nvSpPr>
            <p:spPr>
              <a:xfrm>
                <a:off x="5438490" y="3219421"/>
                <a:ext cx="6689559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350384D-D8D8-6272-8E7D-E096ADAEB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490" y="3219421"/>
                <a:ext cx="6689559" cy="462434"/>
              </a:xfrm>
              <a:prstGeom prst="rect">
                <a:avLst/>
              </a:prstGeom>
              <a:blipFill>
                <a:blip r:embed="rId3"/>
                <a:stretch>
                  <a:fillRect l="-182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AA4D1ED-24A4-1E26-2D13-998E49458015}"/>
                  </a:ext>
                </a:extLst>
              </p:cNvPr>
              <p:cNvSpPr txBox="1"/>
              <p:nvPr/>
            </p:nvSpPr>
            <p:spPr>
              <a:xfrm>
                <a:off x="7825847" y="4001992"/>
                <a:ext cx="256994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400" b="0" dirty="0"/>
                  <a:t>,   </a:t>
                </a:r>
              </a:p>
              <a:p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AA4D1ED-24A4-1E26-2D13-998E49458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847" y="4001992"/>
                <a:ext cx="2569946" cy="830997"/>
              </a:xfrm>
              <a:prstGeom prst="rect">
                <a:avLst/>
              </a:prstGeom>
              <a:blipFill>
                <a:blip r:embed="rId4"/>
                <a:stretch>
                  <a:fillRect l="-713" t="-5109" r="-15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4E0C760-D9DF-E3C8-B21E-B2F1ABFA2725}"/>
                  </a:ext>
                </a:extLst>
              </p:cNvPr>
              <p:cNvSpPr txBox="1"/>
              <p:nvPr/>
            </p:nvSpPr>
            <p:spPr>
              <a:xfrm>
                <a:off x="5516075" y="5753590"/>
                <a:ext cx="12705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𝐶𝐷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4E0C760-D9DF-E3C8-B21E-B2F1ABFA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075" y="5753590"/>
                <a:ext cx="1270535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C6E82AC-8B82-F3A0-8611-FF17F4F3115F}"/>
                  </a:ext>
                </a:extLst>
              </p:cNvPr>
              <p:cNvSpPr txBox="1"/>
              <p:nvPr/>
            </p:nvSpPr>
            <p:spPr>
              <a:xfrm>
                <a:off x="7176435" y="5709726"/>
                <a:ext cx="19555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C6E82AC-8B82-F3A0-8611-FF17F4F31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435" y="5709726"/>
                <a:ext cx="1955532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7651C79-5C3B-3EC1-1EEA-A3C77ADED0F7}"/>
                  </a:ext>
                </a:extLst>
              </p:cNvPr>
              <p:cNvSpPr txBox="1"/>
              <p:nvPr/>
            </p:nvSpPr>
            <p:spPr>
              <a:xfrm>
                <a:off x="8854843" y="5705885"/>
                <a:ext cx="19555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7651C79-5C3B-3EC1-1EEA-A3C77ADE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843" y="5705885"/>
                <a:ext cx="1955532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CBDE19F-589D-3F5C-9F19-3B208EC2DF0B}"/>
                  </a:ext>
                </a:extLst>
              </p:cNvPr>
              <p:cNvSpPr txBox="1"/>
              <p:nvPr/>
            </p:nvSpPr>
            <p:spPr>
              <a:xfrm>
                <a:off x="10236468" y="5692035"/>
                <a:ext cx="19555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CBDE19F-589D-3F5C-9F19-3B208EC2D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6468" y="5692035"/>
                <a:ext cx="1955532" cy="461665"/>
              </a:xfrm>
              <a:prstGeom prst="rect">
                <a:avLst/>
              </a:prstGeom>
              <a:blipFill>
                <a:blip r:embed="rId8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53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91186-FA8A-E625-88FC-0D5B201A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56" y="-26004"/>
            <a:ext cx="10515600" cy="1325563"/>
          </a:xfrm>
        </p:spPr>
        <p:txBody>
          <a:bodyPr/>
          <a:lstStyle/>
          <a:p>
            <a:r>
              <a:rPr lang="zh-CN" altLang="en-US" dirty="0"/>
              <a:t>加法器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4A54B4-33B1-61A7-2FE3-DDCA4ACC19F3}"/>
              </a:ext>
            </a:extLst>
          </p:cNvPr>
          <p:cNvSpPr txBox="1"/>
          <p:nvPr/>
        </p:nvSpPr>
        <p:spPr>
          <a:xfrm>
            <a:off x="712107" y="1038351"/>
            <a:ext cx="138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半加器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8DD2BE-A369-B92B-8E83-B61A8B87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29" y="1592877"/>
            <a:ext cx="1371429" cy="19142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0E0EB8-CBB7-AA61-70E2-199C82821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448" y="1866161"/>
            <a:ext cx="2514286" cy="13714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DD7F4C0-A923-D55A-BAB3-C01F77A74B21}"/>
              </a:ext>
            </a:extLst>
          </p:cNvPr>
          <p:cNvSpPr txBox="1"/>
          <p:nvPr/>
        </p:nvSpPr>
        <p:spPr>
          <a:xfrm>
            <a:off x="6121660" y="1269184"/>
            <a:ext cx="138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全加器</a:t>
            </a:r>
          </a:p>
        </p:txBody>
      </p:sp>
      <p:graphicFrame>
        <p:nvGraphicFramePr>
          <p:cNvPr id="8" name="Object 3074">
            <a:extLst>
              <a:ext uri="{FF2B5EF4-FFF2-40B4-BE49-F238E27FC236}">
                <a16:creationId xmlns:a16="http://schemas.microsoft.com/office/drawing/2014/main" id="{EA0F30E3-8CC5-6F1F-C0AD-1F55F146A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0406" y="2315827"/>
          <a:ext cx="3040020" cy="824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2247619" imgH="609524" progId="Paint.Picture">
                  <p:embed/>
                </p:oleObj>
              </mc:Choice>
              <mc:Fallback>
                <p:oleObj name="BMP 图象" r:id="rId4" imgW="2247619" imgH="609524" progId="Paint.Picture">
                  <p:embed/>
                  <p:pic>
                    <p:nvPicPr>
                      <p:cNvPr id="8" name="Object 3074">
                        <a:extLst>
                          <a:ext uri="{FF2B5EF4-FFF2-40B4-BE49-F238E27FC236}">
                            <a16:creationId xmlns:a16="http://schemas.microsoft.com/office/drawing/2014/main" id="{EA0F30E3-8CC5-6F1F-C0AD-1F55F146A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06" y="2315827"/>
                        <a:ext cx="3040020" cy="824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47148C21-3CB1-6B87-F499-97F82F2EB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56" y="2113866"/>
            <a:ext cx="2000000" cy="3714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DCEC62-C540-4CB1-4A1F-8C06156387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12" y="2807443"/>
            <a:ext cx="3171429" cy="45714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378DEB9-6790-3253-3992-3E70C8E77034}"/>
              </a:ext>
            </a:extLst>
          </p:cNvPr>
          <p:cNvSpPr txBox="1"/>
          <p:nvPr/>
        </p:nvSpPr>
        <p:spPr>
          <a:xfrm>
            <a:off x="618529" y="3725683"/>
            <a:ext cx="4641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多位加法器：将多个全加器级联</a:t>
            </a: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D672A510-5D3B-4A9F-369B-C6AE6E3AA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256" y="4482341"/>
          <a:ext cx="4899212" cy="1676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8" imgW="6009524" imgH="2057143" progId="Paint.Picture">
                  <p:embed/>
                </p:oleObj>
              </mc:Choice>
              <mc:Fallback>
                <p:oleObj name="BMP 图象" r:id="rId8" imgW="6009524" imgH="2057143" progId="Paint.Picture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D672A510-5D3B-4A9F-369B-C6AE6E3AA5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256" y="4482341"/>
                        <a:ext cx="4899212" cy="1676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0">
            <a:extLst>
              <a:ext uri="{FF2B5EF4-FFF2-40B4-BE49-F238E27FC236}">
                <a16:creationId xmlns:a16="http://schemas.microsoft.com/office/drawing/2014/main" id="{39779CB8-1C6F-5D2F-DAFB-B74AC3F1D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676" y="3652526"/>
            <a:ext cx="3242728" cy="2629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2AD55D6-7B53-9AEF-CC0D-3FD490D1FB50}"/>
              </a:ext>
            </a:extLst>
          </p:cNvPr>
          <p:cNvSpPr txBox="1"/>
          <p:nvPr/>
        </p:nvSpPr>
        <p:spPr>
          <a:xfrm>
            <a:off x="1810327" y="6158713"/>
            <a:ext cx="1403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串行进位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B3F5A2-AA76-09E1-3D13-5F3CB0B4EDC4}"/>
              </a:ext>
            </a:extLst>
          </p:cNvPr>
          <p:cNvSpPr txBox="1"/>
          <p:nvPr/>
        </p:nvSpPr>
        <p:spPr>
          <a:xfrm>
            <a:off x="8508076" y="6097496"/>
            <a:ext cx="1403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并行进位</a:t>
            </a:r>
          </a:p>
        </p:txBody>
      </p:sp>
    </p:spTree>
    <p:extLst>
      <p:ext uri="{BB962C8B-B14F-4D97-AF65-F5344CB8AC3E}">
        <p14:creationId xmlns:p14="http://schemas.microsoft.com/office/powerpoint/2010/main" val="314395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916EA-9403-F95D-9006-32649FF6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06507"/>
            <a:ext cx="10515600" cy="1325563"/>
          </a:xfrm>
        </p:spPr>
        <p:txBody>
          <a:bodyPr/>
          <a:lstStyle/>
          <a:p>
            <a:r>
              <a:rPr lang="zh-CN" altLang="en-US" dirty="0"/>
              <a:t>如何利用加法器构成比较器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2ABB6D-E527-8628-2901-F5537707B511}"/>
              </a:ext>
            </a:extLst>
          </p:cNvPr>
          <p:cNvSpPr txBox="1"/>
          <p:nvPr/>
        </p:nvSpPr>
        <p:spPr>
          <a:xfrm>
            <a:off x="330200" y="1282171"/>
            <a:ext cx="111965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试用4位二进制加法器74HC283实现一个数值比较电路，判断输入数据是否大于等于</a:t>
            </a:r>
            <a:r>
              <a:rPr lang="en-US" altLang="zh-CN" sz="2400" dirty="0"/>
              <a:t>8</a:t>
            </a:r>
            <a:r>
              <a:rPr lang="zh-CN" altLang="en-US" sz="2400" dirty="0"/>
              <a:t>，大于</a:t>
            </a:r>
            <a:r>
              <a:rPr lang="en-US" altLang="zh-CN" sz="2400" dirty="0"/>
              <a:t>8</a:t>
            </a:r>
            <a:r>
              <a:rPr lang="zh-CN" altLang="en-US" sz="2400" dirty="0"/>
              <a:t>输出</a:t>
            </a:r>
            <a:r>
              <a:rPr lang="en-US" altLang="zh-CN" sz="2400" dirty="0"/>
              <a:t>1</a:t>
            </a:r>
            <a:r>
              <a:rPr lang="zh-CN" altLang="en-US" sz="2400" dirty="0"/>
              <a:t>，否则输出为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ECDC98-8F67-03DE-63BD-08935838A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51" y="2257621"/>
            <a:ext cx="2485804" cy="33182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5B4F6E-CC0C-E437-D85A-DB8717077C60}"/>
              </a:ext>
            </a:extLst>
          </p:cNvPr>
          <p:cNvSpPr txBox="1"/>
          <p:nvPr/>
        </p:nvSpPr>
        <p:spPr>
          <a:xfrm>
            <a:off x="3833089" y="2301450"/>
            <a:ext cx="6763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判断输入数据</a:t>
            </a:r>
            <a:r>
              <a:rPr lang="en-US" altLang="zh-CN" sz="2400" dirty="0"/>
              <a:t>X</a:t>
            </a:r>
            <a:r>
              <a:rPr lang="zh-CN" altLang="en-US" sz="2400" dirty="0"/>
              <a:t>是否大于等于</a:t>
            </a:r>
            <a:r>
              <a:rPr lang="en-US" altLang="zh-CN" sz="2400" dirty="0"/>
              <a:t>Y(Y&lt;16</a:t>
            </a:r>
            <a:r>
              <a:rPr lang="zh-CN" altLang="en-US" sz="2400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3BE519-B8C3-EAC2-0880-B0A84A485FD7}"/>
                  </a:ext>
                </a:extLst>
              </p:cNvPr>
              <p:cNvSpPr txBox="1"/>
              <p:nvPr/>
            </p:nvSpPr>
            <p:spPr>
              <a:xfrm>
                <a:off x="4778534" y="3013501"/>
                <a:ext cx="28649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r>
                  <a:rPr lang="en-US" altLang="zh-CN" sz="240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3BE519-B8C3-EAC2-0880-B0A84A485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534" y="3013501"/>
                <a:ext cx="286491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574FBF1-7A78-44D3-ED06-060C9E26D2D6}"/>
                  </a:ext>
                </a:extLst>
              </p:cNvPr>
              <p:cNvSpPr txBox="1"/>
              <p:nvPr/>
            </p:nvSpPr>
            <p:spPr>
              <a:xfrm>
                <a:off x="4514037" y="4068207"/>
                <a:ext cx="3559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b="0" dirty="0">
                    <a:ea typeface="Cambria Math" panose="02040503050406030204" pitchFamily="18" charset="0"/>
                  </a:rPr>
                  <a:t>=16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574FBF1-7A78-44D3-ED06-060C9E26D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037" y="4068207"/>
                <a:ext cx="3559486" cy="461665"/>
              </a:xfrm>
              <a:prstGeom prst="rect">
                <a:avLst/>
              </a:prstGeom>
              <a:blipFill>
                <a:blip r:embed="rId4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491539-4BBA-D6E5-546B-7EB3A2EC8119}"/>
                  </a:ext>
                </a:extLst>
              </p:cNvPr>
              <p:cNvSpPr txBox="1"/>
              <p:nvPr/>
            </p:nvSpPr>
            <p:spPr>
              <a:xfrm>
                <a:off x="4514037" y="4573497"/>
                <a:ext cx="20702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=16−2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491539-4BBA-D6E5-546B-7EB3A2EC8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037" y="4573497"/>
                <a:ext cx="207021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7CCD823-B46B-6442-9898-D9D490AA32CC}"/>
              </a:ext>
            </a:extLst>
          </p:cNvPr>
          <p:cNvSpPr txBox="1"/>
          <p:nvPr/>
        </p:nvSpPr>
        <p:spPr>
          <a:xfrm>
            <a:off x="4166753" y="5183164"/>
            <a:ext cx="73069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可以将</a:t>
            </a:r>
            <a:r>
              <a:rPr lang="en-US" altLang="zh-CN" sz="2400" dirty="0"/>
              <a:t>X</a:t>
            </a:r>
            <a:r>
              <a:rPr lang="zh-CN" altLang="en-US" sz="2400" dirty="0"/>
              <a:t>与</a:t>
            </a:r>
            <a:r>
              <a:rPr lang="en-US" altLang="zh-CN" sz="2400" dirty="0"/>
              <a:t>Y+D=</a:t>
            </a:r>
            <a:r>
              <a:rPr lang="en-US" altLang="zh-CN" sz="2400" b="1" dirty="0">
                <a:solidFill>
                  <a:srgbClr val="FF0000"/>
                </a:solidFill>
              </a:rPr>
              <a:t>16-Y</a:t>
            </a:r>
            <a:r>
              <a:rPr lang="zh-CN" altLang="en-US" sz="2400" dirty="0"/>
              <a:t>直接相加，根据进位判断</a:t>
            </a:r>
            <a:r>
              <a:rPr lang="en-US" altLang="zh-CN" sz="2400" dirty="0"/>
              <a:t>X</a:t>
            </a:r>
            <a:r>
              <a:rPr lang="zh-CN" altLang="en-US" sz="2400" dirty="0"/>
              <a:t>是否大于等于</a:t>
            </a:r>
            <a:r>
              <a:rPr lang="en-US" altLang="zh-CN" sz="2400" dirty="0"/>
              <a:t>Y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EBE71C-8F87-CF6B-6F6E-23ACDD98309D}"/>
              </a:ext>
            </a:extLst>
          </p:cNvPr>
          <p:cNvSpPr txBox="1"/>
          <p:nvPr/>
        </p:nvSpPr>
        <p:spPr>
          <a:xfrm>
            <a:off x="4166753" y="6212090"/>
            <a:ext cx="2057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如果</a:t>
            </a:r>
            <a:r>
              <a:rPr lang="en-US" altLang="zh-CN" sz="2400" dirty="0"/>
              <a:t>2Y&gt;16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8ED27C-90F6-B82C-9735-0D79C0BC84D8}"/>
              </a:ext>
            </a:extLst>
          </p:cNvPr>
          <p:cNvSpPr txBox="1"/>
          <p:nvPr/>
        </p:nvSpPr>
        <p:spPr>
          <a:xfrm>
            <a:off x="6096000" y="62163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需要用</a:t>
            </a:r>
            <a:r>
              <a:rPr lang="en-US" altLang="zh-CN" sz="2400" dirty="0"/>
              <a:t>5</a:t>
            </a:r>
            <a:r>
              <a:rPr lang="zh-CN" altLang="en-US" sz="2400" dirty="0"/>
              <a:t>位二进制加法器实现。</a:t>
            </a:r>
          </a:p>
        </p:txBody>
      </p:sp>
    </p:spTree>
    <p:extLst>
      <p:ext uri="{BB962C8B-B14F-4D97-AF65-F5344CB8AC3E}">
        <p14:creationId xmlns:p14="http://schemas.microsoft.com/office/powerpoint/2010/main" val="353284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19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2F225-8EAC-2CD4-3EBD-CE372948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竞争冒险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6ACDD9-0010-26EC-2723-BEC326618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竞争冒险的判断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代数法：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在逻辑表达式，保持一个变量固定不动，将剩余其他变量用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0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或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1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代替，如果最后逻辑表达式能化简成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dirty="0"/>
                  <a:t>，会产生竞争冒险。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卡诺图法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有两个相切的卡诺圈，并且相切处没有其他卡诺圈包围，可能会出现竞争与冒险现象。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6ACDD9-0010-26EC-2723-BEC326618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 r="-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90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3C04A-F837-C7AC-CF4D-FE9E0854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竞争冒险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7B8879-8D52-86E6-52DB-32C0836A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竞争冒险的消除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ym typeface="Symbol" panose="05050102010706020507" pitchFamily="18" charset="2"/>
              </a:rPr>
              <a:t>  </a:t>
            </a:r>
            <a:r>
              <a:rPr lang="zh-CN" altLang="en-US" dirty="0">
                <a:sym typeface="Symbol" panose="05050102010706020507" pitchFamily="18" charset="2"/>
              </a:rPr>
              <a:t>增加冗余项（单个变量改变状态）</a:t>
            </a:r>
            <a:endParaRPr lang="zh-CN" altLang="en-US" dirty="0"/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181F8F93-6B82-60FB-BD29-2F347D9AE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1632" y="3682857"/>
          <a:ext cx="2087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01309" imgH="203112" progId="Equation.3">
                  <p:embed/>
                </p:oleObj>
              </mc:Choice>
              <mc:Fallback>
                <p:oleObj name="公式" r:id="rId2" imgW="901309" imgH="203112" progId="Equation.3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181F8F93-6B82-60FB-BD29-2F347D9AEE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632" y="3682857"/>
                        <a:ext cx="2087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2C7D3495-7227-88B6-7E7A-B01B8D15A6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7739" y="3741594"/>
          <a:ext cx="8826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670" imgH="177646" progId="Equation.3">
                  <p:embed/>
                </p:oleObj>
              </mc:Choice>
              <mc:Fallback>
                <p:oleObj name="公式" r:id="rId4" imgW="380670" imgH="177646" progId="Equation.3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2C7D3495-7227-88B6-7E7A-B01B8D15A6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739" y="3741594"/>
                        <a:ext cx="8826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780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A90E6EB-29D9-5A6D-4393-4506EC6B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89" y="1373238"/>
            <a:ext cx="5719117" cy="28053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888DED-78CE-CCD5-CB8D-9CB8111639E7}"/>
              </a:ext>
            </a:extLst>
          </p:cNvPr>
          <p:cNvSpPr txBox="1"/>
          <p:nvPr/>
        </p:nvSpPr>
        <p:spPr>
          <a:xfrm>
            <a:off x="568034" y="370878"/>
            <a:ext cx="5527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下面逻辑图是否存在竞争冒险？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3A812A-3649-6052-C228-B657E4E0129C}"/>
                  </a:ext>
                </a:extLst>
              </p:cNvPr>
              <p:cNvSpPr txBox="1"/>
              <p:nvPr/>
            </p:nvSpPr>
            <p:spPr>
              <a:xfrm>
                <a:off x="1423283" y="4657756"/>
                <a:ext cx="2625975" cy="431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3A812A-3649-6052-C228-B657E4E01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283" y="4657756"/>
                <a:ext cx="2625975" cy="431785"/>
              </a:xfrm>
              <a:prstGeom prst="rect">
                <a:avLst/>
              </a:prstGeom>
              <a:blipFill>
                <a:blip r:embed="rId3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A0B390E-5F2D-BBCD-935F-B0F9494F5C86}"/>
              </a:ext>
            </a:extLst>
          </p:cNvPr>
          <p:cNvSpPr txBox="1"/>
          <p:nvPr/>
        </p:nvSpPr>
        <p:spPr>
          <a:xfrm>
            <a:off x="1270884" y="5530733"/>
            <a:ext cx="129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A=C=1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670FEC-0904-7CA8-A942-7AA2747B4A2E}"/>
              </a:ext>
            </a:extLst>
          </p:cNvPr>
          <p:cNvSpPr txBox="1"/>
          <p:nvPr/>
        </p:nvSpPr>
        <p:spPr>
          <a:xfrm>
            <a:off x="3347782" y="5568681"/>
            <a:ext cx="129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A=B=1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01CDF0-A735-B3C0-8370-2C6AE904CB4F}"/>
              </a:ext>
            </a:extLst>
          </p:cNvPr>
          <p:cNvSpPr txBox="1"/>
          <p:nvPr/>
        </p:nvSpPr>
        <p:spPr>
          <a:xfrm>
            <a:off x="5501294" y="5530734"/>
            <a:ext cx="2846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存在竞争冒险</a:t>
            </a:r>
          </a:p>
        </p:txBody>
      </p:sp>
    </p:spTree>
    <p:extLst>
      <p:ext uri="{BB962C8B-B14F-4D97-AF65-F5344CB8AC3E}">
        <p14:creationId xmlns:p14="http://schemas.microsoft.com/office/powerpoint/2010/main" val="320229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A290B-A828-F5B3-0CB2-A66871EF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65" y="-92849"/>
            <a:ext cx="10515600" cy="1325563"/>
          </a:xfrm>
        </p:spPr>
        <p:txBody>
          <a:bodyPr/>
          <a:lstStyle/>
          <a:p>
            <a:r>
              <a:rPr lang="zh-CN" altLang="en-US" dirty="0"/>
              <a:t>时序逻辑电路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FDA21A0-63C8-2F51-5A8C-A10D4373B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27" y="1035780"/>
            <a:ext cx="10515600" cy="4351338"/>
          </a:xfrm>
        </p:spPr>
        <p:txBody>
          <a:bodyPr/>
          <a:lstStyle/>
          <a:p>
            <a:r>
              <a:rPr lang="zh-CN" altLang="en-US" dirty="0"/>
              <a:t>各种触发器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25B4B2D5-EDB2-75C0-90F3-F5B297322FB3}"/>
              </a:ext>
            </a:extLst>
          </p:cNvPr>
          <p:cNvGraphicFramePr>
            <a:graphicFrameLocks noGrp="1"/>
          </p:cNvGraphicFramePr>
          <p:nvPr/>
        </p:nvGraphicFramePr>
        <p:xfrm>
          <a:off x="363855" y="1629299"/>
          <a:ext cx="11464290" cy="406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309">
                  <a:extLst>
                    <a:ext uri="{9D8B030D-6E8A-4147-A177-3AD203B41FA5}">
                      <a16:colId xmlns:a16="http://schemas.microsoft.com/office/drawing/2014/main" val="88545698"/>
                    </a:ext>
                  </a:extLst>
                </a:gridCol>
                <a:gridCol w="2644021">
                  <a:extLst>
                    <a:ext uri="{9D8B030D-6E8A-4147-A177-3AD203B41FA5}">
                      <a16:colId xmlns:a16="http://schemas.microsoft.com/office/drawing/2014/main" val="2701591686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06250863"/>
                    </a:ext>
                  </a:extLst>
                </a:gridCol>
                <a:gridCol w="2502400">
                  <a:extLst>
                    <a:ext uri="{9D8B030D-6E8A-4147-A177-3AD203B41FA5}">
                      <a16:colId xmlns:a16="http://schemas.microsoft.com/office/drawing/2014/main" val="1714973296"/>
                    </a:ext>
                  </a:extLst>
                </a:gridCol>
                <a:gridCol w="2721110">
                  <a:extLst>
                    <a:ext uri="{9D8B030D-6E8A-4147-A177-3AD203B41FA5}">
                      <a16:colId xmlns:a16="http://schemas.microsoft.com/office/drawing/2014/main" val="2700242230"/>
                    </a:ext>
                  </a:extLst>
                </a:gridCol>
              </a:tblGrid>
              <a:tr h="6992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RS</a:t>
                      </a:r>
                      <a:r>
                        <a:rPr lang="zh-CN" altLang="en-US" sz="2800" dirty="0"/>
                        <a:t>触发器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D</a:t>
                      </a:r>
                      <a:r>
                        <a:rPr lang="zh-CN" altLang="en-US" sz="2800" dirty="0"/>
                        <a:t>触发器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T</a:t>
                      </a:r>
                      <a:r>
                        <a:rPr lang="zh-CN" altLang="en-US" sz="2800" dirty="0"/>
                        <a:t>触发器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JK</a:t>
                      </a:r>
                      <a:r>
                        <a:rPr lang="zh-CN" altLang="en-US" sz="2800" dirty="0"/>
                        <a:t>触发器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235506"/>
                  </a:ext>
                </a:extLst>
              </a:tr>
              <a:tr h="1250812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特性方程（状态方程）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185672"/>
                  </a:ext>
                </a:extLst>
              </a:tr>
              <a:tr h="1250812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4790"/>
                  </a:ext>
                </a:extLst>
              </a:tr>
              <a:tr h="859658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077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94A7139-6893-C7B6-FCBA-5F009227B3E9}"/>
                  </a:ext>
                </a:extLst>
              </p:cNvPr>
              <p:cNvSpPr txBox="1"/>
              <p:nvPr/>
            </p:nvSpPr>
            <p:spPr>
              <a:xfrm>
                <a:off x="1712595" y="2675714"/>
                <a:ext cx="24508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dirty="0"/>
                  <a:t>S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94A7139-6893-C7B6-FCBA-5F009227B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95" y="2675714"/>
                <a:ext cx="2450880" cy="430887"/>
              </a:xfrm>
              <a:prstGeom prst="rect">
                <a:avLst/>
              </a:prstGeom>
              <a:blipFill>
                <a:blip r:embed="rId2"/>
                <a:stretch>
                  <a:fillRect t="-25352" r="-8458" b="-47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18E117A6-D94E-C4BB-AF5E-27F14BD2C564}"/>
              </a:ext>
            </a:extLst>
          </p:cNvPr>
          <p:cNvSpPr txBox="1"/>
          <p:nvPr/>
        </p:nvSpPr>
        <p:spPr>
          <a:xfrm>
            <a:off x="4578668" y="2583381"/>
            <a:ext cx="2450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Q</a:t>
            </a:r>
            <a:r>
              <a:rPr lang="en-US" altLang="zh-CN" sz="2800" b="1" baseline="30000" dirty="0"/>
              <a:t>n+1</a:t>
            </a:r>
            <a:r>
              <a:rPr lang="en-US" altLang="zh-CN" sz="2800" b="1" dirty="0"/>
              <a:t>=D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969343D-2FB2-1C21-8ABB-6A07ED98A7B9}"/>
                  </a:ext>
                </a:extLst>
              </p:cNvPr>
              <p:cNvSpPr txBox="1"/>
              <p:nvPr/>
            </p:nvSpPr>
            <p:spPr>
              <a:xfrm>
                <a:off x="6636068" y="2583381"/>
                <a:ext cx="24508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969343D-2FB2-1C21-8ABB-6A07ED98A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068" y="2583381"/>
                <a:ext cx="2450880" cy="523220"/>
              </a:xfrm>
              <a:prstGeom prst="rect">
                <a:avLst/>
              </a:prstGeom>
              <a:blipFill>
                <a:blip r:embed="rId3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CF2E970-BBCC-6C56-2228-D95B7FF2C041}"/>
                  </a:ext>
                </a:extLst>
              </p:cNvPr>
              <p:cNvSpPr txBox="1"/>
              <p:nvPr/>
            </p:nvSpPr>
            <p:spPr>
              <a:xfrm>
                <a:off x="9133908" y="2675714"/>
                <a:ext cx="2714149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2400" b="0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J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CF2E970-BBCC-6C56-2228-D95B7FF2C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908" y="2675714"/>
                <a:ext cx="2714149" cy="462434"/>
              </a:xfrm>
              <a:prstGeom prst="rect">
                <a:avLst/>
              </a:prstGeom>
              <a:blipFill>
                <a:blip r:embed="rId4"/>
                <a:stretch>
                  <a:fillRect l="-1570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A98F3633-8D40-CE64-E3FC-D8F909D5F5E0}"/>
              </a:ext>
            </a:extLst>
          </p:cNvPr>
          <p:cNvSpPr txBox="1"/>
          <p:nvPr/>
        </p:nvSpPr>
        <p:spPr>
          <a:xfrm>
            <a:off x="2164080" y="3552863"/>
            <a:ext cx="1309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置数</a:t>
            </a:r>
            <a:endParaRPr lang="en-US" altLang="zh-CN" sz="2400" dirty="0"/>
          </a:p>
          <a:p>
            <a:r>
              <a:rPr lang="zh-CN" altLang="en-US" sz="2400" dirty="0"/>
              <a:t>保持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B2F950-5484-3E67-3066-563C8B1ADE46}"/>
              </a:ext>
            </a:extLst>
          </p:cNvPr>
          <p:cNvSpPr txBox="1"/>
          <p:nvPr/>
        </p:nvSpPr>
        <p:spPr>
          <a:xfrm>
            <a:off x="4312918" y="3612180"/>
            <a:ext cx="21121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置数</a:t>
            </a:r>
            <a:endParaRPr lang="en-US" altLang="zh-CN" sz="2400" dirty="0"/>
          </a:p>
          <a:p>
            <a:r>
              <a:rPr lang="zh-CN" altLang="en-US" sz="2400" dirty="0"/>
              <a:t>保持（</a:t>
            </a:r>
            <a:r>
              <a:rPr lang="en-US" altLang="zh-CN" sz="2400" dirty="0"/>
              <a:t>CP</a:t>
            </a:r>
            <a:r>
              <a:rPr lang="zh-CN" altLang="en-US" sz="2400" dirty="0"/>
              <a:t>控制）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50EF97-4884-0EA3-D5F1-F640602C87B5}"/>
              </a:ext>
            </a:extLst>
          </p:cNvPr>
          <p:cNvSpPr txBox="1"/>
          <p:nvPr/>
        </p:nvSpPr>
        <p:spPr>
          <a:xfrm>
            <a:off x="7302866" y="3612180"/>
            <a:ext cx="8090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翻转</a:t>
            </a:r>
            <a:endParaRPr lang="en-US" altLang="zh-CN" sz="2400" dirty="0"/>
          </a:p>
          <a:p>
            <a:r>
              <a:rPr lang="zh-CN" altLang="en-US" sz="2400" dirty="0"/>
              <a:t>保持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CDAAB8-4BCD-BEEF-C355-BFF553A172E3}"/>
              </a:ext>
            </a:extLst>
          </p:cNvPr>
          <p:cNvSpPr txBox="1"/>
          <p:nvPr/>
        </p:nvSpPr>
        <p:spPr>
          <a:xfrm>
            <a:off x="10007702" y="3593096"/>
            <a:ext cx="8090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置数</a:t>
            </a:r>
            <a:endParaRPr lang="en-US" altLang="zh-CN" sz="2400" dirty="0"/>
          </a:p>
          <a:p>
            <a:r>
              <a:rPr lang="zh-CN" altLang="en-US" sz="2400" dirty="0"/>
              <a:t>翻转</a:t>
            </a:r>
            <a:endParaRPr lang="en-US" altLang="zh-CN" sz="2400" dirty="0"/>
          </a:p>
          <a:p>
            <a:r>
              <a:rPr lang="zh-CN" altLang="en-US" sz="2400" dirty="0"/>
              <a:t>保持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5608046-39A8-E97E-33EA-668D95880221}"/>
              </a:ext>
            </a:extLst>
          </p:cNvPr>
          <p:cNvSpPr txBox="1"/>
          <p:nvPr/>
        </p:nvSpPr>
        <p:spPr>
          <a:xfrm>
            <a:off x="2296345" y="4978543"/>
            <a:ext cx="1638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有</a:t>
            </a:r>
            <a:r>
              <a:rPr lang="en-US" altLang="zh-CN" sz="2400" dirty="0"/>
              <a:t>RS=0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840020C-DE0F-2CE2-C28C-65FBB25D3A1A}"/>
              </a:ext>
            </a:extLst>
          </p:cNvPr>
          <p:cNvSpPr txBox="1"/>
          <p:nvPr/>
        </p:nvSpPr>
        <p:spPr>
          <a:xfrm>
            <a:off x="4813410" y="5089482"/>
            <a:ext cx="707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无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69B2294-FF4A-D9F4-E6C2-8FA677442BF1}"/>
              </a:ext>
            </a:extLst>
          </p:cNvPr>
          <p:cNvSpPr txBox="1"/>
          <p:nvPr/>
        </p:nvSpPr>
        <p:spPr>
          <a:xfrm>
            <a:off x="7452920" y="5089482"/>
            <a:ext cx="707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398F3B-52EF-5377-57B7-EAD8252325A1}"/>
              </a:ext>
            </a:extLst>
          </p:cNvPr>
          <p:cNvSpPr txBox="1"/>
          <p:nvPr/>
        </p:nvSpPr>
        <p:spPr>
          <a:xfrm>
            <a:off x="10137472" y="5076578"/>
            <a:ext cx="707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122562-72EC-C97A-D38B-7007E659A391}"/>
              </a:ext>
            </a:extLst>
          </p:cNvPr>
          <p:cNvSpPr txBox="1"/>
          <p:nvPr/>
        </p:nvSpPr>
        <p:spPr>
          <a:xfrm>
            <a:off x="558665" y="6017741"/>
            <a:ext cx="10258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重点边缘触发的触发器，需要掌握各种触发器之间的相互转换。</a:t>
            </a:r>
          </a:p>
        </p:txBody>
      </p:sp>
    </p:spTree>
    <p:extLst>
      <p:ext uri="{BB962C8B-B14F-4D97-AF65-F5344CB8AC3E}">
        <p14:creationId xmlns:p14="http://schemas.microsoft.com/office/powerpoint/2010/main" val="408569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2D783C4E-A115-AF1F-C7DD-2AF6B1BE48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3359" y="-43121"/>
          <a:ext cx="7419975" cy="313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5180952" imgH="2190476" progId="Paint.Picture">
                  <p:embed/>
                </p:oleObj>
              </mc:Choice>
              <mc:Fallback>
                <p:oleObj name="BMP 图像" r:id="rId2" imgW="5180952" imgH="2190476" progId="Paint.Picture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2D783C4E-A115-AF1F-C7DD-2AF6B1BE48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359" y="-43121"/>
                        <a:ext cx="7419975" cy="313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7CEC071-8D00-2F28-4761-34AD53BDBA02}"/>
              </a:ext>
            </a:extLst>
          </p:cNvPr>
          <p:cNvSpPr txBox="1"/>
          <p:nvPr/>
        </p:nvSpPr>
        <p:spPr>
          <a:xfrm>
            <a:off x="253562" y="3079058"/>
            <a:ext cx="10005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zh-CN" sz="2400" b="1" dirty="0"/>
              <a:t>1.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sym typeface="Symbol" panose="05050102010706020507" pitchFamily="18" charset="2"/>
              </a:rPr>
              <a:t> 将</a:t>
            </a:r>
            <a:r>
              <a:rPr lang="en-US" altLang="zh-CN" sz="2400" b="1" dirty="0">
                <a:sym typeface="Symbol" panose="05050102010706020507" pitchFamily="18" charset="2"/>
              </a:rPr>
              <a:t>JK</a:t>
            </a:r>
            <a:r>
              <a:rPr lang="zh-CN" altLang="en-US" sz="2400" b="1" dirty="0">
                <a:sym typeface="Symbol" panose="05050102010706020507" pitchFamily="18" charset="2"/>
              </a:rPr>
              <a:t>触发器转换成</a:t>
            </a:r>
            <a:r>
              <a:rPr lang="en-US" altLang="zh-CN" sz="2400" b="1" dirty="0">
                <a:sym typeface="Symbol" panose="05050102010706020507" pitchFamily="18" charset="2"/>
              </a:rPr>
              <a:t>D</a:t>
            </a:r>
            <a:r>
              <a:rPr lang="zh-CN" altLang="en-US" sz="2400" b="1" dirty="0">
                <a:sym typeface="Symbol" panose="05050102010706020507" pitchFamily="18" charset="2"/>
              </a:rPr>
              <a:t>触发器，写出</a:t>
            </a:r>
            <a:r>
              <a:rPr lang="en-US" altLang="zh-CN" sz="2400" b="1" dirty="0">
                <a:sym typeface="Symbol" panose="05050102010706020507" pitchFamily="18" charset="2"/>
              </a:rPr>
              <a:t>JK</a:t>
            </a:r>
            <a:r>
              <a:rPr lang="zh-CN" altLang="en-US" sz="2400" b="1" dirty="0">
                <a:sym typeface="Symbol" panose="05050102010706020507" pitchFamily="18" charset="2"/>
              </a:rPr>
              <a:t>触发器与</a:t>
            </a:r>
            <a:r>
              <a:rPr lang="en-US" altLang="zh-CN" sz="2400" b="1" dirty="0">
                <a:sym typeface="Symbol" panose="05050102010706020507" pitchFamily="18" charset="2"/>
              </a:rPr>
              <a:t>D</a:t>
            </a:r>
            <a:r>
              <a:rPr lang="zh-CN" altLang="en-US" sz="2400" b="1" dirty="0">
                <a:sym typeface="Symbol" panose="05050102010706020507" pitchFamily="18" charset="2"/>
              </a:rPr>
              <a:t>触发器之间的转换逻辑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6DF7A5B3-750A-0DCC-8EDD-E0B6E22F1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697493"/>
          <a:ext cx="4800600" cy="289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3219899" imgH="1943371" progId="Paint.Picture">
                  <p:embed/>
                </p:oleObj>
              </mc:Choice>
              <mc:Fallback>
                <p:oleObj name="BMP 图像" r:id="rId4" imgW="3219899" imgH="1943371" progId="Paint.Picture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6DF7A5B3-750A-0DCC-8EDD-E0B6E22F1E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697493"/>
                        <a:ext cx="4800600" cy="289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FAD026C-467E-FB34-3FB9-6BCC57EC166C}"/>
              </a:ext>
            </a:extLst>
          </p:cNvPr>
          <p:cNvSpPr/>
          <p:nvPr/>
        </p:nvSpPr>
        <p:spPr>
          <a:xfrm>
            <a:off x="1995984" y="3825526"/>
            <a:ext cx="1323426" cy="2000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EA5EBD-32B2-DB20-8807-CF10E1390EA4}"/>
              </a:ext>
            </a:extLst>
          </p:cNvPr>
          <p:cNvSpPr txBox="1"/>
          <p:nvPr/>
        </p:nvSpPr>
        <p:spPr>
          <a:xfrm>
            <a:off x="2199269" y="4525412"/>
            <a:ext cx="800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转换逻辑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E67E03FC-7EC7-C20E-B681-84F13D0B59A6}"/>
                  </a:ext>
                </a:extLst>
              </p:cNvPr>
              <p:cNvSpPr txBox="1"/>
              <p:nvPr/>
            </p:nvSpPr>
            <p:spPr bwMode="auto">
              <a:xfrm>
                <a:off x="6656002" y="4254562"/>
                <a:ext cx="4240598" cy="14562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p>
                                    <m:sSup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ba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ba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E67E03FC-7EC7-C20E-B681-84F13D0B5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6002" y="4254562"/>
                <a:ext cx="4240598" cy="14562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0D2BCC-CA74-D1E5-BA3A-654D5C7A6668}"/>
                  </a:ext>
                </a:extLst>
              </p:cNvPr>
              <p:cNvSpPr txBox="1"/>
              <p:nvPr/>
            </p:nvSpPr>
            <p:spPr>
              <a:xfrm>
                <a:off x="9865626" y="4563655"/>
                <a:ext cx="2326374" cy="916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ba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0D2BCC-CA74-D1E5-BA3A-654D5C7A6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26" y="4563655"/>
                <a:ext cx="2326374" cy="9161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D5F0D23B-331F-410E-60F8-C126E0A31316}"/>
              </a:ext>
            </a:extLst>
          </p:cNvPr>
          <p:cNvSpPr/>
          <p:nvPr/>
        </p:nvSpPr>
        <p:spPr>
          <a:xfrm>
            <a:off x="9714513" y="4866766"/>
            <a:ext cx="619382" cy="3099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3A94E66-176E-EC8A-F717-C8782FFF7FF1}"/>
                  </a:ext>
                </a:extLst>
              </p:cNvPr>
              <p:cNvSpPr txBox="1"/>
              <p:nvPr/>
            </p:nvSpPr>
            <p:spPr>
              <a:xfrm>
                <a:off x="7241254" y="5173330"/>
                <a:ext cx="2202591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3A94E66-176E-EC8A-F717-C8782FFF7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254" y="5173330"/>
                <a:ext cx="2202591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66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/>
      <p:bldP spid="14" grpId="0"/>
      <p:bldP spid="15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F9032A0-1AF9-8E78-CDD7-8AF4F04A396B}"/>
              </a:ext>
            </a:extLst>
          </p:cNvPr>
          <p:cNvSpPr txBox="1"/>
          <p:nvPr/>
        </p:nvSpPr>
        <p:spPr>
          <a:xfrm>
            <a:off x="197709" y="2828378"/>
            <a:ext cx="1631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基本时序逻辑电路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601593B6-576C-78F9-E7D1-8AA4F199FBB6}"/>
              </a:ext>
            </a:extLst>
          </p:cNvPr>
          <p:cNvSpPr/>
          <p:nvPr/>
        </p:nvSpPr>
        <p:spPr>
          <a:xfrm>
            <a:off x="1847335" y="864971"/>
            <a:ext cx="778475" cy="488091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EED3CB-757D-42A7-0118-9BEE1FCC111D}"/>
              </a:ext>
            </a:extLst>
          </p:cNvPr>
          <p:cNvSpPr txBox="1"/>
          <p:nvPr/>
        </p:nvSpPr>
        <p:spPr>
          <a:xfrm>
            <a:off x="2625810" y="603361"/>
            <a:ext cx="1470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寄存器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556DDB10-0CF3-DE9B-0D96-A1D3E65DCAA2}"/>
              </a:ext>
            </a:extLst>
          </p:cNvPr>
          <p:cNvSpPr/>
          <p:nvPr/>
        </p:nvSpPr>
        <p:spPr>
          <a:xfrm>
            <a:off x="3904733" y="381997"/>
            <a:ext cx="568413" cy="9659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7A9C23-3998-895D-2454-01B2479DE790}"/>
              </a:ext>
            </a:extLst>
          </p:cNvPr>
          <p:cNvSpPr txBox="1"/>
          <p:nvPr/>
        </p:nvSpPr>
        <p:spPr>
          <a:xfrm>
            <a:off x="4473146" y="80141"/>
            <a:ext cx="2063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基本寄存器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41C044-E323-F520-624B-560C32F36CF8}"/>
              </a:ext>
            </a:extLst>
          </p:cNvPr>
          <p:cNvSpPr txBox="1"/>
          <p:nvPr/>
        </p:nvSpPr>
        <p:spPr>
          <a:xfrm>
            <a:off x="6641837" y="80141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并行输入并行输出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4CA48C-0357-B56D-A1E9-CF7447D5B4D9}"/>
              </a:ext>
            </a:extLst>
          </p:cNvPr>
          <p:cNvSpPr txBox="1"/>
          <p:nvPr/>
        </p:nvSpPr>
        <p:spPr>
          <a:xfrm>
            <a:off x="4613394" y="1078471"/>
            <a:ext cx="2182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移位寄存器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20699154-0B9E-AC6B-F3F1-E98D85FEB1C6}"/>
              </a:ext>
            </a:extLst>
          </p:cNvPr>
          <p:cNvSpPr/>
          <p:nvPr/>
        </p:nvSpPr>
        <p:spPr>
          <a:xfrm>
            <a:off x="6641837" y="738774"/>
            <a:ext cx="611578" cy="144768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07D0E4-FBAE-8D26-6941-FF6A3C412359}"/>
              </a:ext>
            </a:extLst>
          </p:cNvPr>
          <p:cNvSpPr txBox="1"/>
          <p:nvPr/>
        </p:nvSpPr>
        <p:spPr>
          <a:xfrm>
            <a:off x="7210786" y="1229203"/>
            <a:ext cx="2423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左移移位寄存器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8A59E1-AEC3-68CD-7F65-6AEBEA774CE2}"/>
              </a:ext>
            </a:extLst>
          </p:cNvPr>
          <p:cNvSpPr txBox="1"/>
          <p:nvPr/>
        </p:nvSpPr>
        <p:spPr>
          <a:xfrm>
            <a:off x="7169579" y="572825"/>
            <a:ext cx="2423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右移移位寄存器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CE130F-284E-4837-8010-D09CA05F8BA0}"/>
              </a:ext>
            </a:extLst>
          </p:cNvPr>
          <p:cNvSpPr txBox="1"/>
          <p:nvPr/>
        </p:nvSpPr>
        <p:spPr>
          <a:xfrm>
            <a:off x="7169579" y="1847918"/>
            <a:ext cx="2423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双向移位寄存器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B3DEE575-7BDD-0261-C636-CDF0F4276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8441" y="560747"/>
            <a:ext cx="22293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   </a:t>
            </a:r>
            <a:r>
              <a:rPr lang="zh-CN" altLang="en-US" sz="2400" b="1" dirty="0"/>
              <a:t>＝ </a:t>
            </a:r>
            <a:r>
              <a:rPr lang="en-US" altLang="zh-CN" sz="2400" b="1" i="1" dirty="0">
                <a:ea typeface="宋体" panose="02010600030101010101" pitchFamily="2" charset="-122"/>
              </a:rPr>
              <a:t>Q</a:t>
            </a:r>
            <a:r>
              <a:rPr lang="en-US" altLang="zh-CN" sz="2400" b="1" i="1" baseline="-25000" dirty="0">
                <a:ea typeface="宋体" panose="02010600030101010101" pitchFamily="2" charset="-122"/>
              </a:rPr>
              <a:t>i-1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n</a:t>
            </a:r>
            <a:endParaRPr lang="en-US" altLang="zh-CN" sz="2400" b="1" i="1" dirty="0">
              <a:ea typeface="宋体" panose="02010600030101010101" pitchFamily="2" charset="-122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D13EEAD3-C960-45C7-D30A-A0C0F42EA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3946" y="1202230"/>
            <a:ext cx="22293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  </a:t>
            </a:r>
            <a:r>
              <a:rPr lang="zh-CN" altLang="en-US" sz="2400" b="1" dirty="0"/>
              <a:t>＝ </a:t>
            </a:r>
            <a:r>
              <a:rPr lang="en-US" altLang="zh-CN" sz="2400" b="1" i="1" dirty="0">
                <a:ea typeface="宋体" panose="02010600030101010101" pitchFamily="2" charset="-122"/>
              </a:rPr>
              <a:t>Q</a:t>
            </a:r>
            <a:r>
              <a:rPr lang="en-US" altLang="zh-CN" sz="2400" b="1" i="1" baseline="-25000" dirty="0">
                <a:ea typeface="宋体" panose="02010600030101010101" pitchFamily="2" charset="-122"/>
              </a:rPr>
              <a:t>i+1</a:t>
            </a:r>
            <a:r>
              <a:rPr lang="en-US" altLang="zh-CN" sz="2400" b="1" i="1" baseline="30000" dirty="0">
                <a:ea typeface="宋体" panose="02010600030101010101" pitchFamily="2" charset="-122"/>
              </a:rPr>
              <a:t>n</a:t>
            </a:r>
            <a:endParaRPr lang="en-US" altLang="zh-CN" sz="2400" b="1" i="1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0">
                <a:extLst>
                  <a:ext uri="{FF2B5EF4-FFF2-40B4-BE49-F238E27FC236}">
                    <a16:creationId xmlns:a16="http://schemas.microsoft.com/office/drawing/2014/main" id="{019D5C6C-821C-73B5-D0FC-70CE366C2C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6371" y="1869140"/>
                <a:ext cx="3686142" cy="46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dirty="0">
                    <a:ea typeface="宋体" panose="02010600030101010101" pitchFamily="2" charset="-122"/>
                  </a:rPr>
                  <a:t>D</a:t>
                </a:r>
                <a:r>
                  <a:rPr lang="en-US" altLang="zh-CN" sz="2400" b="1" i="1" baseline="-25000" dirty="0">
                    <a:ea typeface="宋体" panose="02010600030101010101" pitchFamily="2" charset="-122"/>
                  </a:rPr>
                  <a:t>i</a:t>
                </a:r>
                <a:r>
                  <a:rPr lang="en-US" altLang="zh-CN" sz="2400" b="1" baseline="-25000" dirty="0">
                    <a:ea typeface="宋体" panose="02010600030101010101" pitchFamily="2" charset="-122"/>
                  </a:rPr>
                  <a:t>  </a:t>
                </a:r>
                <a:r>
                  <a:rPr lang="zh-CN" altLang="en-US" sz="2400" b="1" dirty="0"/>
                  <a:t>＝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acc>
                  </m:oMath>
                </a14:m>
                <a:r>
                  <a:rPr lang="en-US" altLang="zh-CN" sz="2400" b="1" i="1" dirty="0">
                    <a:ea typeface="宋体" panose="02010600030101010101" pitchFamily="2" charset="-122"/>
                  </a:rPr>
                  <a:t>Q</a:t>
                </a:r>
                <a:r>
                  <a:rPr lang="en-US" altLang="zh-CN" sz="2400" b="1" i="1" baseline="-25000" dirty="0">
                    <a:ea typeface="宋体" panose="02010600030101010101" pitchFamily="2" charset="-122"/>
                  </a:rPr>
                  <a:t>i-1</a:t>
                </a:r>
                <a:r>
                  <a:rPr lang="en-US" altLang="zh-CN" sz="2400" b="1" i="1" baseline="30000" dirty="0">
                    <a:ea typeface="宋体" panose="02010600030101010101" pitchFamily="2" charset="-122"/>
                  </a:rPr>
                  <a:t>n</a:t>
                </a:r>
                <a:r>
                  <a:rPr lang="en-US" altLang="zh-CN" sz="2400" b="1" i="1" dirty="0">
                    <a:ea typeface="宋体" panose="02010600030101010101" pitchFamily="2" charset="-122"/>
                  </a:rPr>
                  <a:t>+ SQ</a:t>
                </a:r>
                <a:r>
                  <a:rPr lang="en-US" altLang="zh-CN" sz="2400" b="1" i="1" baseline="-25000" dirty="0">
                    <a:ea typeface="宋体" panose="02010600030101010101" pitchFamily="2" charset="-122"/>
                  </a:rPr>
                  <a:t>i+1</a:t>
                </a:r>
                <a:r>
                  <a:rPr lang="en-US" altLang="zh-CN" sz="2400" b="1" i="1" baseline="30000" dirty="0">
                    <a:ea typeface="宋体" panose="02010600030101010101" pitchFamily="2" charset="-122"/>
                  </a:rPr>
                  <a:t>n</a:t>
                </a:r>
                <a:endParaRPr lang="en-US" altLang="zh-CN" sz="2400" b="1" i="1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5" name="Text Box 10">
                <a:extLst>
                  <a:ext uri="{FF2B5EF4-FFF2-40B4-BE49-F238E27FC236}">
                    <a16:creationId xmlns:a16="http://schemas.microsoft.com/office/drawing/2014/main" id="{019D5C6C-821C-73B5-D0FC-70CE366C2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6371" y="1869140"/>
                <a:ext cx="3686142" cy="462434"/>
              </a:xfrm>
              <a:prstGeom prst="rect">
                <a:avLst/>
              </a:prstGeom>
              <a:blipFill>
                <a:blip r:embed="rId4"/>
                <a:stretch>
                  <a:fillRect l="-2479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2F165449-48C5-21CA-B2FC-5F1218E22AF7}"/>
              </a:ext>
            </a:extLst>
          </p:cNvPr>
          <p:cNvSpPr txBox="1"/>
          <p:nvPr/>
        </p:nvSpPr>
        <p:spPr>
          <a:xfrm>
            <a:off x="3938881" y="1552924"/>
            <a:ext cx="3215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串行输入，串行输出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5D91ED-1C71-556A-E74F-CC14108DAD4F}"/>
              </a:ext>
            </a:extLst>
          </p:cNvPr>
          <p:cNvSpPr txBox="1"/>
          <p:nvPr/>
        </p:nvSpPr>
        <p:spPr>
          <a:xfrm>
            <a:off x="3904733" y="1982597"/>
            <a:ext cx="5199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串行输入，并行输出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A5868EF-9BAC-1074-E228-DC4059BD03F5}"/>
              </a:ext>
            </a:extLst>
          </p:cNvPr>
          <p:cNvSpPr txBox="1"/>
          <p:nvPr/>
        </p:nvSpPr>
        <p:spPr>
          <a:xfrm>
            <a:off x="2571517" y="3149364"/>
            <a:ext cx="1470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计数器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99EC546-B9BA-74EB-2282-26F4030D3186}"/>
              </a:ext>
            </a:extLst>
          </p:cNvPr>
          <p:cNvSpPr txBox="1"/>
          <p:nvPr/>
        </p:nvSpPr>
        <p:spPr>
          <a:xfrm>
            <a:off x="2501908" y="4715529"/>
            <a:ext cx="2717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顺序脉冲发生器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3FEAD30-2A37-1E55-E874-890892970B71}"/>
              </a:ext>
            </a:extLst>
          </p:cNvPr>
          <p:cNvSpPr txBox="1"/>
          <p:nvPr/>
        </p:nvSpPr>
        <p:spPr>
          <a:xfrm>
            <a:off x="2680076" y="5674985"/>
            <a:ext cx="3415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序列信号发生器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D2C621-B291-4F97-F39C-F0CEE0A33ECA}"/>
              </a:ext>
            </a:extLst>
          </p:cNvPr>
          <p:cNvSpPr txBox="1"/>
          <p:nvPr/>
        </p:nvSpPr>
        <p:spPr>
          <a:xfrm>
            <a:off x="4510303" y="2768720"/>
            <a:ext cx="341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移位寄存器型计数器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51FD9A-BE14-4FF7-9A65-4673C0CD5896}"/>
              </a:ext>
            </a:extLst>
          </p:cNvPr>
          <p:cNvSpPr txBox="1"/>
          <p:nvPr/>
        </p:nvSpPr>
        <p:spPr>
          <a:xfrm>
            <a:off x="4613393" y="3613332"/>
            <a:ext cx="341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普通型计数器</a:t>
            </a:r>
          </a:p>
        </p:txBody>
      </p: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963F87D1-3F2C-31BA-E25B-59583ACA0976}"/>
              </a:ext>
            </a:extLst>
          </p:cNvPr>
          <p:cNvSpPr/>
          <p:nvPr/>
        </p:nvSpPr>
        <p:spPr>
          <a:xfrm>
            <a:off x="3938881" y="2978255"/>
            <a:ext cx="571422" cy="9014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2DB74BE-43E2-01AC-47DD-0B087E5261D6}"/>
              </a:ext>
            </a:extLst>
          </p:cNvPr>
          <p:cNvCxnSpPr/>
          <p:nvPr/>
        </p:nvCxnSpPr>
        <p:spPr>
          <a:xfrm>
            <a:off x="7628351" y="880728"/>
            <a:ext cx="0" cy="21345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F0F25F4-E802-C889-DDF4-A7121869E758}"/>
              </a:ext>
            </a:extLst>
          </p:cNvPr>
          <p:cNvCxnSpPr>
            <a:cxnSpLocks/>
          </p:cNvCxnSpPr>
          <p:nvPr/>
        </p:nvCxnSpPr>
        <p:spPr>
          <a:xfrm flipV="1">
            <a:off x="7395231" y="2999552"/>
            <a:ext cx="233120" cy="15758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左大括号 43">
            <a:extLst>
              <a:ext uri="{FF2B5EF4-FFF2-40B4-BE49-F238E27FC236}">
                <a16:creationId xmlns:a16="http://schemas.microsoft.com/office/drawing/2014/main" id="{C61243D1-B184-A6B8-5D5F-AF75B12D2C82}"/>
              </a:ext>
            </a:extLst>
          </p:cNvPr>
          <p:cNvSpPr/>
          <p:nvPr/>
        </p:nvSpPr>
        <p:spPr>
          <a:xfrm>
            <a:off x="7700229" y="2546694"/>
            <a:ext cx="374934" cy="9014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9EEFAB8-3BB4-5C86-9F08-212AC996B7D4}"/>
              </a:ext>
            </a:extLst>
          </p:cNvPr>
          <p:cNvSpPr txBox="1"/>
          <p:nvPr/>
        </p:nvSpPr>
        <p:spPr>
          <a:xfrm>
            <a:off x="8024178" y="2335147"/>
            <a:ext cx="341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环型计数器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401BA0F-DDCA-B308-5C82-F5DC17F5BE58}"/>
              </a:ext>
            </a:extLst>
          </p:cNvPr>
          <p:cNvSpPr txBox="1"/>
          <p:nvPr/>
        </p:nvSpPr>
        <p:spPr>
          <a:xfrm>
            <a:off x="8102757" y="3137306"/>
            <a:ext cx="341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扭环型计数器</a:t>
            </a:r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F0F8A44F-7703-2FBF-2ACA-942D17FD9B84}"/>
              </a:ext>
            </a:extLst>
          </p:cNvPr>
          <p:cNvSpPr/>
          <p:nvPr/>
        </p:nvSpPr>
        <p:spPr>
          <a:xfrm flipH="1">
            <a:off x="3409061" y="4452856"/>
            <a:ext cx="54266" cy="30881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AAAEF992-B763-8BFD-B7D4-96B4CAFDC2B1}"/>
              </a:ext>
            </a:extLst>
          </p:cNvPr>
          <p:cNvSpPr/>
          <p:nvPr/>
        </p:nvSpPr>
        <p:spPr>
          <a:xfrm>
            <a:off x="5219224" y="4508364"/>
            <a:ext cx="571422" cy="9014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E17F0FD-0D4C-3937-202E-F7435ADF9590}"/>
              </a:ext>
            </a:extLst>
          </p:cNvPr>
          <p:cNvSpPr txBox="1"/>
          <p:nvPr/>
        </p:nvSpPr>
        <p:spPr>
          <a:xfrm>
            <a:off x="5790646" y="4240105"/>
            <a:ext cx="262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位环形计数器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8BBAC0F-6919-6AF6-309E-673947796641}"/>
              </a:ext>
            </a:extLst>
          </p:cNvPr>
          <p:cNvSpPr txBox="1"/>
          <p:nvPr/>
        </p:nvSpPr>
        <p:spPr>
          <a:xfrm>
            <a:off x="5748811" y="5078758"/>
            <a:ext cx="4354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进制计数器</a:t>
            </a:r>
            <a:r>
              <a:rPr lang="en-US" altLang="zh-CN" sz="2400" dirty="0"/>
              <a:t>+</a:t>
            </a:r>
            <a:r>
              <a:rPr lang="zh-CN" altLang="en-US" sz="2400" dirty="0"/>
              <a:t>译码器</a:t>
            </a:r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B1730939-C455-5CAF-090D-7ADE17E9A255}"/>
              </a:ext>
            </a:extLst>
          </p:cNvPr>
          <p:cNvSpPr/>
          <p:nvPr/>
        </p:nvSpPr>
        <p:spPr>
          <a:xfrm flipH="1">
            <a:off x="3021708" y="4413738"/>
            <a:ext cx="45719" cy="133299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F9B757A-8B31-79AE-EF08-15C74E3A7EB5}"/>
              </a:ext>
            </a:extLst>
          </p:cNvPr>
          <p:cNvSpPr txBox="1"/>
          <p:nvPr/>
        </p:nvSpPr>
        <p:spPr>
          <a:xfrm>
            <a:off x="5920389" y="5719070"/>
            <a:ext cx="3415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计数器</a:t>
            </a:r>
            <a:r>
              <a:rPr lang="en-US" altLang="zh-CN" sz="2400" dirty="0"/>
              <a:t>+</a:t>
            </a:r>
            <a:r>
              <a:rPr lang="zh-CN" altLang="en-US" sz="2400" dirty="0"/>
              <a:t>组合逻辑电路</a:t>
            </a: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2971CC80-ED85-9E94-7B51-EB7FC3BB5181}"/>
              </a:ext>
            </a:extLst>
          </p:cNvPr>
          <p:cNvSpPr/>
          <p:nvPr/>
        </p:nvSpPr>
        <p:spPr>
          <a:xfrm>
            <a:off x="5355377" y="5853066"/>
            <a:ext cx="523505" cy="2188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BC57441-0F22-F901-75C6-ECEB0DC925CC}"/>
              </a:ext>
            </a:extLst>
          </p:cNvPr>
          <p:cNvSpPr/>
          <p:nvPr/>
        </p:nvSpPr>
        <p:spPr>
          <a:xfrm>
            <a:off x="2392471" y="2978255"/>
            <a:ext cx="1637822" cy="69432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809474B-D282-42D5-FB5F-29336118A3A6}"/>
              </a:ext>
            </a:extLst>
          </p:cNvPr>
          <p:cNvSpPr txBox="1"/>
          <p:nvPr/>
        </p:nvSpPr>
        <p:spPr>
          <a:xfrm>
            <a:off x="9502778" y="4152633"/>
            <a:ext cx="1085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1000</a:t>
            </a:r>
          </a:p>
          <a:p>
            <a:r>
              <a:rPr lang="en-US" altLang="zh-CN" sz="2000" dirty="0"/>
              <a:t>0100</a:t>
            </a:r>
          </a:p>
          <a:p>
            <a:r>
              <a:rPr lang="en-US" altLang="zh-CN" sz="2000" dirty="0"/>
              <a:t>0010</a:t>
            </a:r>
          </a:p>
          <a:p>
            <a:r>
              <a:rPr lang="en-US" altLang="zh-CN" sz="2000" dirty="0"/>
              <a:t>0001</a:t>
            </a:r>
            <a:endParaRPr lang="zh-CN" altLang="en-US" sz="2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F8A027D-6FD9-A9B8-43E9-A91F42AC315A}"/>
              </a:ext>
            </a:extLst>
          </p:cNvPr>
          <p:cNvSpPr txBox="1"/>
          <p:nvPr/>
        </p:nvSpPr>
        <p:spPr>
          <a:xfrm>
            <a:off x="9511924" y="5598040"/>
            <a:ext cx="10850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1101</a:t>
            </a:r>
          </a:p>
          <a:p>
            <a:r>
              <a:rPr lang="en-US" altLang="zh-CN" sz="2000" dirty="0"/>
              <a:t>0110</a:t>
            </a:r>
          </a:p>
          <a:p>
            <a:r>
              <a:rPr lang="en-US" altLang="zh-CN" sz="2000" dirty="0"/>
              <a:t>1010</a:t>
            </a:r>
          </a:p>
          <a:p>
            <a:r>
              <a:rPr lang="en-US" altLang="zh-CN" sz="2000" dirty="0"/>
              <a:t>0101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855AD74-D86C-1538-0063-32990310BF1C}"/>
              </a:ext>
            </a:extLst>
          </p:cNvPr>
          <p:cNvSpPr txBox="1"/>
          <p:nvPr/>
        </p:nvSpPr>
        <p:spPr>
          <a:xfrm>
            <a:off x="2495576" y="3919926"/>
            <a:ext cx="2014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输出组合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D4B349-420E-0511-A815-94D005EB9088}"/>
              </a:ext>
            </a:extLst>
          </p:cNvPr>
          <p:cNvSpPr txBox="1"/>
          <p:nvPr/>
        </p:nvSpPr>
        <p:spPr>
          <a:xfrm>
            <a:off x="2923199" y="3435932"/>
            <a:ext cx="571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+</a:t>
            </a:r>
            <a:endParaRPr lang="zh-CN" altLang="en-US" sz="44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20A2D77-2540-A742-ED70-A6C09D5A92E0}"/>
              </a:ext>
            </a:extLst>
          </p:cNvPr>
          <p:cNvCxnSpPr>
            <a:cxnSpLocks/>
          </p:cNvCxnSpPr>
          <p:nvPr/>
        </p:nvCxnSpPr>
        <p:spPr>
          <a:xfrm>
            <a:off x="8844602" y="2722079"/>
            <a:ext cx="0" cy="17862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4ABB63A-9815-E646-05F3-63AD6CD99A52}"/>
              </a:ext>
            </a:extLst>
          </p:cNvPr>
          <p:cNvCxnSpPr>
            <a:cxnSpLocks/>
          </p:cNvCxnSpPr>
          <p:nvPr/>
        </p:nvCxnSpPr>
        <p:spPr>
          <a:xfrm>
            <a:off x="8024178" y="4499662"/>
            <a:ext cx="820424" cy="0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EECBC1C-E00C-3865-7CC8-2FF8C21F7C56}"/>
              </a:ext>
            </a:extLst>
          </p:cNvPr>
          <p:cNvSpPr/>
          <p:nvPr/>
        </p:nvSpPr>
        <p:spPr>
          <a:xfrm>
            <a:off x="5307617" y="1552924"/>
            <a:ext cx="194786" cy="1169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20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9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 animBg="1"/>
      <p:bldP spid="44" grpId="0" animBg="1"/>
      <p:bldP spid="45" grpId="0"/>
      <p:bldP spid="46" grpId="0"/>
      <p:bldP spid="47" grpId="0" animBg="1"/>
      <p:bldP spid="48" grpId="0" animBg="1"/>
      <p:bldP spid="49" grpId="0"/>
      <p:bldP spid="50" grpId="0"/>
      <p:bldP spid="51" grpId="0" animBg="1"/>
      <p:bldP spid="52" grpId="0"/>
      <p:bldP spid="53" grpId="0" animBg="1"/>
      <p:bldP spid="54" grpId="0" animBg="1"/>
      <p:bldP spid="55" grpId="0"/>
      <p:bldP spid="57" grpId="0"/>
      <p:bldP spid="58" grpId="0"/>
      <p:bldP spid="59" grpId="0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8F291C-3DB3-44EF-1F8F-97050CB08D41}"/>
              </a:ext>
            </a:extLst>
          </p:cNvPr>
          <p:cNvSpPr txBox="1"/>
          <p:nvPr/>
        </p:nvSpPr>
        <p:spPr>
          <a:xfrm>
            <a:off x="765810" y="2837050"/>
            <a:ext cx="845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计数器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DC30CD38-067A-E5B4-04CF-59F99F409D9D}"/>
              </a:ext>
            </a:extLst>
          </p:cNvPr>
          <p:cNvSpPr/>
          <p:nvPr/>
        </p:nvSpPr>
        <p:spPr>
          <a:xfrm>
            <a:off x="1600200" y="1154430"/>
            <a:ext cx="640080" cy="47205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B53E4C-69BD-B865-CAA2-4CAD266592C8}"/>
              </a:ext>
            </a:extLst>
          </p:cNvPr>
          <p:cNvSpPr txBox="1"/>
          <p:nvPr/>
        </p:nvSpPr>
        <p:spPr>
          <a:xfrm>
            <a:off x="2423160" y="780812"/>
            <a:ext cx="1463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计数长度（模）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CD23C6-7B6B-261D-8C91-C23CA69D5212}"/>
              </a:ext>
            </a:extLst>
          </p:cNvPr>
          <p:cNvSpPr txBox="1"/>
          <p:nvPr/>
        </p:nvSpPr>
        <p:spPr>
          <a:xfrm>
            <a:off x="2491740" y="3048503"/>
            <a:ext cx="1463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状态编码方式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5B7E7A-0A1F-B631-FBDC-DFA5615EE1B0}"/>
              </a:ext>
            </a:extLst>
          </p:cNvPr>
          <p:cNvSpPr txBox="1"/>
          <p:nvPr/>
        </p:nvSpPr>
        <p:spPr>
          <a:xfrm>
            <a:off x="2491740" y="5644187"/>
            <a:ext cx="146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计数顺序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4F650AE2-2FAD-69C3-7BBC-EB0BFE165583}"/>
              </a:ext>
            </a:extLst>
          </p:cNvPr>
          <p:cNvSpPr/>
          <p:nvPr/>
        </p:nvSpPr>
        <p:spPr>
          <a:xfrm>
            <a:off x="3931920" y="245475"/>
            <a:ext cx="480060" cy="161783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A64CA4-2EF0-7438-635E-B130DB134E3F}"/>
              </a:ext>
            </a:extLst>
          </p:cNvPr>
          <p:cNvSpPr txBox="1"/>
          <p:nvPr/>
        </p:nvSpPr>
        <p:spPr>
          <a:xfrm>
            <a:off x="4640580" y="106442"/>
            <a:ext cx="230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二进制计数器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7006C6-C25F-F223-AB07-6AE9CD756151}"/>
              </a:ext>
            </a:extLst>
          </p:cNvPr>
          <p:cNvSpPr txBox="1"/>
          <p:nvPr/>
        </p:nvSpPr>
        <p:spPr>
          <a:xfrm>
            <a:off x="4674870" y="692765"/>
            <a:ext cx="230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八进制计数器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74FEA-220A-93B5-4446-BF9A5329ECB4}"/>
              </a:ext>
            </a:extLst>
          </p:cNvPr>
          <p:cNvSpPr txBox="1"/>
          <p:nvPr/>
        </p:nvSpPr>
        <p:spPr>
          <a:xfrm>
            <a:off x="4674870" y="1600379"/>
            <a:ext cx="230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49B1BE99-9C19-5965-D1EC-904F60BAEC82}"/>
              </a:ext>
            </a:extLst>
          </p:cNvPr>
          <p:cNvSpPr/>
          <p:nvPr/>
        </p:nvSpPr>
        <p:spPr>
          <a:xfrm>
            <a:off x="3966210" y="2837050"/>
            <a:ext cx="480060" cy="161783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55184A-FDB8-4F70-537A-E8F10EFA1A6C}"/>
              </a:ext>
            </a:extLst>
          </p:cNvPr>
          <p:cNvSpPr txBox="1"/>
          <p:nvPr/>
        </p:nvSpPr>
        <p:spPr>
          <a:xfrm>
            <a:off x="4640580" y="2606217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二进制编码的计数器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6716C0-A078-96CB-2853-5A3805850D02}"/>
              </a:ext>
            </a:extLst>
          </p:cNvPr>
          <p:cNvSpPr txBox="1"/>
          <p:nvPr/>
        </p:nvSpPr>
        <p:spPr>
          <a:xfrm>
            <a:off x="5270897" y="1088860"/>
            <a:ext cx="615553" cy="6442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A6C138-98B6-AE8E-8486-F0062E29883E}"/>
              </a:ext>
            </a:extLst>
          </p:cNvPr>
          <p:cNvSpPr txBox="1"/>
          <p:nvPr/>
        </p:nvSpPr>
        <p:spPr>
          <a:xfrm>
            <a:off x="5556647" y="3635621"/>
            <a:ext cx="615553" cy="6442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5D6B2F-0C62-B5C6-BBFE-9E100164496F}"/>
              </a:ext>
            </a:extLst>
          </p:cNvPr>
          <p:cNvSpPr txBox="1"/>
          <p:nvPr/>
        </p:nvSpPr>
        <p:spPr>
          <a:xfrm>
            <a:off x="4686300" y="3120919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格雷码编码的计数器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8CB9D8-262C-13FA-5E93-70DDE8415FC0}"/>
              </a:ext>
            </a:extLst>
          </p:cNvPr>
          <p:cNvSpPr txBox="1"/>
          <p:nvPr/>
        </p:nvSpPr>
        <p:spPr>
          <a:xfrm>
            <a:off x="4674870" y="423365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余</a:t>
            </a:r>
            <a:r>
              <a:rPr lang="en-US" altLang="zh-CN" sz="2400" dirty="0"/>
              <a:t>3</a:t>
            </a:r>
            <a:r>
              <a:rPr lang="zh-CN" altLang="en-US" sz="2400" dirty="0"/>
              <a:t>码编码的计数器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DDC89A77-56E5-3C6E-8B59-A5F53697B81B}"/>
              </a:ext>
            </a:extLst>
          </p:cNvPr>
          <p:cNvSpPr/>
          <p:nvPr/>
        </p:nvSpPr>
        <p:spPr>
          <a:xfrm>
            <a:off x="3966210" y="5240164"/>
            <a:ext cx="480060" cy="137236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E78A2A-B1D2-FF7A-89C5-AF19C8667AD9}"/>
              </a:ext>
            </a:extLst>
          </p:cNvPr>
          <p:cNvSpPr txBox="1"/>
          <p:nvPr/>
        </p:nvSpPr>
        <p:spPr>
          <a:xfrm>
            <a:off x="4632960" y="4983934"/>
            <a:ext cx="176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加法计数器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CFDB51-BA1D-9CA6-F916-75C4909ED338}"/>
              </a:ext>
            </a:extLst>
          </p:cNvPr>
          <p:cNvSpPr txBox="1"/>
          <p:nvPr/>
        </p:nvSpPr>
        <p:spPr>
          <a:xfrm>
            <a:off x="4632960" y="5630250"/>
            <a:ext cx="176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减法计数器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F59A5D-177F-8218-CD69-0BA847468EE6}"/>
              </a:ext>
            </a:extLst>
          </p:cNvPr>
          <p:cNvSpPr txBox="1"/>
          <p:nvPr/>
        </p:nvSpPr>
        <p:spPr>
          <a:xfrm>
            <a:off x="4676537" y="6276566"/>
            <a:ext cx="176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可逆计数器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BD8040-A8AF-D662-2688-F0EAC15D4A9D}"/>
              </a:ext>
            </a:extLst>
          </p:cNvPr>
          <p:cNvSpPr txBox="1"/>
          <p:nvPr/>
        </p:nvSpPr>
        <p:spPr>
          <a:xfrm>
            <a:off x="8627745" y="784185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位二进制计数器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67247E-082E-18BF-B4E1-50263C2B72B7}"/>
              </a:ext>
            </a:extLst>
          </p:cNvPr>
          <p:cNvSpPr txBox="1"/>
          <p:nvPr/>
        </p:nvSpPr>
        <p:spPr>
          <a:xfrm>
            <a:off x="8972225" y="2375384"/>
            <a:ext cx="232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28" name="箭头: 上下 27">
            <a:extLst>
              <a:ext uri="{FF2B5EF4-FFF2-40B4-BE49-F238E27FC236}">
                <a16:creationId xmlns:a16="http://schemas.microsoft.com/office/drawing/2014/main" id="{0E8B10FD-5755-AB9B-7748-632CBC04AC4E}"/>
              </a:ext>
            </a:extLst>
          </p:cNvPr>
          <p:cNvSpPr/>
          <p:nvPr/>
        </p:nvSpPr>
        <p:spPr>
          <a:xfrm rot="21438603">
            <a:off x="9827309" y="1408268"/>
            <a:ext cx="286336" cy="80469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83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6" grpId="0"/>
      <p:bldP spid="27" grpId="0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1AFFC1-6CD3-BD58-48D3-7EEE75894C79}"/>
              </a:ext>
            </a:extLst>
          </p:cNvPr>
          <p:cNvSpPr txBox="1"/>
          <p:nvPr/>
        </p:nvSpPr>
        <p:spPr>
          <a:xfrm>
            <a:off x="377190" y="373449"/>
            <a:ext cx="4389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同步</a:t>
            </a:r>
            <a:r>
              <a:rPr lang="en-US" altLang="zh-CN" sz="2800" dirty="0"/>
              <a:t>N</a:t>
            </a:r>
            <a:r>
              <a:rPr lang="zh-CN" altLang="en-US" sz="2800" dirty="0"/>
              <a:t>位二进制计数器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3A6BB8-1680-A676-545C-4D49F85A20AA}"/>
              </a:ext>
            </a:extLst>
          </p:cNvPr>
          <p:cNvSpPr txBox="1"/>
          <p:nvPr/>
        </p:nvSpPr>
        <p:spPr>
          <a:xfrm>
            <a:off x="2886076" y="1072142"/>
            <a:ext cx="139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加法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1163D8-1143-DF8F-91D0-836A2D432A56}"/>
              </a:ext>
            </a:extLst>
          </p:cNvPr>
          <p:cNvSpPr txBox="1"/>
          <p:nvPr/>
        </p:nvSpPr>
        <p:spPr>
          <a:xfrm>
            <a:off x="240030" y="1844423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驱动方程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BE23DE6-A34A-A7AD-EA2D-A4F093E48AA1}"/>
                  </a:ext>
                </a:extLst>
              </p:cNvPr>
              <p:cNvSpPr txBox="1"/>
              <p:nvPr/>
            </p:nvSpPr>
            <p:spPr>
              <a:xfrm>
                <a:off x="2383153" y="1800728"/>
                <a:ext cx="19431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BE23DE6-A34A-A7AD-EA2D-A4F093E48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153" y="1800728"/>
                <a:ext cx="1943101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94D99C1-6C36-5693-3C1F-9B72A911065C}"/>
                  </a:ext>
                </a:extLst>
              </p:cNvPr>
              <p:cNvSpPr txBox="1"/>
              <p:nvPr/>
            </p:nvSpPr>
            <p:spPr>
              <a:xfrm>
                <a:off x="1657348" y="2205075"/>
                <a:ext cx="3634740" cy="1223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94D99C1-6C36-5693-3C1F-9B72A9110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48" y="2205075"/>
                <a:ext cx="3634740" cy="1223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FAE5417-6AAB-0042-6778-635A562FCE64}"/>
                  </a:ext>
                </a:extLst>
              </p:cNvPr>
              <p:cNvSpPr txBox="1"/>
              <p:nvPr/>
            </p:nvSpPr>
            <p:spPr>
              <a:xfrm>
                <a:off x="2234565" y="5529628"/>
                <a:ext cx="2531744" cy="123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sz="24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FAE5417-6AAB-0042-6778-635A562FC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565" y="5529628"/>
                <a:ext cx="2531744" cy="12379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726EC538-2704-3D98-A2AF-0EF6374CED7D}"/>
              </a:ext>
            </a:extLst>
          </p:cNvPr>
          <p:cNvSpPr txBox="1"/>
          <p:nvPr/>
        </p:nvSpPr>
        <p:spPr>
          <a:xfrm>
            <a:off x="240030" y="3724705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状态方程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1B5373-BCF5-A848-B8E6-CF1D364C6843}"/>
                  </a:ext>
                </a:extLst>
              </p:cNvPr>
              <p:cNvSpPr txBox="1"/>
              <p:nvPr/>
            </p:nvSpPr>
            <p:spPr>
              <a:xfrm>
                <a:off x="2074544" y="3611323"/>
                <a:ext cx="1908812" cy="54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ba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1B5373-BCF5-A848-B8E6-CF1D364C6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544" y="3611323"/>
                <a:ext cx="1908812" cy="5404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56A7AB0-EC8C-CD47-E8F6-88EDA51BA45F}"/>
                  </a:ext>
                </a:extLst>
              </p:cNvPr>
              <p:cNvSpPr txBox="1"/>
              <p:nvPr/>
            </p:nvSpPr>
            <p:spPr>
              <a:xfrm>
                <a:off x="2074544" y="4228715"/>
                <a:ext cx="3324701" cy="1223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Sup>
                            <m:sSubSupPr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56A7AB0-EC8C-CD47-E8F6-88EDA51BA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544" y="4228715"/>
                <a:ext cx="3324701" cy="12239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14E5BB8C-DE33-0852-ED05-C1C428AAC061}"/>
              </a:ext>
            </a:extLst>
          </p:cNvPr>
          <p:cNvSpPr txBox="1"/>
          <p:nvPr/>
        </p:nvSpPr>
        <p:spPr>
          <a:xfrm>
            <a:off x="85724" y="5686914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进位输出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88528C-FB6D-EABC-E750-DCF14605ED66}"/>
              </a:ext>
            </a:extLst>
          </p:cNvPr>
          <p:cNvSpPr txBox="1"/>
          <p:nvPr/>
        </p:nvSpPr>
        <p:spPr>
          <a:xfrm>
            <a:off x="7315199" y="961152"/>
            <a:ext cx="139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DCCA7D3-3E0A-E75B-32AD-B00888B4CF37}"/>
                  </a:ext>
                </a:extLst>
              </p:cNvPr>
              <p:cNvSpPr txBox="1"/>
              <p:nvPr/>
            </p:nvSpPr>
            <p:spPr>
              <a:xfrm>
                <a:off x="6766558" y="1743410"/>
                <a:ext cx="19431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DCCA7D3-3E0A-E75B-32AD-B00888B4C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58" y="1743410"/>
                <a:ext cx="1943101" cy="461665"/>
              </a:xfrm>
              <a:prstGeom prst="rect">
                <a:avLst/>
              </a:prstGeom>
              <a:blipFill>
                <a:blip r:embed="rId7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AE0FBC2-CC09-D5B4-5EAE-5C2395B40B8C}"/>
                  </a:ext>
                </a:extLst>
              </p:cNvPr>
              <p:cNvSpPr txBox="1"/>
              <p:nvPr/>
            </p:nvSpPr>
            <p:spPr>
              <a:xfrm>
                <a:off x="6096000" y="2157880"/>
                <a:ext cx="3634740" cy="1223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AE0FBC2-CC09-D5B4-5EAE-5C2395B40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57880"/>
                <a:ext cx="3634740" cy="12239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FA93970-EEDF-429F-2CFE-2360797D4C42}"/>
                  </a:ext>
                </a:extLst>
              </p:cNvPr>
              <p:cNvSpPr txBox="1"/>
              <p:nvPr/>
            </p:nvSpPr>
            <p:spPr>
              <a:xfrm>
                <a:off x="6640828" y="3565218"/>
                <a:ext cx="1908812" cy="54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ba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FA93970-EEDF-429F-2CFE-2360797D4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828" y="3565218"/>
                <a:ext cx="1908812" cy="5404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8741F71-8187-95DD-D051-73BBED787161}"/>
                  </a:ext>
                </a:extLst>
              </p:cNvPr>
              <p:cNvSpPr txBox="1"/>
              <p:nvPr/>
            </p:nvSpPr>
            <p:spPr>
              <a:xfrm>
                <a:off x="6520814" y="4186370"/>
                <a:ext cx="3324701" cy="1223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sSubSup>
                            <m:sSubSupPr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8741F71-8187-95DD-D051-73BBED78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814" y="4186370"/>
                <a:ext cx="3324701" cy="12239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F50063-E310-E2A6-FDDC-B34D270A20CB}"/>
                  </a:ext>
                </a:extLst>
              </p:cNvPr>
              <p:cNvSpPr txBox="1"/>
              <p:nvPr/>
            </p:nvSpPr>
            <p:spPr>
              <a:xfrm>
                <a:off x="6857998" y="5457724"/>
                <a:ext cx="1851661" cy="123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sz="24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6F50063-E310-E2A6-FDDC-B34D270A2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8" y="5457724"/>
                <a:ext cx="1851661" cy="12379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17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0239A38-2497-1D0E-3139-0DD655FFFE03}"/>
              </a:ext>
            </a:extLst>
          </p:cNvPr>
          <p:cNvSpPr txBox="1"/>
          <p:nvPr/>
        </p:nvSpPr>
        <p:spPr>
          <a:xfrm>
            <a:off x="434339" y="382111"/>
            <a:ext cx="4389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异步</a:t>
            </a:r>
            <a:r>
              <a:rPr lang="en-US" altLang="zh-CN" sz="2800" dirty="0"/>
              <a:t>N</a:t>
            </a:r>
            <a:r>
              <a:rPr lang="zh-CN" altLang="en-US" sz="2800" dirty="0"/>
              <a:t>位二进制计数器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678A2B-AC6F-6454-F34F-B02C2E9FD571}"/>
              </a:ext>
            </a:extLst>
          </p:cNvPr>
          <p:cNvSpPr txBox="1"/>
          <p:nvPr/>
        </p:nvSpPr>
        <p:spPr>
          <a:xfrm>
            <a:off x="3577588" y="1024029"/>
            <a:ext cx="139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加法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387C73-99DE-9BFB-83A9-14F7D0DB48FB}"/>
              </a:ext>
            </a:extLst>
          </p:cNvPr>
          <p:cNvSpPr txBox="1"/>
          <p:nvPr/>
        </p:nvSpPr>
        <p:spPr>
          <a:xfrm>
            <a:off x="7978139" y="1024029"/>
            <a:ext cx="139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减法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37A20C-742C-01FC-B13B-CA1917708E7B}"/>
              </a:ext>
            </a:extLst>
          </p:cNvPr>
          <p:cNvSpPr txBox="1"/>
          <p:nvPr/>
        </p:nvSpPr>
        <p:spPr>
          <a:xfrm>
            <a:off x="451483" y="2819521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驱动方程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D44DED-7C5F-9BF7-97AF-5986984FB0C1}"/>
              </a:ext>
            </a:extLst>
          </p:cNvPr>
          <p:cNvSpPr txBox="1"/>
          <p:nvPr/>
        </p:nvSpPr>
        <p:spPr>
          <a:xfrm>
            <a:off x="434339" y="3942567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状态方程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CE4933-3862-6E1C-16C4-86DA99CD6E31}"/>
              </a:ext>
            </a:extLst>
          </p:cNvPr>
          <p:cNvSpPr txBox="1"/>
          <p:nvPr/>
        </p:nvSpPr>
        <p:spPr>
          <a:xfrm>
            <a:off x="582929" y="5515464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进位输出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AFF4CA-3709-7162-57CE-D906AFCAA1F8}"/>
              </a:ext>
            </a:extLst>
          </p:cNvPr>
          <p:cNvSpPr txBox="1"/>
          <p:nvPr/>
        </p:nvSpPr>
        <p:spPr>
          <a:xfrm>
            <a:off x="434339" y="1708289"/>
            <a:ext cx="140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时钟方程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73B45E-5DD3-67E3-5C80-C0878DA5E0B2}"/>
                  </a:ext>
                </a:extLst>
              </p:cNvPr>
              <p:cNvSpPr txBox="1"/>
              <p:nvPr/>
            </p:nvSpPr>
            <p:spPr>
              <a:xfrm>
                <a:off x="2927027" y="1683856"/>
                <a:ext cx="21250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73B45E-5DD3-67E3-5C80-C0878DA5E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027" y="1683856"/>
                <a:ext cx="2125028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A560A69-87FC-65A0-70B3-0FC4A998FEEA}"/>
                  </a:ext>
                </a:extLst>
              </p:cNvPr>
              <p:cNvSpPr txBox="1"/>
              <p:nvPr/>
            </p:nvSpPr>
            <p:spPr>
              <a:xfrm>
                <a:off x="3066093" y="2145521"/>
                <a:ext cx="1871663" cy="4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A560A69-87FC-65A0-70B3-0FC4A998F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093" y="2145521"/>
                <a:ext cx="1871663" cy="462947"/>
              </a:xfrm>
              <a:prstGeom prst="rect">
                <a:avLst/>
              </a:prstGeom>
              <a:blipFill>
                <a:blip r:embed="rId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9BD8534-F77E-5E85-10C7-26D517CDCBE6}"/>
                  </a:ext>
                </a:extLst>
              </p:cNvPr>
              <p:cNvSpPr txBox="1"/>
              <p:nvPr/>
            </p:nvSpPr>
            <p:spPr>
              <a:xfrm>
                <a:off x="7339007" y="1580986"/>
                <a:ext cx="21250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9BD8534-F77E-5E85-10C7-26D517CDC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007" y="1580986"/>
                <a:ext cx="212502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93BB5F7-0920-D084-E496-685A9C28341C}"/>
                  </a:ext>
                </a:extLst>
              </p:cNvPr>
              <p:cNvSpPr txBox="1"/>
              <p:nvPr/>
            </p:nvSpPr>
            <p:spPr>
              <a:xfrm>
                <a:off x="7500936" y="2112377"/>
                <a:ext cx="1871663" cy="535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93BB5F7-0920-D084-E496-685A9C283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936" y="2112377"/>
                <a:ext cx="1871663" cy="535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2E9EE16-C4FD-2E76-132F-60A094756D55}"/>
                  </a:ext>
                </a:extLst>
              </p:cNvPr>
              <p:cNvSpPr txBox="1"/>
              <p:nvPr/>
            </p:nvSpPr>
            <p:spPr>
              <a:xfrm>
                <a:off x="2983226" y="2915295"/>
                <a:ext cx="19888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2E9EE16-C4FD-2E76-132F-60A09475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226" y="2915295"/>
                <a:ext cx="1988822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41F41F3-BD5A-63DF-B7EB-8374E069F4CC}"/>
                  </a:ext>
                </a:extLst>
              </p:cNvPr>
              <p:cNvSpPr txBox="1"/>
              <p:nvPr/>
            </p:nvSpPr>
            <p:spPr>
              <a:xfrm>
                <a:off x="7442356" y="2903865"/>
                <a:ext cx="19888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41F41F3-BD5A-63DF-B7EB-8374E069F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356" y="2903865"/>
                <a:ext cx="1988822" cy="461665"/>
              </a:xfrm>
              <a:prstGeom prst="rect">
                <a:avLst/>
              </a:prstGeom>
              <a:blipFill>
                <a:blip r:embed="rId7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A451C57-DF60-33DB-0FAC-68ED055E734C}"/>
                  </a:ext>
                </a:extLst>
              </p:cNvPr>
              <p:cNvSpPr txBox="1"/>
              <p:nvPr/>
            </p:nvSpPr>
            <p:spPr>
              <a:xfrm>
                <a:off x="2903216" y="4461440"/>
                <a:ext cx="2743204" cy="546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ba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/>
                  <a:t>↓</a:t>
                </a:r>
                <a:r>
                  <a:rPr lang="en-US" altLang="zh-CN" sz="2400" dirty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A451C57-DF60-33DB-0FAC-68ED055E7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216" y="4461440"/>
                <a:ext cx="2743204" cy="546560"/>
              </a:xfrm>
              <a:prstGeom prst="rect">
                <a:avLst/>
              </a:prstGeom>
              <a:blipFill>
                <a:blip r:embed="rId8"/>
                <a:stretch>
                  <a:fillRect r="-6889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E3B658-BA11-35E9-A80B-F83B4F041B60}"/>
                  </a:ext>
                </a:extLst>
              </p:cNvPr>
              <p:cNvSpPr txBox="1"/>
              <p:nvPr/>
            </p:nvSpPr>
            <p:spPr>
              <a:xfrm>
                <a:off x="7476644" y="3898273"/>
                <a:ext cx="3116821" cy="546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bar>
                  </m:oMath>
                </a14:m>
                <a:r>
                  <a:rPr lang="en-US" altLang="zh-CN" sz="24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m:rPr>
                        <m:nor/>
                      </m:rPr>
                      <a:rPr lang="zh-CN" altLang="en-US" sz="2400" dirty="0" smtClean="0"/>
                      <m:t>↓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E3B658-BA11-35E9-A80B-F83B4F04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644" y="3898273"/>
                <a:ext cx="3116821" cy="5465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BA11D3E-9F4D-E7F1-BB4B-B91659D4B9B7}"/>
                  </a:ext>
                </a:extLst>
              </p:cNvPr>
              <p:cNvSpPr txBox="1"/>
              <p:nvPr/>
            </p:nvSpPr>
            <p:spPr>
              <a:xfrm>
                <a:off x="2927027" y="3801613"/>
                <a:ext cx="3116822" cy="54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bar>
                  </m:oMath>
                </a14:m>
                <a:r>
                  <a:rPr lang="en-US" altLang="zh-CN" sz="24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m:rPr>
                        <m:nor/>
                      </m:rPr>
                      <a:rPr lang="zh-CN" altLang="en-US" sz="2400" dirty="0" smtClean="0"/>
                      <m:t>↓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BA11D3E-9F4D-E7F1-BB4B-B91659D4B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027" y="3801613"/>
                <a:ext cx="3116822" cy="5404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261DECA-E8CD-DFF8-0912-AB2DE0F484E3}"/>
                  </a:ext>
                </a:extLst>
              </p:cNvPr>
              <p:cNvSpPr txBox="1"/>
              <p:nvPr/>
            </p:nvSpPr>
            <p:spPr>
              <a:xfrm>
                <a:off x="7442356" y="4612946"/>
                <a:ext cx="2743204" cy="546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ba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/>
                  <a:t>↓</a:t>
                </a:r>
                <a:r>
                  <a:rPr lang="en-US" altLang="zh-CN" sz="2400" dirty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261DECA-E8CD-DFF8-0912-AB2DE0F48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356" y="4612946"/>
                <a:ext cx="2743204" cy="546560"/>
              </a:xfrm>
              <a:prstGeom prst="rect">
                <a:avLst/>
              </a:prstGeom>
              <a:blipFill>
                <a:blip r:embed="rId11"/>
                <a:stretch>
                  <a:fillRect r="-6667" b="-24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987492A-C6A8-BE65-8BAA-6CF897547CAD}"/>
                  </a:ext>
                </a:extLst>
              </p:cNvPr>
              <p:cNvSpPr txBox="1"/>
              <p:nvPr/>
            </p:nvSpPr>
            <p:spPr>
              <a:xfrm>
                <a:off x="2771775" y="5272276"/>
                <a:ext cx="2497455" cy="123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sz="24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987492A-C6A8-BE65-8BAA-6CF897547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75" y="5272276"/>
                <a:ext cx="2497455" cy="12379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3EF3FD6-0031-7D55-7C77-39247A824489}"/>
                  </a:ext>
                </a:extLst>
              </p:cNvPr>
              <p:cNvSpPr txBox="1"/>
              <p:nvPr/>
            </p:nvSpPr>
            <p:spPr>
              <a:xfrm>
                <a:off x="7612374" y="5358177"/>
                <a:ext cx="1851661" cy="123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sz="24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3EF3FD6-0031-7D55-7C77-39247A824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374" y="5358177"/>
                <a:ext cx="1851661" cy="12379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62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4BF02D-DF55-738F-ABD9-14F4A5430DE1}"/>
              </a:ext>
            </a:extLst>
          </p:cNvPr>
          <p:cNvSpPr txBox="1"/>
          <p:nvPr/>
        </p:nvSpPr>
        <p:spPr>
          <a:xfrm>
            <a:off x="162838" y="344833"/>
            <a:ext cx="5348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根据图能判断常见计数器类型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35008E-2BFD-A7F3-B553-C00209B34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78" y="1167760"/>
            <a:ext cx="5775875" cy="2119374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8A674F1-8735-F4EA-6FC8-CE6A511A2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060" y="811907"/>
            <a:ext cx="5549862" cy="24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70937446-4D93-BAC3-42E3-64CE7F5095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071423"/>
          <a:ext cx="6263601" cy="218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5800000" imgH="2019048" progId="Paint.Picture">
                  <p:embed/>
                </p:oleObj>
              </mc:Choice>
              <mc:Fallback>
                <p:oleObj name="BMP 图象" r:id="rId4" imgW="5800000" imgH="2019048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70937446-4D93-BAC3-42E3-64CE7F5095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071423"/>
                        <a:ext cx="6263601" cy="2180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30D19BE-1B9E-0CBE-BD6C-B25BF9330C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6527" y="4154625"/>
          <a:ext cx="5985473" cy="201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6" imgW="6001588" imgH="2019048" progId="Paint.Picture">
                  <p:embed/>
                </p:oleObj>
              </mc:Choice>
              <mc:Fallback>
                <p:oleObj name="BMP 图象" r:id="rId6" imgW="6001588" imgH="2019048" progId="Paint.Picture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930D19BE-1B9E-0CBE-BD6C-B25BF9330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6527" y="4154625"/>
                        <a:ext cx="5985473" cy="2013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4B64467-EB4C-4342-E5FF-FDCCA9B58426}"/>
              </a:ext>
            </a:extLst>
          </p:cNvPr>
          <p:cNvSpPr txBox="1"/>
          <p:nvPr/>
        </p:nvSpPr>
        <p:spPr>
          <a:xfrm>
            <a:off x="1421997" y="3429000"/>
            <a:ext cx="3419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异步三位二进制减法计数器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C57F97-F65F-2164-8027-B64A86158D54}"/>
              </a:ext>
            </a:extLst>
          </p:cNvPr>
          <p:cNvSpPr txBox="1"/>
          <p:nvPr/>
        </p:nvSpPr>
        <p:spPr>
          <a:xfrm>
            <a:off x="7489460" y="3558532"/>
            <a:ext cx="3419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同步三位二进制加法计数器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346D72-77DE-39BB-A1FF-FE1E22A33429}"/>
              </a:ext>
            </a:extLst>
          </p:cNvPr>
          <p:cNvSpPr txBox="1"/>
          <p:nvPr/>
        </p:nvSpPr>
        <p:spPr>
          <a:xfrm>
            <a:off x="1421997" y="6313112"/>
            <a:ext cx="3419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环形计数器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64DDA4-0585-5100-6A82-F8C2FE472362}"/>
              </a:ext>
            </a:extLst>
          </p:cNvPr>
          <p:cNvSpPr txBox="1"/>
          <p:nvPr/>
        </p:nvSpPr>
        <p:spPr>
          <a:xfrm>
            <a:off x="8192021" y="6323834"/>
            <a:ext cx="3419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扭环形计数器</a:t>
            </a:r>
          </a:p>
        </p:txBody>
      </p:sp>
    </p:spTree>
    <p:extLst>
      <p:ext uri="{BB962C8B-B14F-4D97-AF65-F5344CB8AC3E}">
        <p14:creationId xmlns:p14="http://schemas.microsoft.com/office/powerpoint/2010/main" val="81320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A0FDF-AD6E-589A-6697-E359E897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79" y="214813"/>
            <a:ext cx="10515600" cy="862426"/>
          </a:xfrm>
        </p:spPr>
        <p:txBody>
          <a:bodyPr/>
          <a:lstStyle/>
          <a:p>
            <a:r>
              <a:rPr lang="zh-CN" altLang="en-US" dirty="0"/>
              <a:t>任意进制计数器设计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31F7AE-D9EC-92F3-AF6B-4E3E255E0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79" y="1550052"/>
            <a:ext cx="10515600" cy="4351338"/>
          </a:xfrm>
        </p:spPr>
        <p:txBody>
          <a:bodyPr/>
          <a:lstStyle/>
          <a:p>
            <a:r>
              <a:rPr lang="zh-CN" altLang="en-US" dirty="0"/>
              <a:t>逻辑抽象</a:t>
            </a:r>
            <a:endParaRPr lang="en-US" altLang="zh-CN" dirty="0"/>
          </a:p>
          <a:p>
            <a:pPr lvl="1"/>
            <a:r>
              <a:rPr lang="zh-CN" altLang="en-US" dirty="0"/>
              <a:t>输入，一般无。有的时候通过一个输入控制端控制计数器类型。</a:t>
            </a:r>
            <a:endParaRPr lang="en-US" altLang="zh-CN" dirty="0"/>
          </a:p>
          <a:p>
            <a:pPr lvl="1"/>
            <a:r>
              <a:rPr lang="zh-CN" altLang="en-US" dirty="0"/>
              <a:t>确定状态数：计数器的长度为状态数</a:t>
            </a:r>
            <a:endParaRPr lang="en-US" altLang="zh-CN" dirty="0"/>
          </a:p>
          <a:p>
            <a:pPr lvl="1"/>
            <a:r>
              <a:rPr lang="zh-CN" altLang="en-US" dirty="0"/>
              <a:t>输出：计数器的进位输出</a:t>
            </a:r>
            <a:endParaRPr lang="en-US" altLang="zh-CN" dirty="0"/>
          </a:p>
          <a:p>
            <a:r>
              <a:rPr lang="zh-CN" altLang="en-US" dirty="0"/>
              <a:t>状态编码，画出状态图。</a:t>
            </a:r>
            <a:endParaRPr lang="en-US" altLang="zh-CN" dirty="0"/>
          </a:p>
          <a:p>
            <a:r>
              <a:rPr lang="zh-CN" altLang="en-US" dirty="0"/>
              <a:t>写出状态表</a:t>
            </a:r>
            <a:endParaRPr lang="en-US" altLang="zh-CN" dirty="0"/>
          </a:p>
          <a:p>
            <a:r>
              <a:rPr lang="zh-CN" altLang="en-US" dirty="0"/>
              <a:t>状态方程</a:t>
            </a:r>
            <a:endParaRPr lang="en-US" altLang="zh-CN" dirty="0"/>
          </a:p>
          <a:p>
            <a:r>
              <a:rPr lang="zh-CN" altLang="en-US" dirty="0"/>
              <a:t>驱动方程</a:t>
            </a:r>
            <a:endParaRPr lang="en-US" altLang="zh-CN" dirty="0"/>
          </a:p>
          <a:p>
            <a:r>
              <a:rPr lang="zh-CN" altLang="en-US" dirty="0"/>
              <a:t>输出方程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362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7D6C0C-F061-03E5-AA77-A90D565E2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" y="454025"/>
            <a:ext cx="4328160" cy="4351338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JK</a:t>
            </a:r>
            <a:r>
              <a:rPr lang="zh-CN" altLang="en-US" dirty="0"/>
              <a:t>触发器设计同步十二进制计数器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3CDFB43-59F2-58EB-17E7-DC1DDE0E126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10447" y="116176"/>
              <a:ext cx="2327564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747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3CDFB43-59F2-58EB-17E7-DC1DDE0E126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10447" y="116176"/>
              <a:ext cx="2327564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747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20" t="-1563" r="-294898" b="-16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5319" t="-1563" r="-207447" b="-16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3158" t="-1563" r="-105263" b="-16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563" r="-4167" b="-16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FD41E3C-EC45-6323-7839-809E8A4B4AB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38011" y="103296"/>
              <a:ext cx="2344535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2718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FD41E3C-EC45-6323-7839-809E8A4B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677601"/>
                  </p:ext>
                </p:extLst>
              </p:nvPr>
            </p:nvGraphicFramePr>
            <p:xfrm>
              <a:off x="8338011" y="103296"/>
              <a:ext cx="2344535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2718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990" t="-1563" r="-286139" b="-1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9677" t="-1563" r="-210753" b="-1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3125" t="-1563" r="-104167" b="-1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3125" t="-1563" r="-4167" b="-16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9BFB83B-6053-F3C4-3DE8-5C2C2D076446}"/>
              </a:ext>
            </a:extLst>
          </p:cNvPr>
          <p:cNvGraphicFramePr>
            <a:graphicFrameLocks noGrp="1"/>
          </p:cNvGraphicFramePr>
          <p:nvPr/>
        </p:nvGraphicFramePr>
        <p:xfrm>
          <a:off x="10682546" y="90947"/>
          <a:ext cx="581891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891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6985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2448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0950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9771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78999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2634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1451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1679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55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79E13F-B4BE-E7E5-F98F-D0833EE6A276}"/>
              </a:ext>
            </a:extLst>
          </p:cNvPr>
          <p:cNvSpPr txBox="1"/>
          <p:nvPr/>
        </p:nvSpPr>
        <p:spPr>
          <a:xfrm>
            <a:off x="7160977" y="394957"/>
            <a:ext cx="126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M&lt;N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A2E702-4B6B-C9CD-B082-07D03E5B3220}"/>
              </a:ext>
            </a:extLst>
          </p:cNvPr>
          <p:cNvSpPr txBox="1"/>
          <p:nvPr/>
        </p:nvSpPr>
        <p:spPr>
          <a:xfrm>
            <a:off x="146798" y="394957"/>
            <a:ext cx="69429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任意</a:t>
            </a:r>
            <a:r>
              <a:rPr lang="en-US" altLang="zh-CN" sz="2800" dirty="0"/>
              <a:t>N</a:t>
            </a:r>
            <a:r>
              <a:rPr lang="zh-CN" altLang="en-US" sz="2800" dirty="0"/>
              <a:t>进制中规模计数器构成</a:t>
            </a:r>
            <a:r>
              <a:rPr lang="en-US" altLang="zh-CN" sz="2800" dirty="0"/>
              <a:t>M</a:t>
            </a:r>
            <a:r>
              <a:rPr lang="zh-CN" altLang="en-US" sz="2800" dirty="0"/>
              <a:t>进制计数器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6648DD-FDE3-2389-F9C4-A760F5CCD0B2}"/>
              </a:ext>
            </a:extLst>
          </p:cNvPr>
          <p:cNvSpPr txBox="1"/>
          <p:nvPr/>
        </p:nvSpPr>
        <p:spPr>
          <a:xfrm>
            <a:off x="1187911" y="2687782"/>
            <a:ext cx="126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N</a:t>
            </a:r>
            <a:r>
              <a:rPr lang="zh-CN" altLang="en-US" sz="2800" dirty="0"/>
              <a:t>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E8B1999-AEFB-1B45-C774-01862DCC4676}"/>
                  </a:ext>
                </a:extLst>
              </p:cNvPr>
              <p:cNvSpPr txBox="1"/>
              <p:nvPr/>
            </p:nvSpPr>
            <p:spPr>
              <a:xfrm>
                <a:off x="2797448" y="2642973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E8B1999-AEFB-1B45-C774-01862DCC4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448" y="2642973"/>
                <a:ext cx="65151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4D2B85E-5748-4F20-1406-E772CFA7B508}"/>
                  </a:ext>
                </a:extLst>
              </p:cNvPr>
              <p:cNvSpPr txBox="1"/>
              <p:nvPr/>
            </p:nvSpPr>
            <p:spPr>
              <a:xfrm>
                <a:off x="8238216" y="2650560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4D2B85E-5748-4F20-1406-E772CFA7B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216" y="2650560"/>
                <a:ext cx="651510" cy="523220"/>
              </a:xfrm>
              <a:prstGeom prst="rect">
                <a:avLst/>
              </a:prstGeom>
              <a:blipFill>
                <a:blip r:embed="rId3"/>
                <a:stretch>
                  <a:fillRect r="-20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1D1BF67-1AAF-CD8A-E756-0851E1E91013}"/>
                  </a:ext>
                </a:extLst>
              </p:cNvPr>
              <p:cNvSpPr txBox="1"/>
              <p:nvPr/>
            </p:nvSpPr>
            <p:spPr>
              <a:xfrm>
                <a:off x="5443177" y="2621183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1D1BF67-1AAF-CD8A-E756-0851E1E91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177" y="2621183"/>
                <a:ext cx="651510" cy="523220"/>
              </a:xfrm>
              <a:prstGeom prst="rect">
                <a:avLst/>
              </a:prstGeom>
              <a:blipFill>
                <a:blip r:embed="rId4"/>
                <a:stretch>
                  <a:fillRect r="-26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B81450C-B138-B96A-992E-09EDEC2F52D7}"/>
              </a:ext>
            </a:extLst>
          </p:cNvPr>
          <p:cNvSpPr txBox="1"/>
          <p:nvPr/>
        </p:nvSpPr>
        <p:spPr>
          <a:xfrm>
            <a:off x="2167369" y="3207674"/>
            <a:ext cx="232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zh-CN" altLang="en-US" sz="2400" dirty="0"/>
              <a:t>进制初始状态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2C96D87-CA86-6775-7762-22D6817B4D00}"/>
              </a:ext>
            </a:extLst>
          </p:cNvPr>
          <p:cNvSpPr/>
          <p:nvPr/>
        </p:nvSpPr>
        <p:spPr>
          <a:xfrm>
            <a:off x="3336920" y="2865617"/>
            <a:ext cx="1988349" cy="167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左弧形 12">
            <a:extLst>
              <a:ext uri="{FF2B5EF4-FFF2-40B4-BE49-F238E27FC236}">
                <a16:creationId xmlns:a16="http://schemas.microsoft.com/office/drawing/2014/main" id="{9DBBF924-8F58-5044-D79A-A7470A1ACB71}"/>
              </a:ext>
            </a:extLst>
          </p:cNvPr>
          <p:cNvSpPr/>
          <p:nvPr/>
        </p:nvSpPr>
        <p:spPr>
          <a:xfrm rot="5400000">
            <a:off x="4141418" y="1013252"/>
            <a:ext cx="495379" cy="2908703"/>
          </a:xfrm>
          <a:prstGeom prst="curvedRightArrow">
            <a:avLst>
              <a:gd name="adj1" fmla="val 25000"/>
              <a:gd name="adj2" fmla="val 50000"/>
              <a:gd name="adj3" fmla="val 293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B0C3A6-A785-60AB-CECA-0821CF7A47B6}"/>
              </a:ext>
            </a:extLst>
          </p:cNvPr>
          <p:cNvSpPr/>
          <p:nvPr/>
        </p:nvSpPr>
        <p:spPr>
          <a:xfrm>
            <a:off x="2699297" y="2651784"/>
            <a:ext cx="6457230" cy="55589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E354E5-67FF-24F3-7EB6-6B3F81D09D14}"/>
                  </a:ext>
                </a:extLst>
              </p:cNvPr>
              <p:cNvSpPr txBox="1"/>
              <p:nvPr/>
            </p:nvSpPr>
            <p:spPr>
              <a:xfrm>
                <a:off x="6344912" y="2642973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E354E5-67FF-24F3-7EB6-6B3F81D09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2" y="2642973"/>
                <a:ext cx="65151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EEFDA7C-E650-FE7A-0C12-86AA13810BF1}"/>
                  </a:ext>
                </a:extLst>
              </p:cNvPr>
              <p:cNvSpPr txBox="1"/>
              <p:nvPr/>
            </p:nvSpPr>
            <p:spPr>
              <a:xfrm>
                <a:off x="5922168" y="3197611"/>
                <a:ext cx="11023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EEFDA7C-E650-FE7A-0C12-86AA13810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168" y="3197611"/>
                <a:ext cx="110232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9F9748-4FB4-E68C-E35A-EAFA8E9CC556}"/>
                  </a:ext>
                </a:extLst>
              </p:cNvPr>
              <p:cNvSpPr txBox="1"/>
              <p:nvPr/>
            </p:nvSpPr>
            <p:spPr>
              <a:xfrm>
                <a:off x="6670667" y="3274527"/>
                <a:ext cx="1567549" cy="1191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发出异步</m:t>
                    </m:r>
                  </m:oMath>
                </a14:m>
                <a:r>
                  <a:rPr lang="zh-CN" altLang="en-US" sz="2400" dirty="0"/>
                  <a:t>置零信号</a:t>
                </a:r>
                <a:r>
                  <a:rPr lang="en-US" altLang="zh-CN" sz="2400" dirty="0"/>
                  <a:t>Rd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9F9748-4FB4-E68C-E35A-EAFA8E9CC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667" y="3274527"/>
                <a:ext cx="1567549" cy="1191801"/>
              </a:xfrm>
              <a:prstGeom prst="rect">
                <a:avLst/>
              </a:prstGeom>
              <a:blipFill>
                <a:blip r:embed="rId7"/>
                <a:stretch>
                  <a:fillRect l="-5837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1A53507A-7271-F698-9BD7-F63F0B207038}"/>
              </a:ext>
            </a:extLst>
          </p:cNvPr>
          <p:cNvSpPr txBox="1"/>
          <p:nvPr/>
        </p:nvSpPr>
        <p:spPr>
          <a:xfrm>
            <a:off x="373536" y="1508070"/>
            <a:ext cx="162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异步置零</a:t>
            </a:r>
          </a:p>
        </p:txBody>
      </p:sp>
    </p:spTree>
    <p:extLst>
      <p:ext uri="{BB962C8B-B14F-4D97-AF65-F5344CB8AC3E}">
        <p14:creationId xmlns:p14="http://schemas.microsoft.com/office/powerpoint/2010/main" val="19844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EDFB62-DF06-54C2-96B7-4BB47FCA763A}"/>
              </a:ext>
            </a:extLst>
          </p:cNvPr>
          <p:cNvSpPr txBox="1"/>
          <p:nvPr/>
        </p:nvSpPr>
        <p:spPr>
          <a:xfrm>
            <a:off x="3328511" y="1148119"/>
            <a:ext cx="1260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93C719-0428-FB9B-E0F1-FCAA73EF44E4}"/>
                  </a:ext>
                </a:extLst>
              </p:cNvPr>
              <p:cNvSpPr txBox="1"/>
              <p:nvPr/>
            </p:nvSpPr>
            <p:spPr>
              <a:xfrm>
                <a:off x="4588669" y="1102273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93C719-0428-FB9B-E0F1-FCAA73EF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669" y="1102273"/>
                <a:ext cx="65151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C4AE06-4376-BD90-35C0-CEBF877C53F9}"/>
                  </a:ext>
                </a:extLst>
              </p:cNvPr>
              <p:cNvSpPr txBox="1"/>
              <p:nvPr/>
            </p:nvSpPr>
            <p:spPr>
              <a:xfrm>
                <a:off x="8802810" y="1185235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C4AE06-4376-BD90-35C0-CEBF877C5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810" y="1185235"/>
                <a:ext cx="651510" cy="523220"/>
              </a:xfrm>
              <a:prstGeom prst="rect">
                <a:avLst/>
              </a:prstGeom>
              <a:blipFill>
                <a:blip r:embed="rId3"/>
                <a:stretch>
                  <a:fillRect r="-20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4998D5-CD8F-932D-CDDC-2CDCA7A7F827}"/>
                  </a:ext>
                </a:extLst>
              </p:cNvPr>
              <p:cNvSpPr txBox="1"/>
              <p:nvPr/>
            </p:nvSpPr>
            <p:spPr>
              <a:xfrm>
                <a:off x="7234398" y="1080483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4998D5-CD8F-932D-CDDC-2CDCA7A7F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398" y="1080483"/>
                <a:ext cx="651510" cy="523220"/>
              </a:xfrm>
              <a:prstGeom prst="rect">
                <a:avLst/>
              </a:prstGeom>
              <a:blipFill>
                <a:blip r:embed="rId4"/>
                <a:stretch>
                  <a:fillRect r="-25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0284957C-9127-1ECF-C9A3-EF5BFB5D4A6F}"/>
              </a:ext>
            </a:extLst>
          </p:cNvPr>
          <p:cNvSpPr txBox="1"/>
          <p:nvPr/>
        </p:nvSpPr>
        <p:spPr>
          <a:xfrm>
            <a:off x="3958590" y="1666974"/>
            <a:ext cx="232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zh-CN" altLang="en-US" sz="2400" dirty="0"/>
              <a:t>进制初始状态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DAEC7DE-00A4-FBC2-4723-AD5FBC633A1B}"/>
                  </a:ext>
                </a:extLst>
              </p:cNvPr>
              <p:cNvSpPr txBox="1"/>
              <p:nvPr/>
            </p:nvSpPr>
            <p:spPr>
              <a:xfrm>
                <a:off x="6810808" y="1669143"/>
                <a:ext cx="3595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400" dirty="0"/>
                  <a:t>发出</a:t>
                </a:r>
                <a:r>
                  <a:rPr lang="en-US" altLang="zh-CN" sz="2400" dirty="0" err="1"/>
                  <a:t>Ld</a:t>
                </a:r>
                <a:r>
                  <a:rPr lang="zh-CN" altLang="en-US" sz="2400" dirty="0"/>
                  <a:t>，置</a:t>
                </a:r>
                <a:r>
                  <a:rPr lang="en-US" altLang="zh-CN" sz="2400" dirty="0"/>
                  <a:t>0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DAEC7DE-00A4-FBC2-4723-AD5FBC633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808" y="1669143"/>
                <a:ext cx="3595482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右 10">
            <a:extLst>
              <a:ext uri="{FF2B5EF4-FFF2-40B4-BE49-F238E27FC236}">
                <a16:creationId xmlns:a16="http://schemas.microsoft.com/office/drawing/2014/main" id="{F8974125-A3E6-D61B-DCF7-D886CDA568B3}"/>
              </a:ext>
            </a:extLst>
          </p:cNvPr>
          <p:cNvSpPr/>
          <p:nvPr/>
        </p:nvSpPr>
        <p:spPr>
          <a:xfrm>
            <a:off x="5128141" y="1324917"/>
            <a:ext cx="1988349" cy="167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左弧形 11">
            <a:extLst>
              <a:ext uri="{FF2B5EF4-FFF2-40B4-BE49-F238E27FC236}">
                <a16:creationId xmlns:a16="http://schemas.microsoft.com/office/drawing/2014/main" id="{631F07AF-6B1F-DE36-9303-F621833993C4}"/>
              </a:ext>
            </a:extLst>
          </p:cNvPr>
          <p:cNvSpPr/>
          <p:nvPr/>
        </p:nvSpPr>
        <p:spPr>
          <a:xfrm rot="5400000">
            <a:off x="5932639" y="-527448"/>
            <a:ext cx="495379" cy="2908703"/>
          </a:xfrm>
          <a:prstGeom prst="curvedRightArrow">
            <a:avLst>
              <a:gd name="adj1" fmla="val 25000"/>
              <a:gd name="adj2" fmla="val 50000"/>
              <a:gd name="adj3" fmla="val 29369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412597-7525-13A7-2B83-037DC7618B01}"/>
              </a:ext>
            </a:extLst>
          </p:cNvPr>
          <p:cNvSpPr txBox="1"/>
          <p:nvPr/>
        </p:nvSpPr>
        <p:spPr>
          <a:xfrm>
            <a:off x="6190978" y="25706"/>
            <a:ext cx="126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M&lt;N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22791E-70BD-C09E-0DCD-5273486E1E52}"/>
              </a:ext>
            </a:extLst>
          </p:cNvPr>
          <p:cNvSpPr txBox="1"/>
          <p:nvPr/>
        </p:nvSpPr>
        <p:spPr>
          <a:xfrm>
            <a:off x="358017" y="1157107"/>
            <a:ext cx="2787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置</a:t>
            </a:r>
            <a:r>
              <a:rPr lang="en-US" altLang="zh-CN" sz="2400" dirty="0"/>
              <a:t>N</a:t>
            </a:r>
            <a:r>
              <a:rPr lang="zh-CN" altLang="en-US" sz="2400" dirty="0"/>
              <a:t>进制初始状态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9240AE-FE70-08E1-89DE-48429EA8AFB1}"/>
              </a:ext>
            </a:extLst>
          </p:cNvPr>
          <p:cNvSpPr txBox="1"/>
          <p:nvPr/>
        </p:nvSpPr>
        <p:spPr>
          <a:xfrm>
            <a:off x="430355" y="2561471"/>
            <a:ext cx="626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置</a:t>
            </a:r>
            <a:r>
              <a:rPr lang="en-US" altLang="zh-CN" sz="2400" dirty="0"/>
              <a:t>M</a:t>
            </a:r>
            <a:r>
              <a:rPr lang="zh-CN" altLang="en-US" sz="2400" dirty="0"/>
              <a:t>进制初始状态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C31CC8-75AE-9BB4-E767-15A3FD7909E4}"/>
              </a:ext>
            </a:extLst>
          </p:cNvPr>
          <p:cNvSpPr txBox="1"/>
          <p:nvPr/>
        </p:nvSpPr>
        <p:spPr>
          <a:xfrm>
            <a:off x="3469437" y="2609039"/>
            <a:ext cx="1260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C12E5B-1784-9199-0175-88434911C007}"/>
                  </a:ext>
                </a:extLst>
              </p:cNvPr>
              <p:cNvSpPr txBox="1"/>
              <p:nvPr/>
            </p:nvSpPr>
            <p:spPr>
              <a:xfrm>
                <a:off x="4651966" y="2525472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C12E5B-1784-9199-0175-88434911C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966" y="2525472"/>
                <a:ext cx="65151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4644B79-640A-1D6B-4BEA-FF7503DBEE3E}"/>
                  </a:ext>
                </a:extLst>
              </p:cNvPr>
              <p:cNvSpPr txBox="1"/>
              <p:nvPr/>
            </p:nvSpPr>
            <p:spPr>
              <a:xfrm>
                <a:off x="8894389" y="2534349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4644B79-640A-1D6B-4BEA-FF7503DBE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389" y="2534349"/>
                <a:ext cx="651510" cy="523220"/>
              </a:xfrm>
              <a:prstGeom prst="rect">
                <a:avLst/>
              </a:prstGeom>
              <a:blipFill>
                <a:blip r:embed="rId7"/>
                <a:stretch>
                  <a:fillRect r="-20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78054DC-4FA9-8BF2-F563-038BDB4F9BD3}"/>
                  </a:ext>
                </a:extLst>
              </p:cNvPr>
              <p:cNvSpPr txBox="1"/>
              <p:nvPr/>
            </p:nvSpPr>
            <p:spPr>
              <a:xfrm>
                <a:off x="6068569" y="2603348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78054DC-4FA9-8BF2-F563-038BDB4F9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569" y="2603348"/>
                <a:ext cx="651510" cy="523220"/>
              </a:xfrm>
              <a:prstGeom prst="rect">
                <a:avLst/>
              </a:prstGeom>
              <a:blipFill>
                <a:blip r:embed="rId8"/>
                <a:stretch>
                  <a:fillRect r="-33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24B59A19-C3C7-8FBD-4D72-EE640EBF73CB}"/>
              </a:ext>
            </a:extLst>
          </p:cNvPr>
          <p:cNvSpPr txBox="1"/>
          <p:nvPr/>
        </p:nvSpPr>
        <p:spPr>
          <a:xfrm>
            <a:off x="5301353" y="3186989"/>
            <a:ext cx="232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zh-CN" altLang="en-US" sz="2400" dirty="0"/>
              <a:t>进制初始状态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B75EB01-8DB0-65F2-01ED-B4D805A8D220}"/>
                  </a:ext>
                </a:extLst>
              </p:cNvPr>
              <p:cNvSpPr txBox="1"/>
              <p:nvPr/>
            </p:nvSpPr>
            <p:spPr>
              <a:xfrm>
                <a:off x="8566373" y="3142076"/>
                <a:ext cx="3408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400" dirty="0"/>
                  <a:t>发出</a:t>
                </a:r>
                <a:r>
                  <a:rPr lang="en-US" altLang="zh-CN" sz="2400" dirty="0" err="1"/>
                  <a:t>Ld</a:t>
                </a:r>
                <a:r>
                  <a:rPr lang="zh-CN" altLang="en-US" sz="2400" dirty="0"/>
                  <a:t>，置</a:t>
                </a:r>
                <a:r>
                  <a:rPr lang="en-US" altLang="zh-CN" sz="2400" dirty="0"/>
                  <a:t>N-M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B75EB01-8DB0-65F2-01ED-B4D805A8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373" y="3142076"/>
                <a:ext cx="3408509" cy="461665"/>
              </a:xfrm>
              <a:prstGeom prst="rect">
                <a:avLst/>
              </a:prstGeom>
              <a:blipFill>
                <a:blip r:embed="rId9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右 23">
            <a:extLst>
              <a:ext uri="{FF2B5EF4-FFF2-40B4-BE49-F238E27FC236}">
                <a16:creationId xmlns:a16="http://schemas.microsoft.com/office/drawing/2014/main" id="{3CD37B44-DC2D-B187-09B0-5A549BDC1F67}"/>
              </a:ext>
            </a:extLst>
          </p:cNvPr>
          <p:cNvSpPr/>
          <p:nvPr/>
        </p:nvSpPr>
        <p:spPr>
          <a:xfrm>
            <a:off x="7098873" y="2790721"/>
            <a:ext cx="1795516" cy="165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左弧形 24">
            <a:extLst>
              <a:ext uri="{FF2B5EF4-FFF2-40B4-BE49-F238E27FC236}">
                <a16:creationId xmlns:a16="http://schemas.microsoft.com/office/drawing/2014/main" id="{B1E1817D-DFDD-C161-5E8F-80354D5D1382}"/>
              </a:ext>
            </a:extLst>
          </p:cNvPr>
          <p:cNvSpPr/>
          <p:nvPr/>
        </p:nvSpPr>
        <p:spPr>
          <a:xfrm rot="5400000">
            <a:off x="7390810" y="1117833"/>
            <a:ext cx="461666" cy="2605391"/>
          </a:xfrm>
          <a:prstGeom prst="curvedRightArrow">
            <a:avLst>
              <a:gd name="adj1" fmla="val 25000"/>
              <a:gd name="adj2" fmla="val 50000"/>
              <a:gd name="adj3" fmla="val 29369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AD98DA0-6750-D894-D8D9-186691F78D27}"/>
              </a:ext>
            </a:extLst>
          </p:cNvPr>
          <p:cNvSpPr txBox="1"/>
          <p:nvPr/>
        </p:nvSpPr>
        <p:spPr>
          <a:xfrm>
            <a:off x="445888" y="4179623"/>
            <a:ext cx="626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置</a:t>
            </a:r>
            <a:r>
              <a:rPr lang="en-US" altLang="zh-CN" sz="2400" dirty="0"/>
              <a:t>M</a:t>
            </a:r>
            <a:r>
              <a:rPr lang="zh-CN" altLang="en-US" sz="2400" dirty="0"/>
              <a:t>进制最终状态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8F653B-A800-3973-FCBF-8E7D93252F6D}"/>
              </a:ext>
            </a:extLst>
          </p:cNvPr>
          <p:cNvSpPr/>
          <p:nvPr/>
        </p:nvSpPr>
        <p:spPr>
          <a:xfrm>
            <a:off x="4490518" y="1111084"/>
            <a:ext cx="5474970" cy="55589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366FDA-D4C1-3553-6065-4B7D87347D47}"/>
              </a:ext>
            </a:extLst>
          </p:cNvPr>
          <p:cNvSpPr/>
          <p:nvPr/>
        </p:nvSpPr>
        <p:spPr>
          <a:xfrm>
            <a:off x="4516801" y="2551863"/>
            <a:ext cx="5474970" cy="55589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AA97C9-A665-B30E-8FA5-D259A6B0249B}"/>
              </a:ext>
            </a:extLst>
          </p:cNvPr>
          <p:cNvSpPr txBox="1"/>
          <p:nvPr/>
        </p:nvSpPr>
        <p:spPr>
          <a:xfrm>
            <a:off x="3469437" y="4258859"/>
            <a:ext cx="1260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B17E7F6-77E6-0524-50E4-B64D96146243}"/>
                  </a:ext>
                </a:extLst>
              </p:cNvPr>
              <p:cNvSpPr txBox="1"/>
              <p:nvPr/>
            </p:nvSpPr>
            <p:spPr>
              <a:xfrm>
                <a:off x="4651966" y="4175292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B17E7F6-77E6-0524-50E4-B64D96146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966" y="4175292"/>
                <a:ext cx="65151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87227A3-5479-37E4-309C-9EFC6FDE9210}"/>
                  </a:ext>
                </a:extLst>
              </p:cNvPr>
              <p:cNvSpPr txBox="1"/>
              <p:nvPr/>
            </p:nvSpPr>
            <p:spPr>
              <a:xfrm>
                <a:off x="8894389" y="4184169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87227A3-5479-37E4-309C-9EFC6FDE9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389" y="4184169"/>
                <a:ext cx="651510" cy="523220"/>
              </a:xfrm>
              <a:prstGeom prst="rect">
                <a:avLst/>
              </a:prstGeom>
              <a:blipFill>
                <a:blip r:embed="rId11"/>
                <a:stretch>
                  <a:fillRect r="-20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F1F341B-3EB2-93C0-F719-1CA6460E1AF2}"/>
                  </a:ext>
                </a:extLst>
              </p:cNvPr>
              <p:cNvSpPr txBox="1"/>
              <p:nvPr/>
            </p:nvSpPr>
            <p:spPr>
              <a:xfrm>
                <a:off x="6345355" y="4193329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F1F341B-3EB2-93C0-F719-1CA6460E1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355" y="4193329"/>
                <a:ext cx="651510" cy="523220"/>
              </a:xfrm>
              <a:prstGeom prst="rect">
                <a:avLst/>
              </a:prstGeom>
              <a:blipFill>
                <a:blip r:embed="rId12"/>
                <a:stretch>
                  <a:fillRect r="-25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B9ACEEE2-03FF-E4B5-105B-1EE2821E29B0}"/>
              </a:ext>
            </a:extLst>
          </p:cNvPr>
          <p:cNvSpPr txBox="1"/>
          <p:nvPr/>
        </p:nvSpPr>
        <p:spPr>
          <a:xfrm>
            <a:off x="3513215" y="4787531"/>
            <a:ext cx="232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zh-CN" altLang="en-US" sz="2400" dirty="0"/>
              <a:t>进制初始状态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12F33EA-342B-A2BA-26BA-9248DB306B88}"/>
              </a:ext>
            </a:extLst>
          </p:cNvPr>
          <p:cNvSpPr txBox="1"/>
          <p:nvPr/>
        </p:nvSpPr>
        <p:spPr>
          <a:xfrm>
            <a:off x="9025936" y="4787828"/>
            <a:ext cx="1931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 第</a:t>
            </a:r>
            <a:r>
              <a:rPr lang="en-US" altLang="zh-CN" sz="2400" dirty="0"/>
              <a:t>M</a:t>
            </a:r>
            <a:r>
              <a:rPr lang="zh-CN" altLang="en-US" sz="2400" dirty="0"/>
              <a:t>个状态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E305D82C-9F88-E52A-ED36-81764B558C11}"/>
              </a:ext>
            </a:extLst>
          </p:cNvPr>
          <p:cNvSpPr/>
          <p:nvPr/>
        </p:nvSpPr>
        <p:spPr>
          <a:xfrm>
            <a:off x="5162426" y="4426394"/>
            <a:ext cx="1116454" cy="1370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660606E-E21D-453E-7A20-377026DCC49F}"/>
              </a:ext>
            </a:extLst>
          </p:cNvPr>
          <p:cNvSpPr/>
          <p:nvPr/>
        </p:nvSpPr>
        <p:spPr>
          <a:xfrm>
            <a:off x="4516801" y="4201683"/>
            <a:ext cx="5474970" cy="55589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上弧形 38">
            <a:extLst>
              <a:ext uri="{FF2B5EF4-FFF2-40B4-BE49-F238E27FC236}">
                <a16:creationId xmlns:a16="http://schemas.microsoft.com/office/drawing/2014/main" id="{C37E2A65-5A4B-3A27-B0BA-AFE8FC7CD079}"/>
              </a:ext>
            </a:extLst>
          </p:cNvPr>
          <p:cNvSpPr/>
          <p:nvPr/>
        </p:nvSpPr>
        <p:spPr>
          <a:xfrm>
            <a:off x="6756425" y="3965732"/>
            <a:ext cx="2564638" cy="463548"/>
          </a:xfrm>
          <a:prstGeom prst="curved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箭头: 左弧形 39">
            <a:extLst>
              <a:ext uri="{FF2B5EF4-FFF2-40B4-BE49-F238E27FC236}">
                <a16:creationId xmlns:a16="http://schemas.microsoft.com/office/drawing/2014/main" id="{39ED2E02-5596-71E5-B6B9-B46CE6B7B446}"/>
              </a:ext>
            </a:extLst>
          </p:cNvPr>
          <p:cNvSpPr/>
          <p:nvPr/>
        </p:nvSpPr>
        <p:spPr>
          <a:xfrm rot="5400000">
            <a:off x="6944111" y="3393786"/>
            <a:ext cx="565544" cy="4533393"/>
          </a:xfrm>
          <a:prstGeom prst="curvedRightArrow">
            <a:avLst>
              <a:gd name="adj1" fmla="val 25000"/>
              <a:gd name="adj2" fmla="val 50000"/>
              <a:gd name="adj3" fmla="val 293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451960A-DEBC-9581-9C51-7C90B709441A}"/>
              </a:ext>
            </a:extLst>
          </p:cNvPr>
          <p:cNvSpPr txBox="1"/>
          <p:nvPr/>
        </p:nvSpPr>
        <p:spPr>
          <a:xfrm>
            <a:off x="430356" y="5711110"/>
            <a:ext cx="3028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置</a:t>
            </a:r>
            <a:r>
              <a:rPr lang="en-US" altLang="zh-CN" sz="2400" dirty="0"/>
              <a:t>M</a:t>
            </a:r>
            <a:r>
              <a:rPr lang="zh-CN" altLang="en-US" sz="2400" dirty="0"/>
              <a:t>进制中间状态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A80134-1568-E94E-5C6D-545CFFA1E8B0}"/>
              </a:ext>
            </a:extLst>
          </p:cNvPr>
          <p:cNvSpPr txBox="1"/>
          <p:nvPr/>
        </p:nvSpPr>
        <p:spPr>
          <a:xfrm>
            <a:off x="3469437" y="5967732"/>
            <a:ext cx="1260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1C524B6-40D3-6437-05CD-7DC9843BA870}"/>
                  </a:ext>
                </a:extLst>
              </p:cNvPr>
              <p:cNvSpPr txBox="1"/>
              <p:nvPr/>
            </p:nvSpPr>
            <p:spPr>
              <a:xfrm>
                <a:off x="4651966" y="5898484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1C524B6-40D3-6437-05CD-7DC9843BA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966" y="5898484"/>
                <a:ext cx="65151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5063C27-BF63-4037-7877-ADF4C3E352E4}"/>
                  </a:ext>
                </a:extLst>
              </p:cNvPr>
              <p:cNvSpPr txBox="1"/>
              <p:nvPr/>
            </p:nvSpPr>
            <p:spPr>
              <a:xfrm>
                <a:off x="9181600" y="5886038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5063C27-BF63-4037-7877-ADF4C3E35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600" y="5886038"/>
                <a:ext cx="651510" cy="523220"/>
              </a:xfrm>
              <a:prstGeom prst="rect">
                <a:avLst/>
              </a:prstGeom>
              <a:blipFill>
                <a:blip r:embed="rId14"/>
                <a:stretch>
                  <a:fillRect r="-20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3613C50-D794-44F7-0381-912BB6D53945}"/>
                  </a:ext>
                </a:extLst>
              </p:cNvPr>
              <p:cNvSpPr txBox="1"/>
              <p:nvPr/>
            </p:nvSpPr>
            <p:spPr>
              <a:xfrm>
                <a:off x="6150815" y="5966460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3613C50-D794-44F7-0381-912BB6D53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815" y="5966460"/>
                <a:ext cx="65151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箭头: 右 45">
            <a:extLst>
              <a:ext uri="{FF2B5EF4-FFF2-40B4-BE49-F238E27FC236}">
                <a16:creationId xmlns:a16="http://schemas.microsoft.com/office/drawing/2014/main" id="{B21211CB-0AA2-6F06-E562-4177651A6415}"/>
              </a:ext>
            </a:extLst>
          </p:cNvPr>
          <p:cNvSpPr/>
          <p:nvPr/>
        </p:nvSpPr>
        <p:spPr>
          <a:xfrm>
            <a:off x="5275786" y="6115450"/>
            <a:ext cx="915192" cy="166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4CCF611-8E68-FAD1-7286-154AC1E19290}"/>
              </a:ext>
            </a:extLst>
          </p:cNvPr>
          <p:cNvSpPr/>
          <p:nvPr/>
        </p:nvSpPr>
        <p:spPr>
          <a:xfrm>
            <a:off x="4642531" y="5898484"/>
            <a:ext cx="5474970" cy="55589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BC7AACF-5602-D18E-3FD1-5A6445AFF3CC}"/>
                  </a:ext>
                </a:extLst>
              </p:cNvPr>
              <p:cNvSpPr txBox="1"/>
              <p:nvPr/>
            </p:nvSpPr>
            <p:spPr>
              <a:xfrm>
                <a:off x="7334066" y="5931154"/>
                <a:ext cx="6515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BC7AACF-5602-D18E-3FD1-5A6445AFF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066" y="5931154"/>
                <a:ext cx="651510" cy="523220"/>
              </a:xfrm>
              <a:prstGeom prst="rect">
                <a:avLst/>
              </a:prstGeom>
              <a:blipFill>
                <a:blip r:embed="rId16"/>
                <a:stretch>
                  <a:fillRect r="-130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箭头: 上弧形 48">
            <a:extLst>
              <a:ext uri="{FF2B5EF4-FFF2-40B4-BE49-F238E27FC236}">
                <a16:creationId xmlns:a16="http://schemas.microsoft.com/office/drawing/2014/main" id="{785654E3-9504-E2A1-1338-BA8686B61431}"/>
              </a:ext>
            </a:extLst>
          </p:cNvPr>
          <p:cNvSpPr/>
          <p:nvPr/>
        </p:nvSpPr>
        <p:spPr>
          <a:xfrm>
            <a:off x="6384376" y="5760375"/>
            <a:ext cx="1703828" cy="274310"/>
          </a:xfrm>
          <a:prstGeom prst="curvedDownArrow">
            <a:avLst>
              <a:gd name="adj1" fmla="val 25000"/>
              <a:gd name="adj2" fmla="val 50000"/>
              <a:gd name="adj3" fmla="val 1259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BB811C31-02D3-2A89-72FA-DA1F626B995D}"/>
              </a:ext>
            </a:extLst>
          </p:cNvPr>
          <p:cNvSpPr/>
          <p:nvPr/>
        </p:nvSpPr>
        <p:spPr>
          <a:xfrm>
            <a:off x="8506418" y="6092590"/>
            <a:ext cx="651509" cy="166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0644A90-6D02-8D0E-B8A6-66D5C36F628E}"/>
              </a:ext>
            </a:extLst>
          </p:cNvPr>
          <p:cNvSpPr txBox="1"/>
          <p:nvPr/>
        </p:nvSpPr>
        <p:spPr>
          <a:xfrm>
            <a:off x="180976" y="33188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任意</a:t>
            </a:r>
            <a:r>
              <a:rPr lang="en-US" altLang="zh-CN" sz="2400" dirty="0"/>
              <a:t>N</a:t>
            </a:r>
            <a:r>
              <a:rPr lang="zh-CN" altLang="en-US" sz="2400" dirty="0"/>
              <a:t>进制中规模计数器构成</a:t>
            </a:r>
            <a:r>
              <a:rPr lang="en-US" altLang="zh-CN" sz="2400" dirty="0"/>
              <a:t>M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53" name="箭头: 左弧形 52">
            <a:extLst>
              <a:ext uri="{FF2B5EF4-FFF2-40B4-BE49-F238E27FC236}">
                <a16:creationId xmlns:a16="http://schemas.microsoft.com/office/drawing/2014/main" id="{774449EA-F752-43FD-DCFD-7069B168CF6E}"/>
              </a:ext>
            </a:extLst>
          </p:cNvPr>
          <p:cNvSpPr/>
          <p:nvPr/>
        </p:nvSpPr>
        <p:spPr>
          <a:xfrm rot="5400000">
            <a:off x="6898348" y="1680249"/>
            <a:ext cx="565544" cy="4533393"/>
          </a:xfrm>
          <a:prstGeom prst="curvedRightArrow">
            <a:avLst>
              <a:gd name="adj1" fmla="val 25000"/>
              <a:gd name="adj2" fmla="val 50000"/>
              <a:gd name="adj3" fmla="val 293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CC8AC11-4A1E-787B-3508-025C58591DE5}"/>
              </a:ext>
            </a:extLst>
          </p:cNvPr>
          <p:cNvSpPr txBox="1"/>
          <p:nvPr/>
        </p:nvSpPr>
        <p:spPr>
          <a:xfrm>
            <a:off x="3513215" y="6453330"/>
            <a:ext cx="232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zh-CN" altLang="en-US" sz="2400" dirty="0"/>
              <a:t>进制初始状态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1FA28EE-FBD7-4CB2-2238-FE2C1C9377E3}"/>
              </a:ext>
            </a:extLst>
          </p:cNvPr>
          <p:cNvSpPr txBox="1"/>
          <p:nvPr/>
        </p:nvSpPr>
        <p:spPr>
          <a:xfrm>
            <a:off x="9220144" y="6451583"/>
            <a:ext cx="1931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 第</a:t>
            </a:r>
            <a:r>
              <a:rPr lang="en-US" altLang="zh-CN" sz="2400" dirty="0"/>
              <a:t>M</a:t>
            </a:r>
            <a:r>
              <a:rPr lang="zh-CN" altLang="en-US" sz="2400" dirty="0"/>
              <a:t>个状态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958142-760F-22D5-C8E0-89E036D7A272}"/>
              </a:ext>
            </a:extLst>
          </p:cNvPr>
          <p:cNvSpPr txBox="1"/>
          <p:nvPr/>
        </p:nvSpPr>
        <p:spPr>
          <a:xfrm>
            <a:off x="10409838" y="208363"/>
            <a:ext cx="1406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只需要会用其中的一种方式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C7EE141-0658-F5CC-1DA0-9AAA425D59FB}"/>
                  </a:ext>
                </a:extLst>
              </p:cNvPr>
              <p:cNvSpPr txBox="1"/>
              <p:nvPr/>
            </p:nvSpPr>
            <p:spPr>
              <a:xfrm>
                <a:off x="5901694" y="4807238"/>
                <a:ext cx="30560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发出</a:t>
                </a:r>
                <a:r>
                  <a:rPr lang="en-US" altLang="zh-CN" sz="2400" dirty="0" err="1"/>
                  <a:t>Ld</a:t>
                </a:r>
                <a:r>
                  <a:rPr lang="zh-CN" altLang="en-US" sz="2400" dirty="0"/>
                  <a:t>，置</a:t>
                </a:r>
                <a:r>
                  <a:rPr lang="en-US" altLang="zh-CN" sz="2400" dirty="0"/>
                  <a:t>N-1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C7EE141-0658-F5CC-1DA0-9AAA425D5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694" y="4807238"/>
                <a:ext cx="3056053" cy="461665"/>
              </a:xfrm>
              <a:prstGeom prst="rect">
                <a:avLst/>
              </a:prstGeom>
              <a:blipFill>
                <a:blip r:embed="rId17"/>
                <a:stretch>
                  <a:fillRect t="-9333" r="-998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65BBB33-D31A-71C0-0BE7-350375303466}"/>
                  </a:ext>
                </a:extLst>
              </p:cNvPr>
              <p:cNvSpPr txBox="1"/>
              <p:nvPr/>
            </p:nvSpPr>
            <p:spPr>
              <a:xfrm>
                <a:off x="5831135" y="6458790"/>
                <a:ext cx="3484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发出</a:t>
                </a:r>
                <a:r>
                  <a:rPr lang="en-US" altLang="zh-CN" sz="2400" dirty="0" err="1"/>
                  <a:t>Ld</a:t>
                </a:r>
                <a:r>
                  <a:rPr lang="zh-CN" altLang="en-US" sz="2400" dirty="0"/>
                  <a:t>，置</a:t>
                </a:r>
                <a:r>
                  <a:rPr lang="en-US" altLang="zh-CN" sz="2400" dirty="0"/>
                  <a:t>i+N-M-1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65BBB33-D31A-71C0-0BE7-350375303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135" y="6458790"/>
                <a:ext cx="3484437" cy="461665"/>
              </a:xfrm>
              <a:prstGeom prst="rect">
                <a:avLst/>
              </a:prstGeom>
              <a:blipFill>
                <a:blip r:embed="rId18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63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42A55B-F5DE-F6BC-A124-82FF026536EA}"/>
              </a:ext>
            </a:extLst>
          </p:cNvPr>
          <p:cNvSpPr txBox="1"/>
          <p:nvPr/>
        </p:nvSpPr>
        <p:spPr>
          <a:xfrm>
            <a:off x="272416" y="296078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任意</a:t>
            </a:r>
            <a:r>
              <a:rPr lang="en-US" altLang="zh-CN" sz="2400" dirty="0"/>
              <a:t>N</a:t>
            </a:r>
            <a:r>
              <a:rPr lang="zh-CN" altLang="en-US" sz="2400" dirty="0"/>
              <a:t>进制中规模计数器构成</a:t>
            </a:r>
            <a:r>
              <a:rPr lang="en-US" altLang="zh-CN" sz="2400" dirty="0"/>
              <a:t>M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EC87F7-AE96-E028-28B0-CE0699AF2170}"/>
              </a:ext>
            </a:extLst>
          </p:cNvPr>
          <p:cNvSpPr txBox="1"/>
          <p:nvPr/>
        </p:nvSpPr>
        <p:spPr>
          <a:xfrm>
            <a:off x="6370320" y="234523"/>
            <a:ext cx="2819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M&gt;N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BA9747-C54F-BA4C-4CEE-76C7247737B9}"/>
              </a:ext>
            </a:extLst>
          </p:cNvPr>
          <p:cNvSpPr txBox="1"/>
          <p:nvPr/>
        </p:nvSpPr>
        <p:spPr>
          <a:xfrm>
            <a:off x="398621" y="2856309"/>
            <a:ext cx="2009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3. </a:t>
            </a:r>
            <a:r>
              <a:rPr lang="zh-CN" altLang="en-US" sz="2400" dirty="0"/>
              <a:t>多片</a:t>
            </a:r>
            <a:r>
              <a:rPr lang="en-US" altLang="zh-CN" sz="2400" dirty="0"/>
              <a:t>N</a:t>
            </a:r>
            <a:r>
              <a:rPr lang="zh-CN" altLang="en-US" sz="2400" dirty="0"/>
              <a:t>进制计数器级联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41AB30AA-C257-8810-18D7-14F481C2C5B2}"/>
              </a:ext>
            </a:extLst>
          </p:cNvPr>
          <p:cNvSpPr/>
          <p:nvPr/>
        </p:nvSpPr>
        <p:spPr>
          <a:xfrm>
            <a:off x="2470307" y="2556740"/>
            <a:ext cx="506732" cy="143013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FDD49F-0E16-6291-F83F-E73E0D435924}"/>
              </a:ext>
            </a:extLst>
          </p:cNvPr>
          <p:cNvSpPr txBox="1"/>
          <p:nvPr/>
        </p:nvSpPr>
        <p:spPr>
          <a:xfrm>
            <a:off x="3122532" y="2334401"/>
            <a:ext cx="6821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串行进位：低位片的</a:t>
            </a:r>
            <a:r>
              <a:rPr lang="zh-CN" altLang="en-US" sz="2400" b="1" dirty="0"/>
              <a:t>进位输出</a:t>
            </a:r>
            <a:r>
              <a:rPr lang="zh-CN" altLang="en-US" sz="2400" dirty="0"/>
              <a:t>作为高位片的</a:t>
            </a:r>
            <a:r>
              <a:rPr lang="en-US" altLang="zh-CN" sz="2400" dirty="0"/>
              <a:t>CLK</a:t>
            </a:r>
            <a:r>
              <a:rPr lang="zh-CN" altLang="en-US" sz="2400" dirty="0"/>
              <a:t>，两片始终同时处于计数状态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DF1088-8DDC-6C45-7A48-D7F1E58DE294}"/>
              </a:ext>
            </a:extLst>
          </p:cNvPr>
          <p:cNvSpPr txBox="1"/>
          <p:nvPr/>
        </p:nvSpPr>
        <p:spPr>
          <a:xfrm>
            <a:off x="424576" y="1004145"/>
            <a:ext cx="5487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将</a:t>
            </a:r>
            <a:r>
              <a:rPr lang="en-US" altLang="zh-CN" sz="2400" dirty="0"/>
              <a:t>M</a:t>
            </a:r>
            <a:r>
              <a:rPr lang="zh-CN" altLang="en-US" sz="2400" dirty="0"/>
              <a:t>分解为</a:t>
            </a:r>
            <a:r>
              <a:rPr lang="en-US" altLang="zh-CN" sz="2400" dirty="0"/>
              <a:t>M=N1*N2  (N1&lt;N, N2&lt;N)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992F60-DC0F-9D49-E694-2C37F0538931}"/>
              </a:ext>
            </a:extLst>
          </p:cNvPr>
          <p:cNvSpPr txBox="1"/>
          <p:nvPr/>
        </p:nvSpPr>
        <p:spPr>
          <a:xfrm>
            <a:off x="483871" y="1626334"/>
            <a:ext cx="8785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将两片</a:t>
            </a:r>
            <a:r>
              <a:rPr lang="en-US" altLang="zh-CN" sz="2400" dirty="0"/>
              <a:t>N</a:t>
            </a:r>
            <a:r>
              <a:rPr lang="zh-CN" altLang="en-US" sz="2400" dirty="0"/>
              <a:t>进制计数器分别变为</a:t>
            </a:r>
            <a:r>
              <a:rPr lang="en-US" altLang="zh-CN" sz="2400" dirty="0"/>
              <a:t>N1</a:t>
            </a:r>
            <a:r>
              <a:rPr lang="zh-CN" altLang="en-US" sz="2400" dirty="0"/>
              <a:t>和</a:t>
            </a:r>
            <a:r>
              <a:rPr lang="en-US" altLang="zh-CN" sz="2400" dirty="0"/>
              <a:t>N2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715F46-6F08-1DDC-483D-24D5ABA5B09C}"/>
              </a:ext>
            </a:extLst>
          </p:cNvPr>
          <p:cNvSpPr txBox="1"/>
          <p:nvPr/>
        </p:nvSpPr>
        <p:spPr>
          <a:xfrm>
            <a:off x="3039427" y="3446828"/>
            <a:ext cx="68215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并行进位：用同一个</a:t>
            </a:r>
            <a:r>
              <a:rPr lang="en-US" altLang="zh-CN" sz="2400" dirty="0"/>
              <a:t>CLK</a:t>
            </a:r>
            <a:r>
              <a:rPr lang="zh-CN" altLang="en-US" sz="2400" dirty="0"/>
              <a:t>，低位片的</a:t>
            </a:r>
            <a:r>
              <a:rPr lang="zh-CN" altLang="en-US" sz="2400" b="1" dirty="0"/>
              <a:t>进位输出</a:t>
            </a:r>
            <a:r>
              <a:rPr lang="zh-CN" altLang="en-US" sz="2400" dirty="0"/>
              <a:t>作为高位片的计数控制信号。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193B1C-7543-2AEC-9751-3BC1D82AB0AF}"/>
              </a:ext>
            </a:extLst>
          </p:cNvPr>
          <p:cNvSpPr txBox="1"/>
          <p:nvPr/>
        </p:nvSpPr>
        <p:spPr>
          <a:xfrm>
            <a:off x="483871" y="4544066"/>
            <a:ext cx="3939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M&gt;N</a:t>
            </a:r>
            <a:r>
              <a:rPr lang="zh-CN" altLang="en-US" sz="2800" dirty="0"/>
              <a:t>，且</a:t>
            </a:r>
            <a:r>
              <a:rPr lang="en-US" altLang="zh-CN" sz="2800" dirty="0"/>
              <a:t>M</a:t>
            </a:r>
            <a:r>
              <a:rPr lang="zh-CN" altLang="en-US" sz="2800" dirty="0"/>
              <a:t>是素数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7FD94B-A4B1-24AA-23E2-A5667DA6194F}"/>
              </a:ext>
            </a:extLst>
          </p:cNvPr>
          <p:cNvSpPr txBox="1"/>
          <p:nvPr/>
        </p:nvSpPr>
        <p:spPr>
          <a:xfrm>
            <a:off x="398621" y="5285639"/>
            <a:ext cx="6097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 </a:t>
            </a:r>
            <a:r>
              <a:rPr lang="zh-CN" altLang="en-US" sz="2800" dirty="0"/>
              <a:t>两片</a:t>
            </a:r>
            <a:r>
              <a:rPr lang="en-US" altLang="zh-CN" sz="2800" dirty="0"/>
              <a:t>N</a:t>
            </a:r>
            <a:r>
              <a:rPr lang="zh-CN" altLang="en-US" sz="2800" dirty="0"/>
              <a:t>进制级联成</a:t>
            </a:r>
            <a:r>
              <a:rPr lang="en-US" altLang="zh-CN" sz="2800" dirty="0"/>
              <a:t>N*N</a:t>
            </a:r>
            <a:r>
              <a:rPr lang="zh-CN" altLang="en-US" sz="2800" dirty="0"/>
              <a:t>进制计数器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3FB928-DF73-708E-68F4-BCE0F2920393}"/>
              </a:ext>
            </a:extLst>
          </p:cNvPr>
          <p:cNvSpPr txBox="1"/>
          <p:nvPr/>
        </p:nvSpPr>
        <p:spPr>
          <a:xfrm>
            <a:off x="424576" y="6027212"/>
            <a:ext cx="742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2. </a:t>
            </a:r>
            <a:r>
              <a:rPr lang="zh-CN" altLang="en-US" sz="2800" dirty="0"/>
              <a:t>整体置零（</a:t>
            </a:r>
            <a:r>
              <a:rPr lang="en-US" altLang="zh-CN" sz="2800" dirty="0"/>
              <a:t>Rd</a:t>
            </a:r>
            <a:r>
              <a:rPr lang="zh-CN" altLang="en-US" sz="2800" dirty="0"/>
              <a:t>）和整体置数（</a:t>
            </a:r>
            <a:r>
              <a:rPr lang="en-US" altLang="zh-CN" sz="2800" dirty="0" err="1"/>
              <a:t>Ld</a:t>
            </a:r>
            <a:r>
              <a:rPr lang="zh-CN" altLang="en-US" sz="2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863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8B784-8774-45BF-99F6-8B5758BC8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130474"/>
            <a:ext cx="5172247" cy="112338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顺序脉冲发生器和序列信号发生器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961680-9DA0-4C94-06CA-1F84B0F2A543}"/>
              </a:ext>
            </a:extLst>
          </p:cNvPr>
          <p:cNvSpPr txBox="1"/>
          <p:nvPr/>
        </p:nvSpPr>
        <p:spPr>
          <a:xfrm>
            <a:off x="465449" y="2736502"/>
            <a:ext cx="50916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输入：无</a:t>
            </a:r>
            <a:endParaRPr lang="en-US" altLang="zh-CN" sz="2800" dirty="0"/>
          </a:p>
          <a:p>
            <a:r>
              <a:rPr lang="zh-CN" altLang="en-US" sz="2800" dirty="0"/>
              <a:t>输出：脉冲</a:t>
            </a:r>
            <a:r>
              <a:rPr lang="en-US" altLang="zh-CN" sz="2800" dirty="0"/>
              <a:t>/</a:t>
            </a:r>
            <a:r>
              <a:rPr lang="zh-CN" altLang="en-US" sz="2800" dirty="0"/>
              <a:t>序列信号个数</a:t>
            </a:r>
            <a:endParaRPr lang="en-US" altLang="zh-CN" sz="2800" dirty="0"/>
          </a:p>
          <a:p>
            <a:r>
              <a:rPr lang="zh-CN" altLang="en-US" sz="2800" dirty="0"/>
              <a:t>状态数：序列的长度</a:t>
            </a:r>
            <a:r>
              <a:rPr lang="en-US" altLang="zh-CN" sz="2800" dirty="0"/>
              <a:t>L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94D13F-FAB4-8DF9-D5C5-AD21466D93F4}"/>
              </a:ext>
            </a:extLst>
          </p:cNvPr>
          <p:cNvSpPr txBox="1"/>
          <p:nvPr/>
        </p:nvSpPr>
        <p:spPr>
          <a:xfrm>
            <a:off x="487095" y="1513541"/>
            <a:ext cx="3234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逻辑抽象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CC1D590B-80FE-CDD5-BF45-DACA13042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41945" y="157652"/>
              <a:ext cx="1884802" cy="3507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992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627405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627405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CC1D590B-80FE-CDD5-BF45-DACA13042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649296"/>
                  </p:ext>
                </p:extLst>
              </p:nvPr>
            </p:nvGraphicFramePr>
            <p:xfrm>
              <a:off x="5641945" y="157652"/>
              <a:ext cx="1884802" cy="3507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992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627405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627405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962" t="-1563" r="-201923" b="-8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1942" t="-1563" r="-103883" b="-8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1942" t="-1563" r="-3883" b="-8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E2A9AD5A-6BDF-73F0-797C-3B7FF77449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26748" y="150748"/>
              <a:ext cx="1731817" cy="3507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E2A9AD5A-6BDF-73F0-797C-3B7FF77449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380896"/>
                  </p:ext>
                </p:extLst>
              </p:nvPr>
            </p:nvGraphicFramePr>
            <p:xfrm>
              <a:off x="7526748" y="150748"/>
              <a:ext cx="1731817" cy="3507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75" t="-1563" r="-210753" b="-8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97917" t="-1563" r="-104167" b="-8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97917" t="-1563" r="-4167" b="-8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8615D65-38F9-B15B-1195-FD3232D6A012}"/>
              </a:ext>
            </a:extLst>
          </p:cNvPr>
          <p:cNvGraphicFramePr>
            <a:graphicFrameLocks noGrp="1"/>
          </p:cNvGraphicFramePr>
          <p:nvPr/>
        </p:nvGraphicFramePr>
        <p:xfrm>
          <a:off x="9251647" y="157652"/>
          <a:ext cx="581891" cy="3507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891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8E25DF2-C9A4-B1EB-383A-38768A5BB0E7}"/>
              </a:ext>
            </a:extLst>
          </p:cNvPr>
          <p:cNvSpPr txBox="1"/>
          <p:nvPr/>
        </p:nvSpPr>
        <p:spPr>
          <a:xfrm>
            <a:off x="6502839" y="3743956"/>
            <a:ext cx="2755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计数器现态和次态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69D6788-4D39-6DC5-2662-BE2E2D2E9259}"/>
              </a:ext>
            </a:extLst>
          </p:cNvPr>
          <p:cNvGraphicFramePr>
            <a:graphicFrameLocks noGrp="1"/>
          </p:cNvGraphicFramePr>
          <p:nvPr/>
        </p:nvGraphicFramePr>
        <p:xfrm>
          <a:off x="9830975" y="157652"/>
          <a:ext cx="581891" cy="3507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891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6223300-883A-8B7A-3B46-D88184267A67}"/>
              </a:ext>
            </a:extLst>
          </p:cNvPr>
          <p:cNvGraphicFramePr>
            <a:graphicFrameLocks noGrp="1"/>
          </p:cNvGraphicFramePr>
          <p:nvPr/>
        </p:nvGraphicFramePr>
        <p:xfrm>
          <a:off x="10436669" y="157652"/>
          <a:ext cx="581891" cy="3507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891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D62F6699-3DA8-C443-604D-AA734FE160CB}"/>
              </a:ext>
            </a:extLst>
          </p:cNvPr>
          <p:cNvSpPr/>
          <p:nvPr/>
        </p:nvSpPr>
        <p:spPr>
          <a:xfrm>
            <a:off x="9310558" y="79044"/>
            <a:ext cx="461507" cy="366491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779A64-6A15-DB4D-211B-D2844FFC9866}"/>
              </a:ext>
            </a:extLst>
          </p:cNvPr>
          <p:cNvSpPr txBox="1"/>
          <p:nvPr/>
        </p:nvSpPr>
        <p:spPr>
          <a:xfrm>
            <a:off x="9086852" y="3822564"/>
            <a:ext cx="7441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填入第一个脉冲</a:t>
            </a:r>
            <a:r>
              <a:rPr lang="en-US" altLang="zh-CN" sz="2000" dirty="0"/>
              <a:t>/</a:t>
            </a:r>
            <a:r>
              <a:rPr lang="zh-CN" altLang="en-US" sz="2000" dirty="0"/>
              <a:t>序列信号。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0033DC-616B-B21F-3F65-89E5C27C66AC}"/>
              </a:ext>
            </a:extLst>
          </p:cNvPr>
          <p:cNvSpPr/>
          <p:nvPr/>
        </p:nvSpPr>
        <p:spPr>
          <a:xfrm>
            <a:off x="5505601" y="79044"/>
            <a:ext cx="3709625" cy="366491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5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4" grpId="0" animBg="1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1442C-C413-2D59-65FA-0285C46D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24" y="-241116"/>
            <a:ext cx="10515600" cy="1325563"/>
          </a:xfrm>
        </p:spPr>
        <p:txBody>
          <a:bodyPr/>
          <a:lstStyle/>
          <a:p>
            <a:r>
              <a:rPr lang="zh-CN" altLang="en-US" dirty="0"/>
              <a:t>第二章 门电路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A5035D3-3377-4A56-77E9-2713F9A6C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64109" y="3523855"/>
            <a:ext cx="1670247" cy="19328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9CDFC6-5111-FDB3-DE95-3138FEF43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356" y="741178"/>
            <a:ext cx="1873891" cy="1932818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4039A6DC-0C7D-8BA0-5BDE-52CEABF548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2064" y="1173199"/>
          <a:ext cx="2388871" cy="3704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5" imgW="7819048" imgH="12123810" progId="MSPhotoEd.3">
                  <p:embed/>
                </p:oleObj>
              </mc:Choice>
              <mc:Fallback>
                <p:oleObj name="Photo Editor 照片" r:id="rId5" imgW="7819048" imgH="12123810" progId="MSPhotoEd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4039A6DC-0C7D-8BA0-5BDE-52CEABF548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064" y="1173199"/>
                        <a:ext cx="2388871" cy="3704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7875CE3-C58B-3394-BF6D-2BD283906544}"/>
              </a:ext>
            </a:extLst>
          </p:cNvPr>
          <p:cNvCxnSpPr>
            <a:cxnSpLocks/>
          </p:cNvCxnSpPr>
          <p:nvPr/>
        </p:nvCxnSpPr>
        <p:spPr>
          <a:xfrm>
            <a:off x="5924781" y="1960295"/>
            <a:ext cx="854446" cy="696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98FEC2D-AD78-E3AD-8A97-BC35CDE73EAD}"/>
              </a:ext>
            </a:extLst>
          </p:cNvPr>
          <p:cNvCxnSpPr>
            <a:cxnSpLocks/>
          </p:cNvCxnSpPr>
          <p:nvPr/>
        </p:nvCxnSpPr>
        <p:spPr>
          <a:xfrm flipV="1">
            <a:off x="5960142" y="3457495"/>
            <a:ext cx="801540" cy="743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096D256-7F5D-7529-76D9-C4116400165F}"/>
              </a:ext>
            </a:extLst>
          </p:cNvPr>
          <p:cNvSpPr txBox="1"/>
          <p:nvPr/>
        </p:nvSpPr>
        <p:spPr>
          <a:xfrm>
            <a:off x="244467" y="1553488"/>
            <a:ext cx="5202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GS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&lt;-V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，形成沟道，导通</a:t>
            </a:r>
            <a:endParaRPr lang="zh-CN" altLang="en-US" sz="2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64AC5F-608B-ECE1-9356-4B22247C47CE}"/>
              </a:ext>
            </a:extLst>
          </p:cNvPr>
          <p:cNvSpPr txBox="1"/>
          <p:nvPr/>
        </p:nvSpPr>
        <p:spPr>
          <a:xfrm>
            <a:off x="4429916" y="2596065"/>
            <a:ext cx="231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zh-CN" altLang="en-US" dirty="0"/>
              <a:t>沟道增强型</a:t>
            </a:r>
            <a:r>
              <a:rPr lang="en-US" altLang="zh-CN" dirty="0"/>
              <a:t>MOS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EA3002-0CF7-2BD7-97A5-F25DA569DA81}"/>
              </a:ext>
            </a:extLst>
          </p:cNvPr>
          <p:cNvSpPr txBox="1"/>
          <p:nvPr/>
        </p:nvSpPr>
        <p:spPr>
          <a:xfrm>
            <a:off x="5007712" y="5577419"/>
            <a:ext cx="231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沟道增强型</a:t>
            </a:r>
            <a:r>
              <a:rPr lang="en-US" altLang="zh-CN" dirty="0"/>
              <a:t>MOS</a:t>
            </a:r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8D706DC-90DB-FF37-0EFA-F2B91150C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7281" y="3390573"/>
            <a:ext cx="4029704" cy="2973374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9CD615C-2843-4C19-A85D-439FEEE4927C}"/>
              </a:ext>
            </a:extLst>
          </p:cNvPr>
          <p:cNvCxnSpPr>
            <a:cxnSpLocks/>
          </p:cNvCxnSpPr>
          <p:nvPr/>
        </p:nvCxnSpPr>
        <p:spPr>
          <a:xfrm flipH="1" flipV="1">
            <a:off x="2229633" y="5881352"/>
            <a:ext cx="1092222" cy="6110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DD926CC-CBF2-9455-47C5-6F00B3FA16AE}"/>
                  </a:ext>
                </a:extLst>
              </p:cNvPr>
              <p:cNvSpPr txBox="1"/>
              <p:nvPr/>
            </p:nvSpPr>
            <p:spPr>
              <a:xfrm>
                <a:off x="2498247" y="6390072"/>
                <a:ext cx="28842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截止区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DD926CC-CBF2-9455-47C5-6F00B3FA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247" y="6390072"/>
                <a:ext cx="2884234" cy="461665"/>
              </a:xfrm>
              <a:prstGeom prst="rect">
                <a:avLst/>
              </a:prstGeom>
              <a:blipFill>
                <a:blip r:embed="rId8"/>
                <a:stretch>
                  <a:fillRect l="-3383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D29C3E6-366A-3C98-C198-A1DDFB6A2CC0}"/>
              </a:ext>
            </a:extLst>
          </p:cNvPr>
          <p:cNvCxnSpPr>
            <a:cxnSpLocks/>
          </p:cNvCxnSpPr>
          <p:nvPr/>
        </p:nvCxnSpPr>
        <p:spPr>
          <a:xfrm>
            <a:off x="915412" y="4100066"/>
            <a:ext cx="234189" cy="7172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F6073EE-D856-2F34-57DD-F62CCBA36BA1}"/>
                  </a:ext>
                </a:extLst>
              </p:cNvPr>
              <p:cNvSpPr txBox="1"/>
              <p:nvPr/>
            </p:nvSpPr>
            <p:spPr>
              <a:xfrm>
                <a:off x="436629" y="3132253"/>
                <a:ext cx="5406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线性区：形成沟道，导通，电阻小</a:t>
                </a:r>
                <a:endParaRPr lang="en-US" altLang="zh-CN" sz="2400" dirty="0"/>
              </a:p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F6073EE-D856-2F34-57DD-F62CCBA36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29" y="3132253"/>
                <a:ext cx="5406697" cy="830997"/>
              </a:xfrm>
              <a:prstGeom prst="rect">
                <a:avLst/>
              </a:prstGeom>
              <a:blipFill>
                <a:blip r:embed="rId9"/>
                <a:stretch>
                  <a:fillRect l="-1804" t="-5147" b="-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024225EA-2C23-7737-EF1D-482F1E731946}"/>
              </a:ext>
            </a:extLst>
          </p:cNvPr>
          <p:cNvSpPr txBox="1"/>
          <p:nvPr/>
        </p:nvSpPr>
        <p:spPr>
          <a:xfrm>
            <a:off x="7263559" y="650274"/>
            <a:ext cx="1659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CMOS</a:t>
            </a:r>
            <a:endParaRPr lang="zh-CN" altLang="en-US" sz="2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5F244EB-07CD-6D2B-DCC5-6B4503A65D37}"/>
              </a:ext>
            </a:extLst>
          </p:cNvPr>
          <p:cNvSpPr txBox="1"/>
          <p:nvPr/>
        </p:nvSpPr>
        <p:spPr>
          <a:xfrm>
            <a:off x="696424" y="6020740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输出特性曲线</a:t>
            </a:r>
          </a:p>
        </p:txBody>
      </p:sp>
    </p:spTree>
    <p:extLst>
      <p:ext uri="{BB962C8B-B14F-4D97-AF65-F5344CB8AC3E}">
        <p14:creationId xmlns:p14="http://schemas.microsoft.com/office/powerpoint/2010/main" val="415654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9" grpId="0"/>
      <p:bldP spid="31" grpId="0"/>
      <p:bldP spid="32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E780E-1E8F-B09A-A821-A0DD7CB4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62" y="18255"/>
            <a:ext cx="10515600" cy="1325563"/>
          </a:xfrm>
        </p:spPr>
        <p:txBody>
          <a:bodyPr/>
          <a:lstStyle/>
          <a:p>
            <a:r>
              <a:rPr lang="zh-CN" altLang="en-US" dirty="0"/>
              <a:t>第二章 门电路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B6C038A-DF05-C76F-6BF8-BD32384E5AA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87398" y="2165270"/>
          <a:ext cx="2806322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7819048" imgH="12123810" progId="MSPhotoEd.3">
                  <p:embed/>
                </p:oleObj>
              </mc:Choice>
              <mc:Fallback>
                <p:oleObj name="Photo Editor 照片" r:id="rId2" imgW="7819048" imgH="12123810" progId="MSPhotoEd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B6C038A-DF05-C76F-6BF8-BD32384E5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98" y="2165270"/>
                        <a:ext cx="2806322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B09240E-D8FD-3FF9-A161-808844914A0A}"/>
              </a:ext>
            </a:extLst>
          </p:cNvPr>
          <p:cNvSpPr txBox="1"/>
          <p:nvPr/>
        </p:nvSpPr>
        <p:spPr>
          <a:xfrm>
            <a:off x="412315" y="1343818"/>
            <a:ext cx="2581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CMOS</a:t>
            </a:r>
            <a:r>
              <a:rPr lang="zh-CN" altLang="en-US" sz="2800" dirty="0"/>
              <a:t>反相器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28AF90-374D-FDCA-3D91-A4043D5C3E76}"/>
              </a:ext>
            </a:extLst>
          </p:cNvPr>
          <p:cNvSpPr txBox="1"/>
          <p:nvPr/>
        </p:nvSpPr>
        <p:spPr>
          <a:xfrm>
            <a:off x="2993720" y="1343818"/>
            <a:ext cx="4530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基本结构：</a:t>
            </a:r>
            <a:r>
              <a:rPr lang="en-US" altLang="zh-CN" sz="2400" dirty="0"/>
              <a:t>NMOS+PMOS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3732FD40-07A7-C7B1-4B05-C6F0BCF2CA63}"/>
                  </a:ext>
                </a:extLst>
              </p:cNvPr>
              <p:cNvSpPr txBox="1"/>
              <p:nvPr/>
            </p:nvSpPr>
            <p:spPr bwMode="auto">
              <a:xfrm>
                <a:off x="2993720" y="1961561"/>
                <a:ext cx="5308979" cy="16180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IL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导通，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截止，输出为高电平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OH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，且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OH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3732FD40-07A7-C7B1-4B05-C6F0BCF2C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3720" y="1961561"/>
                <a:ext cx="5308979" cy="1618049"/>
              </a:xfrm>
              <a:prstGeom prst="rect">
                <a:avLst/>
              </a:prstGeom>
              <a:blipFill>
                <a:blip r:embed="rId4"/>
                <a:stretch>
                  <a:fillRect l="-2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396A837F-B048-9DD8-436A-0E79277FA512}"/>
                  </a:ext>
                </a:extLst>
              </p:cNvPr>
              <p:cNvSpPr txBox="1"/>
              <p:nvPr/>
            </p:nvSpPr>
            <p:spPr bwMode="auto">
              <a:xfrm>
                <a:off x="3039439" y="3612579"/>
                <a:ext cx="4887355" cy="16180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lang="en-US" altLang="zh-CN" sz="2400" dirty="0">
                    <a:solidFill>
                      <a:srgbClr val="000000"/>
                    </a:solidFill>
                  </a:rPr>
                  <a:t>CD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当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𝐺𝑆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𝑇𝐻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截止，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导通，输出为低电平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OL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，且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OL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396A837F-B048-9DD8-436A-0E79277FA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9439" y="3612579"/>
                <a:ext cx="4887355" cy="1618049"/>
              </a:xfrm>
              <a:prstGeom prst="rect">
                <a:avLst/>
              </a:prstGeom>
              <a:blipFill>
                <a:blip r:embed="rId5"/>
                <a:stretch>
                  <a:fillRect l="-1998" t="-7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3">
            <a:extLst>
              <a:ext uri="{FF2B5EF4-FFF2-40B4-BE49-F238E27FC236}">
                <a16:creationId xmlns:a16="http://schemas.microsoft.com/office/drawing/2014/main" id="{EE1DBBDC-19E8-6E4B-E1C3-1FD7D2A84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806" y="1167752"/>
            <a:ext cx="4234711" cy="3595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CF547E-9D59-C87A-4F28-EB71947C2623}"/>
                  </a:ext>
                </a:extLst>
              </p:cNvPr>
              <p:cNvSpPr txBox="1"/>
              <p:nvPr/>
            </p:nvSpPr>
            <p:spPr>
              <a:xfrm>
                <a:off x="3147402" y="5140512"/>
                <a:ext cx="6093724" cy="88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段：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𝐺𝑆</m:t>
                              </m:r>
                              <m:d>
                                <m:d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同时导通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CF547E-9D59-C87A-4F28-EB71947C2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02" y="5140512"/>
                <a:ext cx="6093724" cy="883319"/>
              </a:xfrm>
              <a:prstGeom prst="rect">
                <a:avLst/>
              </a:prstGeom>
              <a:blipFill>
                <a:blip r:embed="rId7"/>
                <a:stretch>
                  <a:fillRect l="-200" b="-8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EE8DD78E-220D-1633-401F-782762947615}"/>
              </a:ext>
            </a:extLst>
          </p:cNvPr>
          <p:cNvSpPr txBox="1"/>
          <p:nvPr/>
        </p:nvSpPr>
        <p:spPr>
          <a:xfrm>
            <a:off x="3147402" y="6170440"/>
            <a:ext cx="3328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只在</a:t>
            </a:r>
            <a:r>
              <a:rPr lang="en-US" altLang="zh-CN" sz="2400" dirty="0"/>
              <a:t>BC</a:t>
            </a:r>
            <a:r>
              <a:rPr lang="zh-CN" altLang="en-US" sz="2400" dirty="0"/>
              <a:t>段有输出电流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17499FF-7AE1-D5AB-8D2C-4F67306BC8E0}"/>
                  </a:ext>
                </a:extLst>
              </p:cNvPr>
              <p:cNvSpPr txBox="1"/>
              <p:nvPr/>
            </p:nvSpPr>
            <p:spPr>
              <a:xfrm>
                <a:off x="6527722" y="6094329"/>
                <a:ext cx="4128678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时，</m:t>
                    </m:r>
                  </m:oMath>
                </a14:m>
                <a:r>
                  <a:rPr lang="zh-CN" altLang="en-US" sz="2400" dirty="0"/>
                  <a:t>输出电流最大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17499FF-7AE1-D5AB-8D2C-4F67306BC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22" y="6094329"/>
                <a:ext cx="4128678" cy="613886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53A7511F-A902-26D5-28E1-A5958AB13D50}"/>
              </a:ext>
            </a:extLst>
          </p:cNvPr>
          <p:cNvSpPr txBox="1"/>
          <p:nvPr/>
        </p:nvSpPr>
        <p:spPr>
          <a:xfrm>
            <a:off x="8202491" y="751159"/>
            <a:ext cx="2682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电压传输曲线</a:t>
            </a:r>
          </a:p>
        </p:txBody>
      </p:sp>
    </p:spTree>
    <p:extLst>
      <p:ext uri="{BB962C8B-B14F-4D97-AF65-F5344CB8AC3E}">
        <p14:creationId xmlns:p14="http://schemas.microsoft.com/office/powerpoint/2010/main" val="370457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6" grpId="0"/>
      <p:bldP spid="18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B4FB54-765F-2F91-4C53-CF36D1FC37DE}"/>
              </a:ext>
            </a:extLst>
          </p:cNvPr>
          <p:cNvSpPr txBox="1"/>
          <p:nvPr/>
        </p:nvSpPr>
        <p:spPr>
          <a:xfrm>
            <a:off x="156372" y="124352"/>
            <a:ext cx="2964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CMOS</a:t>
            </a:r>
            <a:r>
              <a:rPr lang="zh-CN" altLang="en-US" sz="3200" dirty="0"/>
              <a:t>反向器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D0459332-CFAF-E2EC-F6C8-7C89C21B4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663" y="-265852"/>
            <a:ext cx="6636482" cy="5634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CD481CB-17D9-FDD0-B90F-09FB192BB8C3}"/>
              </a:ext>
            </a:extLst>
          </p:cNvPr>
          <p:cNvCxnSpPr>
            <a:cxnSpLocks/>
          </p:cNvCxnSpPr>
          <p:nvPr/>
        </p:nvCxnSpPr>
        <p:spPr>
          <a:xfrm>
            <a:off x="8438419" y="1336240"/>
            <a:ext cx="0" cy="306198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672A1D-EE63-FFC1-FA59-63B4D27DD3D8}"/>
              </a:ext>
            </a:extLst>
          </p:cNvPr>
          <p:cNvCxnSpPr>
            <a:cxnSpLocks/>
          </p:cNvCxnSpPr>
          <p:nvPr/>
        </p:nvCxnSpPr>
        <p:spPr>
          <a:xfrm>
            <a:off x="9149619" y="1336240"/>
            <a:ext cx="0" cy="310902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175C1BF-0176-AA98-D0AE-4A38931E1A0E}"/>
              </a:ext>
            </a:extLst>
          </p:cNvPr>
          <p:cNvSpPr txBox="1"/>
          <p:nvPr/>
        </p:nvSpPr>
        <p:spPr>
          <a:xfrm>
            <a:off x="6987447" y="5033706"/>
            <a:ext cx="1155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输入低电平的最大值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C8522F6-2CF1-18D5-22A0-FDCF5D2502E5}"/>
              </a:ext>
            </a:extLst>
          </p:cNvPr>
          <p:cNvCxnSpPr>
            <a:cxnSpLocks/>
          </p:cNvCxnSpPr>
          <p:nvPr/>
        </p:nvCxnSpPr>
        <p:spPr>
          <a:xfrm flipV="1">
            <a:off x="7600312" y="4445267"/>
            <a:ext cx="838109" cy="76546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948A8B8-7474-CC52-7F94-B25541907BB0}"/>
                  </a:ext>
                </a:extLst>
              </p:cNvPr>
              <p:cNvSpPr txBox="1"/>
              <p:nvPr/>
            </p:nvSpPr>
            <p:spPr>
              <a:xfrm>
                <a:off x="7025901" y="6052768"/>
                <a:ext cx="1155698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948A8B8-7474-CC52-7F94-B2554190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901" y="6052768"/>
                <a:ext cx="1155698" cy="497252"/>
              </a:xfrm>
              <a:prstGeom prst="rect">
                <a:avLst/>
              </a:prstGeom>
              <a:blipFill>
                <a:blip r:embed="rId4"/>
                <a:stretch>
                  <a:fillRect l="-1587" r="-3704" b="-12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0914D187-07F9-93B9-288A-48BBD24BE790}"/>
              </a:ext>
            </a:extLst>
          </p:cNvPr>
          <p:cNvSpPr txBox="1"/>
          <p:nvPr/>
        </p:nvSpPr>
        <p:spPr>
          <a:xfrm>
            <a:off x="10400939" y="4993350"/>
            <a:ext cx="1155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输入高电平的最小值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F1AFA4F-B0AF-1EB0-7F26-153D149F7456}"/>
              </a:ext>
            </a:extLst>
          </p:cNvPr>
          <p:cNvCxnSpPr>
            <a:cxnSpLocks/>
          </p:cNvCxnSpPr>
          <p:nvPr/>
        </p:nvCxnSpPr>
        <p:spPr>
          <a:xfrm flipH="1" flipV="1">
            <a:off x="9149619" y="4445267"/>
            <a:ext cx="1238251" cy="7654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64A65A3-F47A-DEA0-9724-2CD51572E5B5}"/>
                  </a:ext>
                </a:extLst>
              </p:cNvPr>
              <p:cNvSpPr txBox="1"/>
              <p:nvPr/>
            </p:nvSpPr>
            <p:spPr>
              <a:xfrm>
                <a:off x="10409754" y="6049223"/>
                <a:ext cx="1346579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𝐼𝐻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64A65A3-F47A-DEA0-9724-2CD51572E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754" y="6049223"/>
                <a:ext cx="1346579" cy="497252"/>
              </a:xfrm>
              <a:prstGeom prst="rect">
                <a:avLst/>
              </a:prstGeom>
              <a:blipFill>
                <a:blip r:embed="rId5"/>
                <a:stretch>
                  <a:fillRect l="-1357" b="-10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7DE9D4C-1B28-75F1-2E2C-F8AE206BA5F0}"/>
              </a:ext>
            </a:extLst>
          </p:cNvPr>
          <p:cNvCxnSpPr>
            <a:cxnSpLocks/>
          </p:cNvCxnSpPr>
          <p:nvPr/>
        </p:nvCxnSpPr>
        <p:spPr>
          <a:xfrm>
            <a:off x="7213580" y="1336240"/>
            <a:ext cx="1224839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BBC823A-9459-2241-B099-A4BF0EE863F6}"/>
              </a:ext>
            </a:extLst>
          </p:cNvPr>
          <p:cNvCxnSpPr>
            <a:cxnSpLocks/>
          </p:cNvCxnSpPr>
          <p:nvPr/>
        </p:nvCxnSpPr>
        <p:spPr>
          <a:xfrm>
            <a:off x="7213580" y="4271457"/>
            <a:ext cx="3196174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E9341B0-64A8-2171-F052-5C0B2655B347}"/>
              </a:ext>
            </a:extLst>
          </p:cNvPr>
          <p:cNvSpPr txBox="1"/>
          <p:nvPr/>
        </p:nvSpPr>
        <p:spPr>
          <a:xfrm>
            <a:off x="5282833" y="3941099"/>
            <a:ext cx="1155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输出低电平的最大值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9587E5-D461-A4CC-E26A-C0ED83FEB7FC}"/>
              </a:ext>
            </a:extLst>
          </p:cNvPr>
          <p:cNvSpPr txBox="1"/>
          <p:nvPr/>
        </p:nvSpPr>
        <p:spPr>
          <a:xfrm>
            <a:off x="5144190" y="408987"/>
            <a:ext cx="13200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输出高电平的最小值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EE271F-C3C3-74F1-5202-6D5AAE069948}"/>
                  </a:ext>
                </a:extLst>
              </p:cNvPr>
              <p:cNvSpPr txBox="1"/>
              <p:nvPr/>
            </p:nvSpPr>
            <p:spPr>
              <a:xfrm>
                <a:off x="5244369" y="1489542"/>
                <a:ext cx="12198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𝑂𝐻𝑚𝑖𝑛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EE271F-C3C3-74F1-5202-6D5AAE06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369" y="1489542"/>
                <a:ext cx="1219894" cy="461665"/>
              </a:xfrm>
              <a:prstGeom prst="rect">
                <a:avLst/>
              </a:prstGeom>
              <a:blipFill>
                <a:blip r:embed="rId6"/>
                <a:stretch>
                  <a:fillRect l="-1000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1A73C8C-5DFB-22C3-CAE8-CB9A4A33BF54}"/>
                  </a:ext>
                </a:extLst>
              </p:cNvPr>
              <p:cNvSpPr txBox="1"/>
              <p:nvPr/>
            </p:nvSpPr>
            <p:spPr>
              <a:xfrm>
                <a:off x="5040440" y="4979900"/>
                <a:ext cx="16637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𝑂𝐿𝑚𝑎𝑥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1A73C8C-5DFB-22C3-CAE8-CB9A4A33B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440" y="4979900"/>
                <a:ext cx="1663700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8FB9309-C145-97CB-396C-2FB7A9C1B4D8}"/>
              </a:ext>
            </a:extLst>
          </p:cNvPr>
          <p:cNvCxnSpPr>
            <a:cxnSpLocks/>
          </p:cNvCxnSpPr>
          <p:nvPr/>
        </p:nvCxnSpPr>
        <p:spPr>
          <a:xfrm flipV="1">
            <a:off x="6056822" y="1363974"/>
            <a:ext cx="1156757" cy="35512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9E9E236-EE9E-45CB-23AF-2DDB291267EC}"/>
              </a:ext>
            </a:extLst>
          </p:cNvPr>
          <p:cNvCxnSpPr>
            <a:cxnSpLocks/>
          </p:cNvCxnSpPr>
          <p:nvPr/>
        </p:nvCxnSpPr>
        <p:spPr>
          <a:xfrm flipV="1">
            <a:off x="6353849" y="4271457"/>
            <a:ext cx="824436" cy="104807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2">
            <a:extLst>
              <a:ext uri="{FF2B5EF4-FFF2-40B4-BE49-F238E27FC236}">
                <a16:creationId xmlns:a16="http://schemas.microsoft.com/office/drawing/2014/main" id="{40674F1E-6B9C-38C2-9390-755C92437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29" y="677734"/>
            <a:ext cx="4045103" cy="3589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9E85A05-A922-44BF-F4F9-A243A0B3565C}"/>
              </a:ext>
            </a:extLst>
          </p:cNvPr>
          <p:cNvSpPr txBox="1"/>
          <p:nvPr/>
        </p:nvSpPr>
        <p:spPr>
          <a:xfrm>
            <a:off x="262133" y="3986721"/>
            <a:ext cx="23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噪声容限</a:t>
            </a:r>
            <a:r>
              <a:rPr lang="en-US" altLang="zh-CN" sz="3200" dirty="0"/>
              <a:t>·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77222FAA-1AB8-CE27-1D44-5609268F8AFF}"/>
                  </a:ext>
                </a:extLst>
              </p:cNvPr>
              <p:cNvSpPr txBox="1"/>
              <p:nvPr/>
            </p:nvSpPr>
            <p:spPr bwMode="auto">
              <a:xfrm>
                <a:off x="932452" y="6168713"/>
                <a:ext cx="4891217" cy="6233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77222FAA-1AB8-CE27-1D44-5609268F8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2452" y="6168713"/>
                <a:ext cx="4891217" cy="623306"/>
              </a:xfrm>
              <a:prstGeom prst="rect">
                <a:avLst/>
              </a:prstGeom>
              <a:blipFill>
                <a:blip r:embed="rId9"/>
                <a:stretch>
                  <a:fillRect l="-3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3">
            <a:extLst>
              <a:ext uri="{FF2B5EF4-FFF2-40B4-BE49-F238E27FC236}">
                <a16:creationId xmlns:a16="http://schemas.microsoft.com/office/drawing/2014/main" id="{D8FD06E2-F15E-3C2A-4779-914CF57C7FD8}"/>
              </a:ext>
            </a:extLst>
          </p:cNvPr>
          <p:cNvSpPr txBox="1"/>
          <p:nvPr/>
        </p:nvSpPr>
        <p:spPr>
          <a:xfrm>
            <a:off x="411678" y="4577731"/>
            <a:ext cx="3844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输入高电平的噪声容限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6">
                <a:extLst>
                  <a:ext uri="{FF2B5EF4-FFF2-40B4-BE49-F238E27FC236}">
                    <a16:creationId xmlns:a16="http://schemas.microsoft.com/office/drawing/2014/main" id="{6614EA2D-587A-DA4E-DC0B-D088EA165774}"/>
                  </a:ext>
                </a:extLst>
              </p:cNvPr>
              <p:cNvSpPr txBox="1"/>
              <p:nvPr/>
            </p:nvSpPr>
            <p:spPr>
              <a:xfrm>
                <a:off x="514767" y="5085648"/>
                <a:ext cx="4460789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𝑁𝐻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𝑂𝐻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𝐼𝐻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文本框 6">
                <a:extLst>
                  <a:ext uri="{FF2B5EF4-FFF2-40B4-BE49-F238E27FC236}">
                    <a16:creationId xmlns:a16="http://schemas.microsoft.com/office/drawing/2014/main" id="{6614EA2D-587A-DA4E-DC0B-D088EA165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67" y="5085648"/>
                <a:ext cx="4460789" cy="497252"/>
              </a:xfrm>
              <a:prstGeom prst="rect">
                <a:avLst/>
              </a:prstGeom>
              <a:blipFill>
                <a:blip r:embed="rId10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7">
            <a:extLst>
              <a:ext uri="{FF2B5EF4-FFF2-40B4-BE49-F238E27FC236}">
                <a16:creationId xmlns:a16="http://schemas.microsoft.com/office/drawing/2014/main" id="{57C03B41-C113-6F0F-E731-6FD206F4FC8F}"/>
              </a:ext>
            </a:extLst>
          </p:cNvPr>
          <p:cNvSpPr txBox="1"/>
          <p:nvPr/>
        </p:nvSpPr>
        <p:spPr>
          <a:xfrm>
            <a:off x="372547" y="5670459"/>
            <a:ext cx="3844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输入低电平的噪声容限</a:t>
            </a:r>
          </a:p>
        </p:txBody>
      </p:sp>
    </p:spTree>
    <p:extLst>
      <p:ext uri="{BB962C8B-B14F-4D97-AF65-F5344CB8AC3E}">
        <p14:creationId xmlns:p14="http://schemas.microsoft.com/office/powerpoint/2010/main" val="414738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5" grpId="0"/>
      <p:bldP spid="18" grpId="0"/>
      <p:bldP spid="19" grpId="0"/>
      <p:bldP spid="20" grpId="0"/>
      <p:bldP spid="21" grpId="0"/>
      <p:bldP spid="36" grpId="0"/>
      <p:bldP spid="3" grpId="0"/>
      <p:bldP spid="28" grpId="0"/>
      <p:bldP spid="30" grpId="0"/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554E9-8A61-6F3E-1EAC-A817A033A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门电路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534B63-F4C2-58DD-2AB1-E57CB68FBC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8471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CMOS</a:t>
                </a:r>
                <a:r>
                  <a:rPr lang="zh-CN" altLang="en-US" dirty="0"/>
                  <a:t>功耗</a:t>
                </a:r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en-US" altLang="zh-CN" sz="2800" dirty="0"/>
                  <a:t>CMOS</a:t>
                </a:r>
                <a:r>
                  <a:rPr lang="zh-CN" altLang="en-US" sz="2800" dirty="0"/>
                  <a:t>静态功耗</a:t>
                </a:r>
                <a:r>
                  <a:rPr lang="en-US" altLang="zh-CN" sz="2800" dirty="0"/>
                  <a:t>=0   </a:t>
                </a:r>
                <a:r>
                  <a:rPr lang="zh-CN" altLang="en-US" sz="2800" dirty="0"/>
                  <a:t>（</a:t>
                </a:r>
                <a:r>
                  <a:rPr lang="en-US" altLang="zh-CN" sz="2800" dirty="0"/>
                  <a:t>AB</a:t>
                </a:r>
                <a:r>
                  <a:rPr lang="zh-CN" altLang="en-US" sz="2800" dirty="0"/>
                  <a:t>和</a:t>
                </a:r>
                <a:r>
                  <a:rPr lang="en-US" altLang="zh-CN" sz="2800" dirty="0"/>
                  <a:t>CD</a:t>
                </a:r>
                <a:r>
                  <a:rPr lang="zh-CN" altLang="en-US" sz="2800" dirty="0"/>
                  <a:t>区）</a:t>
                </a:r>
                <a:endParaRPr lang="en-US" altLang="zh-CN" sz="2800" dirty="0"/>
              </a:p>
              <a:p>
                <a:pPr lvl="1"/>
                <a:endParaRPr lang="en-US" altLang="zh-CN" sz="2800" dirty="0"/>
              </a:p>
              <a:p>
                <a:pPr lvl="1"/>
                <a:r>
                  <a:rPr lang="en-US" altLang="zh-CN" sz="2800" dirty="0"/>
                  <a:t>CMOS</a:t>
                </a:r>
                <a:r>
                  <a:rPr lang="zh-CN" altLang="en-US" sz="2800" dirty="0"/>
                  <a:t>动态功耗在输出翻转</a:t>
                </a:r>
                <a:r>
                  <a:rPr lang="en-US" altLang="zh-CN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时功耗最大。</a:t>
                </a:r>
                <a:endParaRPr lang="en-US" altLang="zh-CN" sz="2800" dirty="0"/>
              </a:p>
              <a:p>
                <a:pPr lvl="1"/>
                <a:endParaRPr lang="en-US" altLang="zh-CN" sz="2800" dirty="0"/>
              </a:p>
              <a:p>
                <a:pPr lvl="1"/>
                <a:r>
                  <a:rPr lang="en-US" altLang="zh-CN" sz="2800" dirty="0"/>
                  <a:t>CMOS</a:t>
                </a:r>
                <a:r>
                  <a:rPr lang="zh-CN" altLang="en-US" sz="2800" dirty="0"/>
                  <a:t>的静态功耗低于三极管静态功耗。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534B63-F4C2-58DD-2AB1-E57CB68FB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8471" y="1825625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21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917B1-8AD0-EE4D-66F4-C6661FE6C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17" y="583678"/>
            <a:ext cx="10907662" cy="600501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其他类型的</a:t>
            </a:r>
            <a:r>
              <a:rPr lang="en-US" altLang="zh-CN" dirty="0"/>
              <a:t>CMOS</a:t>
            </a:r>
            <a:r>
              <a:rPr lang="zh-CN" altLang="en-US" dirty="0"/>
              <a:t>电路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三态门：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三态：输出高电平、输出低电平、高阻态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常用于总线</a:t>
            </a:r>
          </a:p>
          <a:p>
            <a:pPr lvl="1"/>
            <a:r>
              <a:rPr lang="zh-CN" altLang="en-US" dirty="0"/>
              <a:t>漏极开路门：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OD</a:t>
            </a:r>
            <a:r>
              <a:rPr lang="zh-CN" altLang="en-US" dirty="0"/>
              <a:t>门省去</a:t>
            </a:r>
            <a:r>
              <a:rPr lang="en-US" altLang="zh-CN" dirty="0"/>
              <a:t>CMOS</a:t>
            </a:r>
            <a:r>
              <a:rPr lang="zh-CN" altLang="en-US" dirty="0"/>
              <a:t>中的</a:t>
            </a:r>
            <a:r>
              <a:rPr lang="en-US" altLang="zh-CN" dirty="0"/>
              <a:t>PMOS</a:t>
            </a:r>
            <a:r>
              <a:rPr lang="zh-CN" altLang="en-US" dirty="0"/>
              <a:t>管及其电源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 可实现线与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0B4E2C-F5B9-D81F-E008-86FDB6616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443" y="1162543"/>
            <a:ext cx="3048084" cy="27432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A29EBE-DCAF-CD5F-1FF9-089D51A43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163" y="1155202"/>
            <a:ext cx="2816072" cy="289017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25D6921-76EF-EBFE-76C5-927B12745AE7}"/>
              </a:ext>
            </a:extLst>
          </p:cNvPr>
          <p:cNvSpPr txBox="1"/>
          <p:nvPr/>
        </p:nvSpPr>
        <p:spPr>
          <a:xfrm>
            <a:off x="4577678" y="3590364"/>
            <a:ext cx="111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或非门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DA201F-4EAA-7CE3-3415-845B6EA00A84}"/>
              </a:ext>
            </a:extLst>
          </p:cNvPr>
          <p:cNvSpPr txBox="1"/>
          <p:nvPr/>
        </p:nvSpPr>
        <p:spPr>
          <a:xfrm>
            <a:off x="10203837" y="3583716"/>
            <a:ext cx="111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与非门</a:t>
            </a:r>
          </a:p>
        </p:txBody>
      </p:sp>
    </p:spTree>
    <p:extLst>
      <p:ext uri="{BB962C8B-B14F-4D97-AF65-F5344CB8AC3E}">
        <p14:creationId xmlns:p14="http://schemas.microsoft.com/office/powerpoint/2010/main" val="386025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814C08-F145-F211-C36F-FA1786B84B9F}"/>
              </a:ext>
            </a:extLst>
          </p:cNvPr>
          <p:cNvSpPr txBox="1"/>
          <p:nvPr/>
        </p:nvSpPr>
        <p:spPr>
          <a:xfrm>
            <a:off x="293412" y="213241"/>
            <a:ext cx="109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试设计一个能够控制小车运动的电路。小车做循环的正方形匀速运动，运动路线如下图所示。试采用</a:t>
            </a:r>
            <a:r>
              <a:rPr lang="en-US" altLang="zh-CN" sz="2400" dirty="0"/>
              <a:t>74HC161</a:t>
            </a:r>
            <a:r>
              <a:rPr lang="zh-CN" altLang="en-US" sz="2400" dirty="0"/>
              <a:t>和</a:t>
            </a:r>
            <a:r>
              <a:rPr lang="en-US" altLang="zh-CN" sz="2400" dirty="0"/>
              <a:t>74HC138</a:t>
            </a:r>
            <a:r>
              <a:rPr lang="zh-CN" altLang="en-US" sz="2400" dirty="0"/>
              <a:t>以及与非门设计一个时钟周期为</a:t>
            </a:r>
            <a:r>
              <a:rPr lang="en-US" altLang="zh-CN" sz="2400" dirty="0"/>
              <a:t>10</a:t>
            </a:r>
            <a:r>
              <a:rPr lang="zh-CN" altLang="en-US" sz="2400" dirty="0"/>
              <a:t>秒的计数器</a:t>
            </a:r>
            <a:r>
              <a:rPr lang="en-US" altLang="zh-CN" sz="2400" dirty="0"/>
              <a:t>+</a:t>
            </a:r>
            <a:r>
              <a:rPr lang="zh-CN" altLang="en-US" sz="2400" dirty="0"/>
              <a:t>译码器分别控制小车右移、下移、左移、上移。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18EFA7-F7EE-9037-7B7D-FEFFA1984967}"/>
              </a:ext>
            </a:extLst>
          </p:cNvPr>
          <p:cNvSpPr/>
          <p:nvPr/>
        </p:nvSpPr>
        <p:spPr>
          <a:xfrm>
            <a:off x="1035130" y="2838391"/>
            <a:ext cx="2000250" cy="1794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EE0E56-2DFB-68EC-01EC-D1918C839901}"/>
              </a:ext>
            </a:extLst>
          </p:cNvPr>
          <p:cNvSpPr txBox="1"/>
          <p:nvPr/>
        </p:nvSpPr>
        <p:spPr>
          <a:xfrm>
            <a:off x="1638063" y="2433162"/>
            <a:ext cx="768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30</a:t>
            </a:r>
            <a:r>
              <a:rPr lang="zh-CN" altLang="en-US" dirty="0"/>
              <a:t>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E07C63-508E-294C-64D7-A5698B486FDE}"/>
              </a:ext>
            </a:extLst>
          </p:cNvPr>
          <p:cNvSpPr txBox="1"/>
          <p:nvPr/>
        </p:nvSpPr>
        <p:spPr>
          <a:xfrm>
            <a:off x="3035380" y="3428643"/>
            <a:ext cx="768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30</a:t>
            </a:r>
            <a:r>
              <a:rPr lang="zh-CN" altLang="en-US" dirty="0"/>
              <a:t>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761D31-A17B-B59B-0140-EC9C72079CE3}"/>
              </a:ext>
            </a:extLst>
          </p:cNvPr>
          <p:cNvSpPr txBox="1"/>
          <p:nvPr/>
        </p:nvSpPr>
        <p:spPr>
          <a:xfrm>
            <a:off x="1650921" y="4691121"/>
            <a:ext cx="768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30</a:t>
            </a:r>
            <a:r>
              <a:rPr lang="zh-CN" altLang="en-US" dirty="0"/>
              <a:t>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8E5D61-CF98-FF67-D7D1-E4EE1B067B88}"/>
              </a:ext>
            </a:extLst>
          </p:cNvPr>
          <p:cNvSpPr txBox="1"/>
          <p:nvPr/>
        </p:nvSpPr>
        <p:spPr>
          <a:xfrm>
            <a:off x="393621" y="3366314"/>
            <a:ext cx="768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30</a:t>
            </a:r>
            <a:r>
              <a:rPr lang="zh-CN" altLang="en-US" dirty="0"/>
              <a:t>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A1BC31-5670-3747-1F5A-F386A8BCCD6B}"/>
              </a:ext>
            </a:extLst>
          </p:cNvPr>
          <p:cNvSpPr txBox="1"/>
          <p:nvPr/>
        </p:nvSpPr>
        <p:spPr>
          <a:xfrm>
            <a:off x="4406980" y="2053561"/>
            <a:ext cx="6078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逻辑抽象：</a:t>
            </a:r>
            <a:endParaRPr lang="en-US" altLang="zh-CN" sz="2400" dirty="0"/>
          </a:p>
          <a:p>
            <a:r>
              <a:rPr lang="zh-CN" altLang="en-US" sz="2400" dirty="0"/>
              <a:t>输入：无</a:t>
            </a:r>
            <a:endParaRPr lang="en-US" altLang="zh-CN" sz="2400" dirty="0"/>
          </a:p>
          <a:p>
            <a:r>
              <a:rPr lang="zh-CN" altLang="en-US" sz="2400" dirty="0"/>
              <a:t>输出：</a:t>
            </a:r>
            <a:r>
              <a:rPr lang="en-US" altLang="zh-CN" sz="2400" dirty="0"/>
              <a:t>4</a:t>
            </a:r>
            <a:r>
              <a:rPr lang="zh-CN" altLang="en-US" sz="2400" dirty="0"/>
              <a:t>个输出（右移、下移、左移、上移）</a:t>
            </a:r>
            <a:endParaRPr lang="en-US" altLang="zh-CN" sz="2400" dirty="0"/>
          </a:p>
          <a:p>
            <a:r>
              <a:rPr lang="zh-CN" altLang="en-US" sz="2400" dirty="0"/>
              <a:t>状态数：</a:t>
            </a:r>
            <a:r>
              <a:rPr lang="en-US" altLang="zh-CN" sz="2400" dirty="0"/>
              <a:t>12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1124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A3A45E7C-C76D-67F4-359D-1277EB3CA2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27795" y="116176"/>
              <a:ext cx="2327564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747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A3A45E7C-C76D-67F4-359D-1277EB3CA2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27795" y="116176"/>
              <a:ext cx="2327564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747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20" t="-1563" r="-294898" b="-16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5319" t="-1563" r="-207447" b="-16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3158" t="-1563" r="-105263" b="-16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563" r="-4167" b="-16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6CF5B16-A99E-887C-1B93-79814F2040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55359" y="103296"/>
              <a:ext cx="2344535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2718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6CF5B16-A99E-887C-1B93-79814F2040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55359" y="103296"/>
              <a:ext cx="2344535" cy="66256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2718">
                      <a:extLst>
                        <a:ext uri="{9D8B030D-6E8A-4147-A177-3AD203B41FA5}">
                          <a16:colId xmlns:a16="http://schemas.microsoft.com/office/drawing/2014/main" val="2413707454"/>
                        </a:ext>
                      </a:extLst>
                    </a:gridCol>
                    <a:gridCol w="568035">
                      <a:extLst>
                        <a:ext uri="{9D8B030D-6E8A-4147-A177-3AD203B41FA5}">
                          <a16:colId xmlns:a16="http://schemas.microsoft.com/office/drawing/2014/main" val="281189675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3637475611"/>
                        </a:ext>
                      </a:extLst>
                    </a:gridCol>
                    <a:gridCol w="581891">
                      <a:extLst>
                        <a:ext uri="{9D8B030D-6E8A-4147-A177-3AD203B41FA5}">
                          <a16:colId xmlns:a16="http://schemas.microsoft.com/office/drawing/2014/main" val="1550269397"/>
                        </a:ext>
                      </a:extLst>
                    </a:gridCol>
                  </a:tblGrid>
                  <a:tr h="3897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990" t="-1563" r="-286139" b="-1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9677" t="-1563" r="-210753" b="-1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3125" t="-1563" r="-104167" b="-1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3125" t="-1563" r="-4167" b="-16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4270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40085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28526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99801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798989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90548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695856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6557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232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93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792725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2634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98345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102267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012881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9854683"/>
                      </a:ext>
                    </a:extLst>
                  </a:tr>
                  <a:tr h="389744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ⅹ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2882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E322918-D48D-A9A9-074A-4DB9A6948425}"/>
              </a:ext>
            </a:extLst>
          </p:cNvPr>
          <p:cNvGraphicFramePr>
            <a:graphicFrameLocks noGrp="1"/>
          </p:cNvGraphicFramePr>
          <p:nvPr/>
        </p:nvGraphicFramePr>
        <p:xfrm>
          <a:off x="6999894" y="90947"/>
          <a:ext cx="473393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6985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2448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0950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9771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78999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2634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1451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1679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C77A2DE-5BCF-4EFC-3DFF-A28F0BA20A44}"/>
              </a:ext>
            </a:extLst>
          </p:cNvPr>
          <p:cNvGraphicFramePr>
            <a:graphicFrameLocks noGrp="1"/>
          </p:cNvGraphicFramePr>
          <p:nvPr/>
        </p:nvGraphicFramePr>
        <p:xfrm>
          <a:off x="7473287" y="78598"/>
          <a:ext cx="473393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6985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2448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0950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9771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78999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2634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1451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1679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BD7EB5A-7E8B-178E-91D9-8792C4178707}"/>
              </a:ext>
            </a:extLst>
          </p:cNvPr>
          <p:cNvGraphicFramePr>
            <a:graphicFrameLocks noGrp="1"/>
          </p:cNvGraphicFramePr>
          <p:nvPr/>
        </p:nvGraphicFramePr>
        <p:xfrm>
          <a:off x="7946680" y="78598"/>
          <a:ext cx="505143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43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6985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2448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0950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9771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78999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2634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1451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1679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C29CBBB-9884-1F8E-A9C1-DD379C8B83BB}"/>
              </a:ext>
            </a:extLst>
          </p:cNvPr>
          <p:cNvGraphicFramePr>
            <a:graphicFrameLocks noGrp="1"/>
          </p:cNvGraphicFramePr>
          <p:nvPr/>
        </p:nvGraphicFramePr>
        <p:xfrm>
          <a:off x="8420073" y="78598"/>
          <a:ext cx="505143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43">
                  <a:extLst>
                    <a:ext uri="{9D8B030D-6E8A-4147-A177-3AD203B41FA5}">
                      <a16:colId xmlns:a16="http://schemas.microsoft.com/office/drawing/2014/main" val="1044419861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523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54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299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358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25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1212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676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36985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2448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0950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97718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78999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2634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14512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1679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4226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6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18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2622B1D-D814-30F6-0297-0C9FC6D59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85" y="1570111"/>
            <a:ext cx="2512202" cy="34202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B29901B-4614-636D-A86C-0E2B8AB3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351" y="308795"/>
            <a:ext cx="2542857" cy="29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CB4BA74-080E-1B06-57EF-35132DC86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351" y="3543300"/>
            <a:ext cx="2542857" cy="2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919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BB7466-A7CC-D2F0-0002-EA57E5D2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85" y="1524391"/>
            <a:ext cx="2512202" cy="34202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331629-37AF-FDE6-9C5C-46652FB9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51" y="263075"/>
            <a:ext cx="2542857" cy="29714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9866881-94F8-A480-B739-B683FEF12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51" y="3497580"/>
            <a:ext cx="2542857" cy="2971429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447FB67-DCF4-0668-17C7-13E6D8BC356C}"/>
              </a:ext>
            </a:extLst>
          </p:cNvPr>
          <p:cNvCxnSpPr/>
          <p:nvPr/>
        </p:nvCxnSpPr>
        <p:spPr>
          <a:xfrm>
            <a:off x="1371600" y="3234504"/>
            <a:ext cx="0" cy="1097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90E2F37-12D0-65AB-E609-9A09F8DC597E}"/>
              </a:ext>
            </a:extLst>
          </p:cNvPr>
          <p:cNvSpPr txBox="1"/>
          <p:nvPr/>
        </p:nvSpPr>
        <p:spPr>
          <a:xfrm>
            <a:off x="946383" y="4147304"/>
            <a:ext cx="36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4DBB44B-25F3-2809-A1DB-FFE7A5DD4686}"/>
              </a:ext>
            </a:extLst>
          </p:cNvPr>
          <p:cNvCxnSpPr/>
          <p:nvPr/>
        </p:nvCxnSpPr>
        <p:spPr>
          <a:xfrm>
            <a:off x="1218395" y="4343400"/>
            <a:ext cx="278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49144BD-0AB0-A9EC-FF4B-8C07DE6D9D07}"/>
              </a:ext>
            </a:extLst>
          </p:cNvPr>
          <p:cNvSpPr txBox="1"/>
          <p:nvPr/>
        </p:nvSpPr>
        <p:spPr>
          <a:xfrm>
            <a:off x="3611879" y="2217420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CD17E75-D6B6-9844-899D-FA9A7D62883E}"/>
              </a:ext>
            </a:extLst>
          </p:cNvPr>
          <p:cNvSpPr/>
          <p:nvPr/>
        </p:nvSpPr>
        <p:spPr>
          <a:xfrm>
            <a:off x="4099662" y="2468880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C95D54-03DC-F341-E8C3-3ABDFE05E4DA}"/>
              </a:ext>
            </a:extLst>
          </p:cNvPr>
          <p:cNvCxnSpPr>
            <a:cxnSpLocks/>
          </p:cNvCxnSpPr>
          <p:nvPr/>
        </p:nvCxnSpPr>
        <p:spPr>
          <a:xfrm>
            <a:off x="4200388" y="2523886"/>
            <a:ext cx="257312" cy="17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B93B55B-B54E-531F-37E3-BA51188C9FAD}"/>
              </a:ext>
            </a:extLst>
          </p:cNvPr>
          <p:cNvCxnSpPr>
            <a:cxnSpLocks/>
          </p:cNvCxnSpPr>
          <p:nvPr/>
        </p:nvCxnSpPr>
        <p:spPr>
          <a:xfrm flipH="1">
            <a:off x="4437770" y="2541168"/>
            <a:ext cx="19930" cy="23458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F61C83D-E04B-7BE2-59D0-5DEC773F3802}"/>
              </a:ext>
            </a:extLst>
          </p:cNvPr>
          <p:cNvCxnSpPr>
            <a:cxnSpLocks/>
          </p:cNvCxnSpPr>
          <p:nvPr/>
        </p:nvCxnSpPr>
        <p:spPr>
          <a:xfrm flipH="1">
            <a:off x="2780291" y="4878664"/>
            <a:ext cx="1648041" cy="168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D5FFAC3-ED49-7814-FB7F-5DF5782BC45B}"/>
              </a:ext>
            </a:extLst>
          </p:cNvPr>
          <p:cNvCxnSpPr/>
          <p:nvPr/>
        </p:nvCxnSpPr>
        <p:spPr>
          <a:xfrm flipV="1">
            <a:off x="1371600" y="1828800"/>
            <a:ext cx="0" cy="605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7F1CAEE-B2E5-D3A7-74EF-E4AF1DA3D2BF}"/>
              </a:ext>
            </a:extLst>
          </p:cNvPr>
          <p:cNvSpPr txBox="1"/>
          <p:nvPr/>
        </p:nvSpPr>
        <p:spPr>
          <a:xfrm>
            <a:off x="1052661" y="1644134"/>
            <a:ext cx="36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CE9AA8D-4D68-9359-D88E-4F988B721A01}"/>
              </a:ext>
            </a:extLst>
          </p:cNvPr>
          <p:cNvCxnSpPr>
            <a:cxnSpLocks/>
          </p:cNvCxnSpPr>
          <p:nvPr/>
        </p:nvCxnSpPr>
        <p:spPr>
          <a:xfrm flipH="1" flipV="1">
            <a:off x="5236051" y="2698186"/>
            <a:ext cx="66913" cy="3244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AC7F667-B3A6-920D-4835-5BAB6648CCA7}"/>
              </a:ext>
            </a:extLst>
          </p:cNvPr>
          <p:cNvCxnSpPr/>
          <p:nvPr/>
        </p:nvCxnSpPr>
        <p:spPr>
          <a:xfrm flipH="1">
            <a:off x="5236051" y="2709616"/>
            <a:ext cx="1703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5FF85EE-4C9A-FF9D-5BF8-FE2A1AFD74E5}"/>
              </a:ext>
            </a:extLst>
          </p:cNvPr>
          <p:cNvCxnSpPr>
            <a:cxnSpLocks/>
          </p:cNvCxnSpPr>
          <p:nvPr/>
        </p:nvCxnSpPr>
        <p:spPr>
          <a:xfrm flipH="1">
            <a:off x="7522051" y="5942893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096E987-D395-2B45-7FEF-B720170D1E47}"/>
              </a:ext>
            </a:extLst>
          </p:cNvPr>
          <p:cNvCxnSpPr>
            <a:cxnSpLocks/>
          </p:cNvCxnSpPr>
          <p:nvPr/>
        </p:nvCxnSpPr>
        <p:spPr>
          <a:xfrm>
            <a:off x="5070316" y="5680710"/>
            <a:ext cx="377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98F6CA4-446E-9C75-057D-9DF54F0C4C6A}"/>
              </a:ext>
            </a:extLst>
          </p:cNvPr>
          <p:cNvCxnSpPr>
            <a:cxnSpLocks/>
          </p:cNvCxnSpPr>
          <p:nvPr/>
        </p:nvCxnSpPr>
        <p:spPr>
          <a:xfrm>
            <a:off x="5047456" y="2446020"/>
            <a:ext cx="377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32EA5B2-41C2-9FA7-6B61-1AAACF87CE93}"/>
              </a:ext>
            </a:extLst>
          </p:cNvPr>
          <p:cNvCxnSpPr>
            <a:cxnSpLocks/>
          </p:cNvCxnSpPr>
          <p:nvPr/>
        </p:nvCxnSpPr>
        <p:spPr>
          <a:xfrm flipV="1">
            <a:off x="5047456" y="2413143"/>
            <a:ext cx="0" cy="3267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91B8912-1310-8116-42A0-738193F84FA0}"/>
              </a:ext>
            </a:extLst>
          </p:cNvPr>
          <p:cNvCxnSpPr>
            <a:cxnSpLocks/>
          </p:cNvCxnSpPr>
          <p:nvPr/>
        </p:nvCxnSpPr>
        <p:spPr>
          <a:xfrm>
            <a:off x="4880610" y="2177415"/>
            <a:ext cx="5040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5140A64-D5D7-0C93-38F7-6D0DEB2B5705}"/>
              </a:ext>
            </a:extLst>
          </p:cNvPr>
          <p:cNvCxnSpPr>
            <a:cxnSpLocks/>
          </p:cNvCxnSpPr>
          <p:nvPr/>
        </p:nvCxnSpPr>
        <p:spPr>
          <a:xfrm>
            <a:off x="4902359" y="5446395"/>
            <a:ext cx="5040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3170703-9861-54AB-C1B9-28ED2DB599CE}"/>
              </a:ext>
            </a:extLst>
          </p:cNvPr>
          <p:cNvCxnSpPr>
            <a:cxnSpLocks/>
          </p:cNvCxnSpPr>
          <p:nvPr/>
        </p:nvCxnSpPr>
        <p:spPr>
          <a:xfrm flipV="1">
            <a:off x="4909185" y="2177415"/>
            <a:ext cx="0" cy="3267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88253CF-B5CC-024C-803A-28CB72758BAD}"/>
              </a:ext>
            </a:extLst>
          </p:cNvPr>
          <p:cNvCxnSpPr/>
          <p:nvPr/>
        </p:nvCxnSpPr>
        <p:spPr>
          <a:xfrm>
            <a:off x="3451860" y="3429000"/>
            <a:ext cx="1765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9922B8D3-9A0F-31FA-C85C-5C4494E27846}"/>
              </a:ext>
            </a:extLst>
          </p:cNvPr>
          <p:cNvSpPr/>
          <p:nvPr/>
        </p:nvSpPr>
        <p:spPr>
          <a:xfrm flipH="1" flipV="1">
            <a:off x="5226450" y="3389168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F3E0D05-F9EE-36A6-84C0-AD76EEBEB9FE}"/>
              </a:ext>
            </a:extLst>
          </p:cNvPr>
          <p:cNvCxnSpPr>
            <a:cxnSpLocks/>
          </p:cNvCxnSpPr>
          <p:nvPr/>
        </p:nvCxnSpPr>
        <p:spPr>
          <a:xfrm>
            <a:off x="3468868" y="3097530"/>
            <a:ext cx="1601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6379A876-45D1-B312-8BD8-FCDCC49101FD}"/>
              </a:ext>
            </a:extLst>
          </p:cNvPr>
          <p:cNvSpPr/>
          <p:nvPr/>
        </p:nvSpPr>
        <p:spPr>
          <a:xfrm flipH="1" flipV="1">
            <a:off x="5032336" y="3046994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0BA6E9CA-F7FF-B865-C6E2-DB38A68F72AB}"/>
              </a:ext>
            </a:extLst>
          </p:cNvPr>
          <p:cNvCxnSpPr>
            <a:cxnSpLocks/>
          </p:cNvCxnSpPr>
          <p:nvPr/>
        </p:nvCxnSpPr>
        <p:spPr>
          <a:xfrm flipH="1">
            <a:off x="3439943" y="2743906"/>
            <a:ext cx="11917" cy="2214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8DCA7451-4D0C-80E2-4053-1080DD6C1D5F}"/>
              </a:ext>
            </a:extLst>
          </p:cNvPr>
          <p:cNvCxnSpPr>
            <a:cxnSpLocks/>
          </p:cNvCxnSpPr>
          <p:nvPr/>
        </p:nvCxnSpPr>
        <p:spPr>
          <a:xfrm>
            <a:off x="3427008" y="2953896"/>
            <a:ext cx="1475351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0A813EF2-4386-4E99-18F8-671E9CAA7D83}"/>
              </a:ext>
            </a:extLst>
          </p:cNvPr>
          <p:cNvSpPr/>
          <p:nvPr/>
        </p:nvSpPr>
        <p:spPr>
          <a:xfrm flipH="1" flipV="1">
            <a:off x="4870928" y="2896490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03F9A7C-F72A-7244-2796-07AC31F53A72}"/>
              </a:ext>
            </a:extLst>
          </p:cNvPr>
          <p:cNvCxnSpPr>
            <a:cxnSpLocks/>
          </p:cNvCxnSpPr>
          <p:nvPr/>
        </p:nvCxnSpPr>
        <p:spPr>
          <a:xfrm>
            <a:off x="3427008" y="868680"/>
            <a:ext cx="12935" cy="1577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1E2648C-A700-5516-BDEA-03576AE5A92B}"/>
              </a:ext>
            </a:extLst>
          </p:cNvPr>
          <p:cNvCxnSpPr/>
          <p:nvPr/>
        </p:nvCxnSpPr>
        <p:spPr>
          <a:xfrm>
            <a:off x="5321220" y="1143000"/>
            <a:ext cx="0" cy="50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67382115-98F6-6E90-81F6-508E9ABC5D73}"/>
              </a:ext>
            </a:extLst>
          </p:cNvPr>
          <p:cNvCxnSpPr/>
          <p:nvPr/>
        </p:nvCxnSpPr>
        <p:spPr>
          <a:xfrm>
            <a:off x="5217795" y="1644134"/>
            <a:ext cx="278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4EE498B2-5528-4A17-511C-CE90DE152283}"/>
              </a:ext>
            </a:extLst>
          </p:cNvPr>
          <p:cNvCxnSpPr>
            <a:cxnSpLocks/>
          </p:cNvCxnSpPr>
          <p:nvPr/>
        </p:nvCxnSpPr>
        <p:spPr>
          <a:xfrm>
            <a:off x="5417634" y="1826673"/>
            <a:ext cx="19404" cy="28156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D9CF345-FD2E-3BEA-C47F-F44A7DC9C6B7}"/>
              </a:ext>
            </a:extLst>
          </p:cNvPr>
          <p:cNvCxnSpPr>
            <a:cxnSpLocks/>
          </p:cNvCxnSpPr>
          <p:nvPr/>
        </p:nvCxnSpPr>
        <p:spPr>
          <a:xfrm>
            <a:off x="3427008" y="1828800"/>
            <a:ext cx="20215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696D29A1-2AB9-0BE5-3B3A-7CE8AC036D3C}"/>
              </a:ext>
            </a:extLst>
          </p:cNvPr>
          <p:cNvCxnSpPr>
            <a:cxnSpLocks/>
          </p:cNvCxnSpPr>
          <p:nvPr/>
        </p:nvCxnSpPr>
        <p:spPr>
          <a:xfrm>
            <a:off x="3451860" y="868680"/>
            <a:ext cx="19054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30BF64D-F10D-B338-11D5-602A8DB556A6}"/>
              </a:ext>
            </a:extLst>
          </p:cNvPr>
          <p:cNvCxnSpPr>
            <a:cxnSpLocks/>
          </p:cNvCxnSpPr>
          <p:nvPr/>
        </p:nvCxnSpPr>
        <p:spPr>
          <a:xfrm flipH="1">
            <a:off x="7551419" y="5680710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F180B4E9-8371-01B6-5CFF-4835AFDD07A9}"/>
              </a:ext>
            </a:extLst>
          </p:cNvPr>
          <p:cNvCxnSpPr>
            <a:cxnSpLocks/>
          </p:cNvCxnSpPr>
          <p:nvPr/>
        </p:nvCxnSpPr>
        <p:spPr>
          <a:xfrm flipH="1">
            <a:off x="7532368" y="5422122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08636A3-52A4-8620-6E8B-55987559D50B}"/>
              </a:ext>
            </a:extLst>
          </p:cNvPr>
          <p:cNvSpPr txBox="1"/>
          <p:nvPr/>
        </p:nvSpPr>
        <p:spPr>
          <a:xfrm>
            <a:off x="7808276" y="5341575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3B44A3BB-57F7-B480-BB1A-735D03ECCC59}"/>
              </a:ext>
            </a:extLst>
          </p:cNvPr>
          <p:cNvSpPr/>
          <p:nvPr/>
        </p:nvSpPr>
        <p:spPr>
          <a:xfrm>
            <a:off x="8315110" y="5621706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9D1C89C8-D7CC-A432-C8D5-ADE123829DCD}"/>
              </a:ext>
            </a:extLst>
          </p:cNvPr>
          <p:cNvCxnSpPr>
            <a:cxnSpLocks/>
          </p:cNvCxnSpPr>
          <p:nvPr/>
        </p:nvCxnSpPr>
        <p:spPr>
          <a:xfrm>
            <a:off x="8433118" y="5701716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069F6D2-5E1A-5441-7A92-1235A28DA05B}"/>
              </a:ext>
            </a:extLst>
          </p:cNvPr>
          <p:cNvSpPr txBox="1"/>
          <p:nvPr/>
        </p:nvSpPr>
        <p:spPr>
          <a:xfrm>
            <a:off x="9212580" y="5496044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Y1</a:t>
            </a:r>
            <a:r>
              <a:rPr lang="zh-CN" altLang="en-US" dirty="0"/>
              <a:t>：右移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CE5DC418-B89F-AFDA-1395-7709B895A46B}"/>
              </a:ext>
            </a:extLst>
          </p:cNvPr>
          <p:cNvCxnSpPr>
            <a:cxnSpLocks/>
          </p:cNvCxnSpPr>
          <p:nvPr/>
        </p:nvCxnSpPr>
        <p:spPr>
          <a:xfrm flipH="1">
            <a:off x="7532687" y="5165220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A22FCA49-7EFE-C7EC-E641-7DC837554E97}"/>
              </a:ext>
            </a:extLst>
          </p:cNvPr>
          <p:cNvCxnSpPr>
            <a:cxnSpLocks/>
          </p:cNvCxnSpPr>
          <p:nvPr/>
        </p:nvCxnSpPr>
        <p:spPr>
          <a:xfrm flipH="1">
            <a:off x="7562055" y="4903037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B4360F75-0452-7D8C-1CE4-C3912644F9E6}"/>
              </a:ext>
            </a:extLst>
          </p:cNvPr>
          <p:cNvCxnSpPr>
            <a:cxnSpLocks/>
          </p:cNvCxnSpPr>
          <p:nvPr/>
        </p:nvCxnSpPr>
        <p:spPr>
          <a:xfrm flipH="1">
            <a:off x="7543004" y="4644449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2F1F00B-89C6-C61B-7F40-42140C34FAFE}"/>
              </a:ext>
            </a:extLst>
          </p:cNvPr>
          <p:cNvSpPr txBox="1"/>
          <p:nvPr/>
        </p:nvSpPr>
        <p:spPr>
          <a:xfrm>
            <a:off x="7818912" y="4563902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9779E598-6AF1-5F4F-8AFD-0622A7264DAC}"/>
              </a:ext>
            </a:extLst>
          </p:cNvPr>
          <p:cNvSpPr/>
          <p:nvPr/>
        </p:nvSpPr>
        <p:spPr>
          <a:xfrm>
            <a:off x="8325746" y="4844033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841A92D7-63EF-6932-0F7B-651465F72810}"/>
              </a:ext>
            </a:extLst>
          </p:cNvPr>
          <p:cNvCxnSpPr>
            <a:cxnSpLocks/>
          </p:cNvCxnSpPr>
          <p:nvPr/>
        </p:nvCxnSpPr>
        <p:spPr>
          <a:xfrm>
            <a:off x="8443754" y="4924043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E88A18B2-CE20-402A-C89A-6B90418527C5}"/>
              </a:ext>
            </a:extLst>
          </p:cNvPr>
          <p:cNvCxnSpPr>
            <a:cxnSpLocks/>
          </p:cNvCxnSpPr>
          <p:nvPr/>
        </p:nvCxnSpPr>
        <p:spPr>
          <a:xfrm flipH="1">
            <a:off x="7532687" y="2441027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A1067950-4031-53E3-EC4E-B4A0BFF90046}"/>
              </a:ext>
            </a:extLst>
          </p:cNvPr>
          <p:cNvCxnSpPr>
            <a:cxnSpLocks/>
          </p:cNvCxnSpPr>
          <p:nvPr/>
        </p:nvCxnSpPr>
        <p:spPr>
          <a:xfrm flipH="1">
            <a:off x="7562055" y="2178844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9D5CC6BE-4DE1-F55D-E964-F7F73BAED751}"/>
              </a:ext>
            </a:extLst>
          </p:cNvPr>
          <p:cNvCxnSpPr>
            <a:cxnSpLocks/>
          </p:cNvCxnSpPr>
          <p:nvPr/>
        </p:nvCxnSpPr>
        <p:spPr>
          <a:xfrm flipH="1">
            <a:off x="7543004" y="1920256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F1F87F7-83D3-BDBC-6B84-A3474E314B35}"/>
              </a:ext>
            </a:extLst>
          </p:cNvPr>
          <p:cNvSpPr txBox="1"/>
          <p:nvPr/>
        </p:nvSpPr>
        <p:spPr>
          <a:xfrm>
            <a:off x="7818912" y="1839709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C4927BF-FDA4-46BB-D0ED-AD1E03A90419}"/>
              </a:ext>
            </a:extLst>
          </p:cNvPr>
          <p:cNvSpPr/>
          <p:nvPr/>
        </p:nvSpPr>
        <p:spPr>
          <a:xfrm>
            <a:off x="8325746" y="2119840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1583A2C9-7C93-7957-4787-55320C2D5AD9}"/>
              </a:ext>
            </a:extLst>
          </p:cNvPr>
          <p:cNvCxnSpPr>
            <a:cxnSpLocks/>
          </p:cNvCxnSpPr>
          <p:nvPr/>
        </p:nvCxnSpPr>
        <p:spPr>
          <a:xfrm>
            <a:off x="8443754" y="2199850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57B385AA-327A-5E6A-34BC-934122D10CC2}"/>
              </a:ext>
            </a:extLst>
          </p:cNvPr>
          <p:cNvCxnSpPr>
            <a:cxnSpLocks/>
          </p:cNvCxnSpPr>
          <p:nvPr/>
        </p:nvCxnSpPr>
        <p:spPr>
          <a:xfrm flipH="1">
            <a:off x="7522051" y="4381559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AD02E1B1-73B2-2F1C-C281-9E9E81F35280}"/>
              </a:ext>
            </a:extLst>
          </p:cNvPr>
          <p:cNvCxnSpPr>
            <a:cxnSpLocks/>
          </p:cNvCxnSpPr>
          <p:nvPr/>
        </p:nvCxnSpPr>
        <p:spPr>
          <a:xfrm flipH="1">
            <a:off x="7522051" y="4131574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51087BAB-8093-83C9-C206-E93E00FEC55C}"/>
              </a:ext>
            </a:extLst>
          </p:cNvPr>
          <p:cNvCxnSpPr>
            <a:cxnSpLocks/>
          </p:cNvCxnSpPr>
          <p:nvPr/>
        </p:nvCxnSpPr>
        <p:spPr>
          <a:xfrm flipH="1">
            <a:off x="7549511" y="4005288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45C12891-188F-B7EF-3757-8D486338CAB0}"/>
              </a:ext>
            </a:extLst>
          </p:cNvPr>
          <p:cNvCxnSpPr>
            <a:cxnSpLocks/>
          </p:cNvCxnSpPr>
          <p:nvPr/>
        </p:nvCxnSpPr>
        <p:spPr>
          <a:xfrm flipH="1">
            <a:off x="7543004" y="2698186"/>
            <a:ext cx="19051" cy="1278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09BB92E-1F97-413E-8234-1C068BE14136}"/>
              </a:ext>
            </a:extLst>
          </p:cNvPr>
          <p:cNvSpPr txBox="1"/>
          <p:nvPr/>
        </p:nvSpPr>
        <p:spPr>
          <a:xfrm>
            <a:off x="7808276" y="3802593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6B85BFF7-C785-C938-2E1C-3FAD396E4604}"/>
              </a:ext>
            </a:extLst>
          </p:cNvPr>
          <p:cNvSpPr/>
          <p:nvPr/>
        </p:nvSpPr>
        <p:spPr>
          <a:xfrm>
            <a:off x="8315110" y="4082724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9A064463-1D65-1010-5560-72D7796C84A4}"/>
              </a:ext>
            </a:extLst>
          </p:cNvPr>
          <p:cNvCxnSpPr>
            <a:cxnSpLocks/>
          </p:cNvCxnSpPr>
          <p:nvPr/>
        </p:nvCxnSpPr>
        <p:spPr>
          <a:xfrm>
            <a:off x="8433118" y="4162734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97EB412-2D17-2557-E2C4-54610C4F5CA9}"/>
              </a:ext>
            </a:extLst>
          </p:cNvPr>
          <p:cNvSpPr txBox="1"/>
          <p:nvPr/>
        </p:nvSpPr>
        <p:spPr>
          <a:xfrm>
            <a:off x="9300210" y="4739377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Y2</a:t>
            </a:r>
            <a:r>
              <a:rPr lang="zh-CN" altLang="en-US" dirty="0"/>
              <a:t>：下移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CB05C15-174A-9800-A5E7-28919CA1D45D}"/>
              </a:ext>
            </a:extLst>
          </p:cNvPr>
          <p:cNvSpPr txBox="1"/>
          <p:nvPr/>
        </p:nvSpPr>
        <p:spPr>
          <a:xfrm>
            <a:off x="9175627" y="3973526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Y3</a:t>
            </a:r>
            <a:r>
              <a:rPr lang="zh-CN" altLang="en-US" dirty="0"/>
              <a:t>：左移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3F7BC95-3647-218D-F3AD-8C0CC0171C8B}"/>
              </a:ext>
            </a:extLst>
          </p:cNvPr>
          <p:cNvSpPr txBox="1"/>
          <p:nvPr/>
        </p:nvSpPr>
        <p:spPr>
          <a:xfrm>
            <a:off x="9175627" y="1935174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Y4</a:t>
            </a:r>
            <a:r>
              <a:rPr lang="zh-CN" altLang="en-US" dirty="0"/>
              <a:t>：上移</a:t>
            </a: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C1DF91BD-8581-D6DD-4908-871D06397C72}"/>
              </a:ext>
            </a:extLst>
          </p:cNvPr>
          <p:cNvSpPr/>
          <p:nvPr/>
        </p:nvSpPr>
        <p:spPr>
          <a:xfrm flipH="1" flipV="1">
            <a:off x="5389752" y="4308531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971D22A1-028C-C637-1789-B3866B48750D}"/>
              </a:ext>
            </a:extLst>
          </p:cNvPr>
          <p:cNvSpPr/>
          <p:nvPr/>
        </p:nvSpPr>
        <p:spPr>
          <a:xfrm flipH="1" flipV="1">
            <a:off x="5386389" y="4607397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1130B5A-C77B-54B8-EE43-EBF380889144}"/>
              </a:ext>
            </a:extLst>
          </p:cNvPr>
          <p:cNvSpPr txBox="1"/>
          <p:nvPr/>
        </p:nvSpPr>
        <p:spPr>
          <a:xfrm>
            <a:off x="5382817" y="3802593"/>
            <a:ext cx="330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32E49B-D6EF-229A-29E9-8BA972446B95}"/>
              </a:ext>
            </a:extLst>
          </p:cNvPr>
          <p:cNvSpPr txBox="1"/>
          <p:nvPr/>
        </p:nvSpPr>
        <p:spPr>
          <a:xfrm>
            <a:off x="1902635" y="4659367"/>
            <a:ext cx="50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376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BB7466-A7CC-D2F0-0002-EA57E5D2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85" y="1524391"/>
            <a:ext cx="2512202" cy="34202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331629-37AF-FDE6-9C5C-46652FB9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51" y="263075"/>
            <a:ext cx="2542857" cy="29714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9866881-94F8-A480-B739-B683FEF12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51" y="3497580"/>
            <a:ext cx="2542857" cy="2971429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447FB67-DCF4-0668-17C7-13E6D8BC356C}"/>
              </a:ext>
            </a:extLst>
          </p:cNvPr>
          <p:cNvCxnSpPr/>
          <p:nvPr/>
        </p:nvCxnSpPr>
        <p:spPr>
          <a:xfrm>
            <a:off x="1371600" y="3234504"/>
            <a:ext cx="0" cy="1097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90E2F37-12D0-65AB-E609-9A09F8DC597E}"/>
              </a:ext>
            </a:extLst>
          </p:cNvPr>
          <p:cNvSpPr txBox="1"/>
          <p:nvPr/>
        </p:nvSpPr>
        <p:spPr>
          <a:xfrm>
            <a:off x="946383" y="4147304"/>
            <a:ext cx="36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4DBB44B-25F3-2809-A1DB-FFE7A5DD4686}"/>
              </a:ext>
            </a:extLst>
          </p:cNvPr>
          <p:cNvCxnSpPr/>
          <p:nvPr/>
        </p:nvCxnSpPr>
        <p:spPr>
          <a:xfrm>
            <a:off x="1218395" y="4343400"/>
            <a:ext cx="278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49144BD-0AB0-A9EC-FF4B-8C07DE6D9D07}"/>
              </a:ext>
            </a:extLst>
          </p:cNvPr>
          <p:cNvSpPr txBox="1"/>
          <p:nvPr/>
        </p:nvSpPr>
        <p:spPr>
          <a:xfrm>
            <a:off x="3842051" y="3488032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CD17E75-D6B6-9844-899D-FA9A7D62883E}"/>
              </a:ext>
            </a:extLst>
          </p:cNvPr>
          <p:cNvSpPr/>
          <p:nvPr/>
        </p:nvSpPr>
        <p:spPr>
          <a:xfrm>
            <a:off x="4340475" y="3724233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C95D54-03DC-F341-E8C3-3ABDFE05E4DA}"/>
              </a:ext>
            </a:extLst>
          </p:cNvPr>
          <p:cNvCxnSpPr>
            <a:cxnSpLocks/>
          </p:cNvCxnSpPr>
          <p:nvPr/>
        </p:nvCxnSpPr>
        <p:spPr>
          <a:xfrm>
            <a:off x="4450669" y="3781093"/>
            <a:ext cx="257312" cy="17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B93B55B-B54E-531F-37E3-BA51188C9FAD}"/>
              </a:ext>
            </a:extLst>
          </p:cNvPr>
          <p:cNvCxnSpPr>
            <a:cxnSpLocks/>
          </p:cNvCxnSpPr>
          <p:nvPr/>
        </p:nvCxnSpPr>
        <p:spPr>
          <a:xfrm flipH="1">
            <a:off x="4632931" y="3781093"/>
            <a:ext cx="39541" cy="1180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F61C83D-E04B-7BE2-59D0-5DEC773F3802}"/>
              </a:ext>
            </a:extLst>
          </p:cNvPr>
          <p:cNvCxnSpPr>
            <a:cxnSpLocks/>
          </p:cNvCxnSpPr>
          <p:nvPr/>
        </p:nvCxnSpPr>
        <p:spPr>
          <a:xfrm flipH="1">
            <a:off x="2171700" y="4972596"/>
            <a:ext cx="2461231" cy="27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531D557-F00D-41C4-4575-0756CB32DDAB}"/>
              </a:ext>
            </a:extLst>
          </p:cNvPr>
          <p:cNvCxnSpPr/>
          <p:nvPr/>
        </p:nvCxnSpPr>
        <p:spPr>
          <a:xfrm>
            <a:off x="2171700" y="4857750"/>
            <a:ext cx="0" cy="1591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D5FFAC3-ED49-7814-FB7F-5DF5782BC45B}"/>
              </a:ext>
            </a:extLst>
          </p:cNvPr>
          <p:cNvCxnSpPr/>
          <p:nvPr/>
        </p:nvCxnSpPr>
        <p:spPr>
          <a:xfrm flipV="1">
            <a:off x="1371600" y="1828800"/>
            <a:ext cx="0" cy="605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7F1CAEE-B2E5-D3A7-74EF-E4AF1DA3D2BF}"/>
              </a:ext>
            </a:extLst>
          </p:cNvPr>
          <p:cNvSpPr txBox="1"/>
          <p:nvPr/>
        </p:nvSpPr>
        <p:spPr>
          <a:xfrm>
            <a:off x="1052661" y="1644134"/>
            <a:ext cx="36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CE9AA8D-4D68-9359-D88E-4F988B721A01}"/>
              </a:ext>
            </a:extLst>
          </p:cNvPr>
          <p:cNvCxnSpPr>
            <a:cxnSpLocks/>
          </p:cNvCxnSpPr>
          <p:nvPr/>
        </p:nvCxnSpPr>
        <p:spPr>
          <a:xfrm flipH="1" flipV="1">
            <a:off x="5236051" y="2698186"/>
            <a:ext cx="66913" cy="3244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AC7F667-B3A6-920D-4835-5BAB6648CCA7}"/>
              </a:ext>
            </a:extLst>
          </p:cNvPr>
          <p:cNvCxnSpPr/>
          <p:nvPr/>
        </p:nvCxnSpPr>
        <p:spPr>
          <a:xfrm flipH="1">
            <a:off x="5236051" y="2709616"/>
            <a:ext cx="1703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5FF85EE-4C9A-FF9D-5BF8-FE2A1AFD74E5}"/>
              </a:ext>
            </a:extLst>
          </p:cNvPr>
          <p:cNvCxnSpPr>
            <a:cxnSpLocks/>
          </p:cNvCxnSpPr>
          <p:nvPr/>
        </p:nvCxnSpPr>
        <p:spPr>
          <a:xfrm flipH="1">
            <a:off x="7522051" y="5942893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096E987-D395-2B45-7FEF-B720170D1E47}"/>
              </a:ext>
            </a:extLst>
          </p:cNvPr>
          <p:cNvCxnSpPr>
            <a:cxnSpLocks/>
          </p:cNvCxnSpPr>
          <p:nvPr/>
        </p:nvCxnSpPr>
        <p:spPr>
          <a:xfrm>
            <a:off x="5070316" y="5680710"/>
            <a:ext cx="377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98F6CA4-446E-9C75-057D-9DF54F0C4C6A}"/>
              </a:ext>
            </a:extLst>
          </p:cNvPr>
          <p:cNvCxnSpPr>
            <a:cxnSpLocks/>
          </p:cNvCxnSpPr>
          <p:nvPr/>
        </p:nvCxnSpPr>
        <p:spPr>
          <a:xfrm>
            <a:off x="5047456" y="2446020"/>
            <a:ext cx="377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32EA5B2-41C2-9FA7-6B61-1AAACF87CE93}"/>
              </a:ext>
            </a:extLst>
          </p:cNvPr>
          <p:cNvCxnSpPr>
            <a:cxnSpLocks/>
          </p:cNvCxnSpPr>
          <p:nvPr/>
        </p:nvCxnSpPr>
        <p:spPr>
          <a:xfrm flipV="1">
            <a:off x="5047456" y="2413143"/>
            <a:ext cx="0" cy="3267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91B8912-1310-8116-42A0-738193F84FA0}"/>
              </a:ext>
            </a:extLst>
          </p:cNvPr>
          <p:cNvCxnSpPr>
            <a:cxnSpLocks/>
          </p:cNvCxnSpPr>
          <p:nvPr/>
        </p:nvCxnSpPr>
        <p:spPr>
          <a:xfrm>
            <a:off x="4880610" y="2177415"/>
            <a:ext cx="5040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5140A64-D5D7-0C93-38F7-6D0DEB2B5705}"/>
              </a:ext>
            </a:extLst>
          </p:cNvPr>
          <p:cNvCxnSpPr>
            <a:cxnSpLocks/>
          </p:cNvCxnSpPr>
          <p:nvPr/>
        </p:nvCxnSpPr>
        <p:spPr>
          <a:xfrm>
            <a:off x="4902359" y="5446395"/>
            <a:ext cx="5040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3170703-9861-54AB-C1B9-28ED2DB599CE}"/>
              </a:ext>
            </a:extLst>
          </p:cNvPr>
          <p:cNvCxnSpPr>
            <a:cxnSpLocks/>
          </p:cNvCxnSpPr>
          <p:nvPr/>
        </p:nvCxnSpPr>
        <p:spPr>
          <a:xfrm flipV="1">
            <a:off x="4909185" y="2177415"/>
            <a:ext cx="0" cy="3267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88253CF-B5CC-024C-803A-28CB72758BAD}"/>
              </a:ext>
            </a:extLst>
          </p:cNvPr>
          <p:cNvCxnSpPr/>
          <p:nvPr/>
        </p:nvCxnSpPr>
        <p:spPr>
          <a:xfrm>
            <a:off x="3451860" y="3429000"/>
            <a:ext cx="1765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9922B8D3-9A0F-31FA-C85C-5C4494E27846}"/>
              </a:ext>
            </a:extLst>
          </p:cNvPr>
          <p:cNvSpPr/>
          <p:nvPr/>
        </p:nvSpPr>
        <p:spPr>
          <a:xfrm flipH="1" flipV="1">
            <a:off x="5226450" y="3389168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F3E0D05-F9EE-36A6-84C0-AD76EEBEB9FE}"/>
              </a:ext>
            </a:extLst>
          </p:cNvPr>
          <p:cNvCxnSpPr>
            <a:cxnSpLocks/>
          </p:cNvCxnSpPr>
          <p:nvPr/>
        </p:nvCxnSpPr>
        <p:spPr>
          <a:xfrm>
            <a:off x="3468868" y="3097530"/>
            <a:ext cx="1601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6379A876-45D1-B312-8BD8-FCDCC49101FD}"/>
              </a:ext>
            </a:extLst>
          </p:cNvPr>
          <p:cNvSpPr/>
          <p:nvPr/>
        </p:nvSpPr>
        <p:spPr>
          <a:xfrm flipH="1" flipV="1">
            <a:off x="5032336" y="3046994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0BA6E9CA-F7FF-B865-C6E2-DB38A68F72AB}"/>
              </a:ext>
            </a:extLst>
          </p:cNvPr>
          <p:cNvCxnSpPr>
            <a:cxnSpLocks/>
          </p:cNvCxnSpPr>
          <p:nvPr/>
        </p:nvCxnSpPr>
        <p:spPr>
          <a:xfrm>
            <a:off x="3408018" y="2428404"/>
            <a:ext cx="10392" cy="1470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8DCA7451-4D0C-80E2-4053-1080DD6C1D5F}"/>
              </a:ext>
            </a:extLst>
          </p:cNvPr>
          <p:cNvCxnSpPr>
            <a:cxnSpLocks/>
          </p:cNvCxnSpPr>
          <p:nvPr/>
        </p:nvCxnSpPr>
        <p:spPr>
          <a:xfrm>
            <a:off x="3461806" y="2750074"/>
            <a:ext cx="1475351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0A813EF2-4386-4E99-18F8-671E9CAA7D83}"/>
              </a:ext>
            </a:extLst>
          </p:cNvPr>
          <p:cNvSpPr/>
          <p:nvPr/>
        </p:nvSpPr>
        <p:spPr>
          <a:xfrm rot="4810202" flipH="1" flipV="1">
            <a:off x="4870928" y="2747900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03F9A7C-F72A-7244-2796-07AC31F53A72}"/>
              </a:ext>
            </a:extLst>
          </p:cNvPr>
          <p:cNvCxnSpPr>
            <a:cxnSpLocks/>
          </p:cNvCxnSpPr>
          <p:nvPr/>
        </p:nvCxnSpPr>
        <p:spPr>
          <a:xfrm>
            <a:off x="3538743" y="3095476"/>
            <a:ext cx="0" cy="687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1E2648C-A700-5516-BDEA-03576AE5A92B}"/>
              </a:ext>
            </a:extLst>
          </p:cNvPr>
          <p:cNvCxnSpPr/>
          <p:nvPr/>
        </p:nvCxnSpPr>
        <p:spPr>
          <a:xfrm>
            <a:off x="5321220" y="1143000"/>
            <a:ext cx="0" cy="50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67382115-98F6-6E90-81F6-508E9ABC5D73}"/>
              </a:ext>
            </a:extLst>
          </p:cNvPr>
          <p:cNvCxnSpPr/>
          <p:nvPr/>
        </p:nvCxnSpPr>
        <p:spPr>
          <a:xfrm>
            <a:off x="5217795" y="1644134"/>
            <a:ext cx="278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4EE498B2-5528-4A17-511C-CE90DE152283}"/>
              </a:ext>
            </a:extLst>
          </p:cNvPr>
          <p:cNvCxnSpPr>
            <a:cxnSpLocks/>
          </p:cNvCxnSpPr>
          <p:nvPr/>
        </p:nvCxnSpPr>
        <p:spPr>
          <a:xfrm>
            <a:off x="5417634" y="1826673"/>
            <a:ext cx="19404" cy="28156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D9CF345-FD2E-3BEA-C47F-F44A7DC9C6B7}"/>
              </a:ext>
            </a:extLst>
          </p:cNvPr>
          <p:cNvCxnSpPr>
            <a:cxnSpLocks/>
          </p:cNvCxnSpPr>
          <p:nvPr/>
        </p:nvCxnSpPr>
        <p:spPr>
          <a:xfrm>
            <a:off x="3427008" y="1828800"/>
            <a:ext cx="20215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696D29A1-2AB9-0BE5-3B3A-7CE8AC036D3C}"/>
              </a:ext>
            </a:extLst>
          </p:cNvPr>
          <p:cNvCxnSpPr>
            <a:cxnSpLocks/>
          </p:cNvCxnSpPr>
          <p:nvPr/>
        </p:nvCxnSpPr>
        <p:spPr>
          <a:xfrm>
            <a:off x="3451860" y="868680"/>
            <a:ext cx="19054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30BF64D-F10D-B338-11D5-602A8DB556A6}"/>
              </a:ext>
            </a:extLst>
          </p:cNvPr>
          <p:cNvCxnSpPr>
            <a:cxnSpLocks/>
          </p:cNvCxnSpPr>
          <p:nvPr/>
        </p:nvCxnSpPr>
        <p:spPr>
          <a:xfrm flipH="1">
            <a:off x="7551419" y="5680710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F180B4E9-8371-01B6-5CFF-4835AFDD07A9}"/>
              </a:ext>
            </a:extLst>
          </p:cNvPr>
          <p:cNvCxnSpPr>
            <a:cxnSpLocks/>
          </p:cNvCxnSpPr>
          <p:nvPr/>
        </p:nvCxnSpPr>
        <p:spPr>
          <a:xfrm flipH="1">
            <a:off x="7532368" y="5422122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08636A3-52A4-8620-6E8B-55987559D50B}"/>
              </a:ext>
            </a:extLst>
          </p:cNvPr>
          <p:cNvSpPr txBox="1"/>
          <p:nvPr/>
        </p:nvSpPr>
        <p:spPr>
          <a:xfrm>
            <a:off x="7808276" y="5341575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3B44A3BB-57F7-B480-BB1A-735D03ECCC59}"/>
              </a:ext>
            </a:extLst>
          </p:cNvPr>
          <p:cNvSpPr/>
          <p:nvPr/>
        </p:nvSpPr>
        <p:spPr>
          <a:xfrm>
            <a:off x="8315110" y="5621706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9D1C89C8-D7CC-A432-C8D5-ADE123829DCD}"/>
              </a:ext>
            </a:extLst>
          </p:cNvPr>
          <p:cNvCxnSpPr>
            <a:cxnSpLocks/>
          </p:cNvCxnSpPr>
          <p:nvPr/>
        </p:nvCxnSpPr>
        <p:spPr>
          <a:xfrm>
            <a:off x="8433118" y="5701716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069F6D2-5E1A-5441-7A92-1235A28DA05B}"/>
              </a:ext>
            </a:extLst>
          </p:cNvPr>
          <p:cNvSpPr txBox="1"/>
          <p:nvPr/>
        </p:nvSpPr>
        <p:spPr>
          <a:xfrm>
            <a:off x="9212580" y="5496044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Y1</a:t>
            </a:r>
            <a:r>
              <a:rPr lang="zh-CN" altLang="en-US" dirty="0"/>
              <a:t>：右移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CE5DC418-B89F-AFDA-1395-7709B895A46B}"/>
              </a:ext>
            </a:extLst>
          </p:cNvPr>
          <p:cNvCxnSpPr>
            <a:cxnSpLocks/>
          </p:cNvCxnSpPr>
          <p:nvPr/>
        </p:nvCxnSpPr>
        <p:spPr>
          <a:xfrm flipH="1">
            <a:off x="7532687" y="5165220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A22FCA49-7EFE-C7EC-E641-7DC837554E97}"/>
              </a:ext>
            </a:extLst>
          </p:cNvPr>
          <p:cNvCxnSpPr>
            <a:cxnSpLocks/>
          </p:cNvCxnSpPr>
          <p:nvPr/>
        </p:nvCxnSpPr>
        <p:spPr>
          <a:xfrm flipH="1">
            <a:off x="7562055" y="4903037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B4360F75-0452-7D8C-1CE4-C3912644F9E6}"/>
              </a:ext>
            </a:extLst>
          </p:cNvPr>
          <p:cNvCxnSpPr>
            <a:cxnSpLocks/>
          </p:cNvCxnSpPr>
          <p:nvPr/>
        </p:nvCxnSpPr>
        <p:spPr>
          <a:xfrm flipH="1">
            <a:off x="7543004" y="4644449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2F1F00B-89C6-C61B-7F40-42140C34FAFE}"/>
              </a:ext>
            </a:extLst>
          </p:cNvPr>
          <p:cNvSpPr txBox="1"/>
          <p:nvPr/>
        </p:nvSpPr>
        <p:spPr>
          <a:xfrm>
            <a:off x="7818912" y="4563902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9779E598-6AF1-5F4F-8AFD-0622A7264DAC}"/>
              </a:ext>
            </a:extLst>
          </p:cNvPr>
          <p:cNvSpPr/>
          <p:nvPr/>
        </p:nvSpPr>
        <p:spPr>
          <a:xfrm>
            <a:off x="8325746" y="4844033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841A92D7-63EF-6932-0F7B-651465F72810}"/>
              </a:ext>
            </a:extLst>
          </p:cNvPr>
          <p:cNvCxnSpPr>
            <a:cxnSpLocks/>
          </p:cNvCxnSpPr>
          <p:nvPr/>
        </p:nvCxnSpPr>
        <p:spPr>
          <a:xfrm>
            <a:off x="8443754" y="4924043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E88A18B2-CE20-402A-C89A-6B90418527C5}"/>
              </a:ext>
            </a:extLst>
          </p:cNvPr>
          <p:cNvCxnSpPr>
            <a:cxnSpLocks/>
          </p:cNvCxnSpPr>
          <p:nvPr/>
        </p:nvCxnSpPr>
        <p:spPr>
          <a:xfrm flipH="1">
            <a:off x="7532687" y="2441027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A1067950-4031-53E3-EC4E-B4A0BFF90046}"/>
              </a:ext>
            </a:extLst>
          </p:cNvPr>
          <p:cNvCxnSpPr>
            <a:cxnSpLocks/>
          </p:cNvCxnSpPr>
          <p:nvPr/>
        </p:nvCxnSpPr>
        <p:spPr>
          <a:xfrm flipH="1">
            <a:off x="7562055" y="2178844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9D5CC6BE-4DE1-F55D-E964-F7F73BAED751}"/>
              </a:ext>
            </a:extLst>
          </p:cNvPr>
          <p:cNvCxnSpPr>
            <a:cxnSpLocks/>
          </p:cNvCxnSpPr>
          <p:nvPr/>
        </p:nvCxnSpPr>
        <p:spPr>
          <a:xfrm flipH="1">
            <a:off x="7543004" y="1920256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F1F87F7-83D3-BDBC-6B84-A3474E314B35}"/>
              </a:ext>
            </a:extLst>
          </p:cNvPr>
          <p:cNvSpPr txBox="1"/>
          <p:nvPr/>
        </p:nvSpPr>
        <p:spPr>
          <a:xfrm>
            <a:off x="7818912" y="1839709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C4927BF-FDA4-46BB-D0ED-AD1E03A90419}"/>
              </a:ext>
            </a:extLst>
          </p:cNvPr>
          <p:cNvSpPr/>
          <p:nvPr/>
        </p:nvSpPr>
        <p:spPr>
          <a:xfrm>
            <a:off x="8325746" y="2119840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1583A2C9-7C93-7957-4787-55320C2D5AD9}"/>
              </a:ext>
            </a:extLst>
          </p:cNvPr>
          <p:cNvCxnSpPr>
            <a:cxnSpLocks/>
          </p:cNvCxnSpPr>
          <p:nvPr/>
        </p:nvCxnSpPr>
        <p:spPr>
          <a:xfrm>
            <a:off x="8443754" y="2199850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57B385AA-327A-5E6A-34BC-934122D10CC2}"/>
              </a:ext>
            </a:extLst>
          </p:cNvPr>
          <p:cNvCxnSpPr>
            <a:cxnSpLocks/>
          </p:cNvCxnSpPr>
          <p:nvPr/>
        </p:nvCxnSpPr>
        <p:spPr>
          <a:xfrm flipH="1">
            <a:off x="7522051" y="4381559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AD02E1B1-73B2-2F1C-C281-9E9E81F35280}"/>
              </a:ext>
            </a:extLst>
          </p:cNvPr>
          <p:cNvCxnSpPr>
            <a:cxnSpLocks/>
          </p:cNvCxnSpPr>
          <p:nvPr/>
        </p:nvCxnSpPr>
        <p:spPr>
          <a:xfrm flipH="1">
            <a:off x="7522051" y="4131574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51087BAB-8093-83C9-C206-E93E00FEC55C}"/>
              </a:ext>
            </a:extLst>
          </p:cNvPr>
          <p:cNvCxnSpPr>
            <a:cxnSpLocks/>
          </p:cNvCxnSpPr>
          <p:nvPr/>
        </p:nvCxnSpPr>
        <p:spPr>
          <a:xfrm flipH="1">
            <a:off x="7549511" y="4005288"/>
            <a:ext cx="25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45C12891-188F-B7EF-3757-8D486338CAB0}"/>
              </a:ext>
            </a:extLst>
          </p:cNvPr>
          <p:cNvCxnSpPr>
            <a:cxnSpLocks/>
          </p:cNvCxnSpPr>
          <p:nvPr/>
        </p:nvCxnSpPr>
        <p:spPr>
          <a:xfrm flipH="1">
            <a:off x="7543004" y="2698186"/>
            <a:ext cx="19051" cy="1278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09BB92E-1F97-413E-8234-1C068BE14136}"/>
              </a:ext>
            </a:extLst>
          </p:cNvPr>
          <p:cNvSpPr txBox="1"/>
          <p:nvPr/>
        </p:nvSpPr>
        <p:spPr>
          <a:xfrm>
            <a:off x="7808276" y="3802593"/>
            <a:ext cx="4877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</a:p>
          <a:p>
            <a:endParaRPr lang="zh-CN" altLang="en-US" dirty="0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6B85BFF7-C785-C938-2E1C-3FAD396E4604}"/>
              </a:ext>
            </a:extLst>
          </p:cNvPr>
          <p:cNvSpPr/>
          <p:nvPr/>
        </p:nvSpPr>
        <p:spPr>
          <a:xfrm>
            <a:off x="8315110" y="4082724"/>
            <a:ext cx="118008" cy="1180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9A064463-1D65-1010-5560-72D7796C84A4}"/>
              </a:ext>
            </a:extLst>
          </p:cNvPr>
          <p:cNvCxnSpPr>
            <a:cxnSpLocks/>
          </p:cNvCxnSpPr>
          <p:nvPr/>
        </p:nvCxnSpPr>
        <p:spPr>
          <a:xfrm>
            <a:off x="8433118" y="4162734"/>
            <a:ext cx="779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97EB412-2D17-2557-E2C4-54610C4F5CA9}"/>
              </a:ext>
            </a:extLst>
          </p:cNvPr>
          <p:cNvSpPr txBox="1"/>
          <p:nvPr/>
        </p:nvSpPr>
        <p:spPr>
          <a:xfrm>
            <a:off x="9300210" y="4739377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Y2</a:t>
            </a:r>
            <a:r>
              <a:rPr lang="zh-CN" altLang="en-US" dirty="0"/>
              <a:t>：下移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CB05C15-174A-9800-A5E7-28919CA1D45D}"/>
              </a:ext>
            </a:extLst>
          </p:cNvPr>
          <p:cNvSpPr txBox="1"/>
          <p:nvPr/>
        </p:nvSpPr>
        <p:spPr>
          <a:xfrm>
            <a:off x="9175627" y="3973526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Y3</a:t>
            </a:r>
            <a:r>
              <a:rPr lang="zh-CN" altLang="en-US" dirty="0"/>
              <a:t>：左移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3F7BC95-3647-218D-F3AD-8C0CC0171C8B}"/>
              </a:ext>
            </a:extLst>
          </p:cNvPr>
          <p:cNvSpPr txBox="1"/>
          <p:nvPr/>
        </p:nvSpPr>
        <p:spPr>
          <a:xfrm>
            <a:off x="9175627" y="1935174"/>
            <a:ext cx="144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Y4</a:t>
            </a:r>
            <a:r>
              <a:rPr lang="zh-CN" altLang="en-US" dirty="0"/>
              <a:t>：上移</a:t>
            </a: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C1DF91BD-8581-D6DD-4908-871D06397C72}"/>
              </a:ext>
            </a:extLst>
          </p:cNvPr>
          <p:cNvSpPr/>
          <p:nvPr/>
        </p:nvSpPr>
        <p:spPr>
          <a:xfrm flipH="1" flipV="1">
            <a:off x="5389752" y="4308531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971D22A1-028C-C637-1789-B3866B48750D}"/>
              </a:ext>
            </a:extLst>
          </p:cNvPr>
          <p:cNvSpPr/>
          <p:nvPr/>
        </p:nvSpPr>
        <p:spPr>
          <a:xfrm flipH="1" flipV="1">
            <a:off x="5386389" y="4607397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1130B5A-C77B-54B8-EE43-EBF380889144}"/>
              </a:ext>
            </a:extLst>
          </p:cNvPr>
          <p:cNvSpPr txBox="1"/>
          <p:nvPr/>
        </p:nvSpPr>
        <p:spPr>
          <a:xfrm>
            <a:off x="5382817" y="3802593"/>
            <a:ext cx="330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735E5D5-FD26-9A8D-7D87-E7A69EEA10D9}"/>
              </a:ext>
            </a:extLst>
          </p:cNvPr>
          <p:cNvCxnSpPr>
            <a:cxnSpLocks/>
          </p:cNvCxnSpPr>
          <p:nvPr/>
        </p:nvCxnSpPr>
        <p:spPr>
          <a:xfrm>
            <a:off x="3558727" y="3775007"/>
            <a:ext cx="3025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D839AB9-88B6-A5E1-BB6A-2543BFCBCA43}"/>
              </a:ext>
            </a:extLst>
          </p:cNvPr>
          <p:cNvCxnSpPr>
            <a:cxnSpLocks/>
          </p:cNvCxnSpPr>
          <p:nvPr/>
        </p:nvCxnSpPr>
        <p:spPr>
          <a:xfrm>
            <a:off x="3636933" y="3429000"/>
            <a:ext cx="0" cy="182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E3AF988-511B-EF0B-C3E2-C1FC5A2C416C}"/>
              </a:ext>
            </a:extLst>
          </p:cNvPr>
          <p:cNvCxnSpPr>
            <a:cxnSpLocks/>
          </p:cNvCxnSpPr>
          <p:nvPr/>
        </p:nvCxnSpPr>
        <p:spPr>
          <a:xfrm>
            <a:off x="3409017" y="3913710"/>
            <a:ext cx="4558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62990D3-A5F0-B465-A7D2-ACC53DD25774}"/>
              </a:ext>
            </a:extLst>
          </p:cNvPr>
          <p:cNvCxnSpPr>
            <a:cxnSpLocks/>
          </p:cNvCxnSpPr>
          <p:nvPr/>
        </p:nvCxnSpPr>
        <p:spPr>
          <a:xfrm>
            <a:off x="3613628" y="3611880"/>
            <a:ext cx="2276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椭圆 53">
            <a:extLst>
              <a:ext uri="{FF2B5EF4-FFF2-40B4-BE49-F238E27FC236}">
                <a16:creationId xmlns:a16="http://schemas.microsoft.com/office/drawing/2014/main" id="{BD8FC244-789B-A528-C7E0-EA1789350D49}"/>
              </a:ext>
            </a:extLst>
          </p:cNvPr>
          <p:cNvSpPr/>
          <p:nvPr/>
        </p:nvSpPr>
        <p:spPr>
          <a:xfrm rot="4810202" flipH="1" flipV="1">
            <a:off x="3360470" y="2392546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AC2A5AC6-8BEB-0659-E809-7B3D5B3E5F8E}"/>
              </a:ext>
            </a:extLst>
          </p:cNvPr>
          <p:cNvSpPr/>
          <p:nvPr/>
        </p:nvSpPr>
        <p:spPr>
          <a:xfrm rot="4810202" flipH="1" flipV="1">
            <a:off x="3521070" y="3033005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6882AB8-0E24-33D2-1894-31895B902DE2}"/>
              </a:ext>
            </a:extLst>
          </p:cNvPr>
          <p:cNvSpPr/>
          <p:nvPr/>
        </p:nvSpPr>
        <p:spPr>
          <a:xfrm rot="4810202" flipH="1" flipV="1">
            <a:off x="3611921" y="3386659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C83C999-DEF8-F7DE-5B34-F0B90EDEABD6}"/>
              </a:ext>
            </a:extLst>
          </p:cNvPr>
          <p:cNvCxnSpPr>
            <a:stCxn id="54" idx="5"/>
          </p:cNvCxnSpPr>
          <p:nvPr/>
        </p:nvCxnSpPr>
        <p:spPr>
          <a:xfrm flipH="1" flipV="1">
            <a:off x="3427008" y="868680"/>
            <a:ext cx="879" cy="1539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75ACC66E-E143-ADA9-25DC-66F4AAD51FDE}"/>
              </a:ext>
            </a:extLst>
          </p:cNvPr>
          <p:cNvSpPr txBox="1"/>
          <p:nvPr/>
        </p:nvSpPr>
        <p:spPr>
          <a:xfrm>
            <a:off x="2788227" y="4611429"/>
            <a:ext cx="41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E466709-5DBC-EE0D-3A68-D4AC21661AFA}"/>
              </a:ext>
            </a:extLst>
          </p:cNvPr>
          <p:cNvSpPr/>
          <p:nvPr/>
        </p:nvSpPr>
        <p:spPr>
          <a:xfrm rot="4810202" flipH="1" flipV="1">
            <a:off x="3380629" y="1784868"/>
            <a:ext cx="76514" cy="96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949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2DE8B7A-9D47-2A39-47EC-48D973C51CD2}"/>
              </a:ext>
            </a:extLst>
          </p:cNvPr>
          <p:cNvSpPr txBox="1"/>
          <p:nvPr/>
        </p:nvSpPr>
        <p:spPr>
          <a:xfrm>
            <a:off x="648652" y="65514"/>
            <a:ext cx="96612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设计一个自动售饮料机的逻辑电路。它的投币口每次只能投入一枚五角或</a:t>
            </a:r>
            <a:r>
              <a:rPr lang="en-US" altLang="zh-CN" sz="2800" dirty="0"/>
              <a:t>1</a:t>
            </a:r>
            <a:r>
              <a:rPr lang="zh-CN" altLang="en-US" sz="2800" dirty="0"/>
              <a:t>元的硬币。投入一元五角钱硬币后机器自动给出一杯饮料;投入两元(两枚一元)硬币后,在给出饮料的同时找回一枚五角的硬币。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8C4953-88F0-1467-EF51-749766D84FB1}"/>
              </a:ext>
            </a:extLst>
          </p:cNvPr>
          <p:cNvSpPr txBox="1"/>
          <p:nvPr/>
        </p:nvSpPr>
        <p:spPr>
          <a:xfrm>
            <a:off x="722653" y="2037978"/>
            <a:ext cx="3783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输入：</a:t>
            </a:r>
            <a:endParaRPr lang="en-US" altLang="zh-CN" sz="2400" dirty="0"/>
          </a:p>
          <a:p>
            <a:r>
              <a:rPr lang="en-US" altLang="zh-CN" sz="2400" dirty="0"/>
              <a:t>A=1   </a:t>
            </a:r>
            <a:r>
              <a:rPr lang="zh-CN" altLang="en-US" sz="2400" dirty="0"/>
              <a:t>投入</a:t>
            </a:r>
            <a:r>
              <a:rPr lang="en-US" altLang="zh-CN" sz="2400" dirty="0"/>
              <a:t>5</a:t>
            </a:r>
            <a:r>
              <a:rPr lang="zh-CN" altLang="en-US" sz="2400" dirty="0"/>
              <a:t>角  </a:t>
            </a:r>
            <a:endParaRPr lang="en-US" altLang="zh-CN" sz="2400" dirty="0"/>
          </a:p>
          <a:p>
            <a:r>
              <a:rPr lang="en-US" altLang="zh-CN" sz="2400" dirty="0"/>
              <a:t>A=0    </a:t>
            </a:r>
            <a:r>
              <a:rPr lang="zh-CN" altLang="en-US" sz="2400" dirty="0"/>
              <a:t>没有投入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B=1    </a:t>
            </a:r>
            <a:r>
              <a:rPr lang="zh-CN" altLang="en-US" sz="2400" dirty="0"/>
              <a:t>投入</a:t>
            </a:r>
            <a:r>
              <a:rPr lang="en-US" altLang="zh-CN" sz="2400" dirty="0"/>
              <a:t>1</a:t>
            </a:r>
            <a:r>
              <a:rPr lang="zh-CN" altLang="en-US" sz="2400" dirty="0"/>
              <a:t>元</a:t>
            </a:r>
            <a:endParaRPr lang="en-US" altLang="zh-CN" sz="2400" dirty="0"/>
          </a:p>
          <a:p>
            <a:r>
              <a:rPr lang="en-US" altLang="zh-CN" sz="2400" dirty="0"/>
              <a:t>B=0    </a:t>
            </a:r>
            <a:r>
              <a:rPr lang="zh-CN" altLang="en-US" sz="2400" dirty="0"/>
              <a:t>没有投入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D35630-74E6-1EC1-A207-87D656E35BDE}"/>
              </a:ext>
            </a:extLst>
          </p:cNvPr>
          <p:cNvSpPr txBox="1"/>
          <p:nvPr/>
        </p:nvSpPr>
        <p:spPr>
          <a:xfrm>
            <a:off x="738408" y="4502884"/>
            <a:ext cx="36040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输出：</a:t>
            </a:r>
            <a:endParaRPr lang="en-US" altLang="zh-CN" sz="2400" dirty="0"/>
          </a:p>
          <a:p>
            <a:r>
              <a:rPr lang="en-US" altLang="zh-CN" sz="2400" dirty="0"/>
              <a:t>Y=1   </a:t>
            </a:r>
            <a:r>
              <a:rPr lang="zh-CN" altLang="en-US" sz="2400" dirty="0"/>
              <a:t>输出饮料</a:t>
            </a:r>
            <a:endParaRPr lang="en-US" altLang="zh-CN" sz="2400" dirty="0"/>
          </a:p>
          <a:p>
            <a:r>
              <a:rPr lang="en-US" altLang="zh-CN" sz="2400" dirty="0"/>
              <a:t>Y=0    </a:t>
            </a:r>
            <a:r>
              <a:rPr lang="zh-CN" altLang="en-US" sz="2400" dirty="0"/>
              <a:t>无饮料输出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Z=1</a:t>
            </a:r>
            <a:r>
              <a:rPr lang="zh-CN" altLang="en-US" sz="2400" dirty="0"/>
              <a:t>：找回</a:t>
            </a:r>
            <a:r>
              <a:rPr lang="en-US" altLang="zh-CN" sz="2400" dirty="0"/>
              <a:t>5</a:t>
            </a:r>
            <a:r>
              <a:rPr lang="zh-CN" altLang="en-US" sz="2400" dirty="0"/>
              <a:t>角</a:t>
            </a:r>
            <a:endParaRPr lang="en-US" altLang="zh-CN" sz="2400" dirty="0"/>
          </a:p>
          <a:p>
            <a:r>
              <a:rPr lang="en-US" altLang="zh-CN" sz="2400" dirty="0"/>
              <a:t>Z=0</a:t>
            </a:r>
            <a:r>
              <a:rPr lang="zh-CN" altLang="en-US" sz="2400" dirty="0"/>
              <a:t>：不找回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8A7FE0-7E29-9177-CB3C-011FFC6C1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454" y="2651101"/>
            <a:ext cx="6057143" cy="33714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AD8BE92-DC3C-124D-6CFF-7DC079CF42F9}"/>
              </a:ext>
            </a:extLst>
          </p:cNvPr>
          <p:cNvSpPr/>
          <p:nvPr/>
        </p:nvSpPr>
        <p:spPr>
          <a:xfrm>
            <a:off x="13033611" y="3794078"/>
            <a:ext cx="2851699" cy="3017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067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00726D0-1442-D9EC-7E36-0CA55D50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2" y="1139811"/>
            <a:ext cx="5438430" cy="31816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9DF7F0-A5C2-31C2-B68B-ECF17AEA699A}"/>
              </a:ext>
            </a:extLst>
          </p:cNvPr>
          <p:cNvSpPr txBox="1"/>
          <p:nvPr/>
        </p:nvSpPr>
        <p:spPr>
          <a:xfrm>
            <a:off x="313150" y="361364"/>
            <a:ext cx="5473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分析下图中的时序逻辑电路功能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70D1734-568D-E41C-21BB-CA91A692E234}"/>
                  </a:ext>
                </a:extLst>
              </p:cNvPr>
              <p:cNvSpPr txBox="1"/>
              <p:nvPr/>
            </p:nvSpPr>
            <p:spPr>
              <a:xfrm>
                <a:off x="503372" y="4658246"/>
                <a:ext cx="2906039" cy="590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70D1734-568D-E41C-21BB-CA91A692E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72" y="4658246"/>
                <a:ext cx="2906039" cy="590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8685A3-D2CA-EA70-BA52-F52624E636CE}"/>
                  </a:ext>
                </a:extLst>
              </p:cNvPr>
              <p:cNvSpPr txBox="1"/>
              <p:nvPr/>
            </p:nvSpPr>
            <p:spPr>
              <a:xfrm>
                <a:off x="3430432" y="4725701"/>
                <a:ext cx="1695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8685A3-D2CA-EA70-BA52-F52624E63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432" y="4725701"/>
                <a:ext cx="16954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136279-EB5A-64A6-8400-B5EDEF7F6D60}"/>
                  </a:ext>
                </a:extLst>
              </p:cNvPr>
              <p:cNvSpPr txBox="1"/>
              <p:nvPr/>
            </p:nvSpPr>
            <p:spPr>
              <a:xfrm>
                <a:off x="482351" y="5585689"/>
                <a:ext cx="2927060" cy="590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136279-EB5A-64A6-8400-B5EDEF7F6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51" y="5585689"/>
                <a:ext cx="2927060" cy="590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204EA0-2BBA-A7CA-8C56-DE4A2F193FE3}"/>
                  </a:ext>
                </a:extLst>
              </p:cNvPr>
              <p:cNvSpPr txBox="1"/>
              <p:nvPr/>
            </p:nvSpPr>
            <p:spPr>
              <a:xfrm>
                <a:off x="5549029" y="4811909"/>
                <a:ext cx="3153940" cy="440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204EA0-2BBA-A7CA-8C56-DE4A2F193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029" y="4811909"/>
                <a:ext cx="3153940" cy="440762"/>
              </a:xfrm>
              <a:prstGeom prst="rect">
                <a:avLst/>
              </a:prstGeom>
              <a:blipFill>
                <a:blip r:embed="rId6"/>
                <a:stretch>
                  <a:fillRect t="-23288" b="-46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615B7E4-FD9B-82FF-2A75-F877A9AC9CC9}"/>
                  </a:ext>
                </a:extLst>
              </p:cNvPr>
              <p:cNvSpPr txBox="1"/>
              <p:nvPr/>
            </p:nvSpPr>
            <p:spPr>
              <a:xfrm>
                <a:off x="5549029" y="5881027"/>
                <a:ext cx="5019707" cy="440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615B7E4-FD9B-82FF-2A75-F877A9AC9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029" y="5881027"/>
                <a:ext cx="5019707" cy="440313"/>
              </a:xfrm>
              <a:prstGeom prst="rect">
                <a:avLst/>
              </a:prstGeom>
              <a:blipFill>
                <a:blip r:embed="rId7"/>
                <a:stretch>
                  <a:fillRect t="-23611" b="-47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0055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83426E-CFC1-245E-7716-FC37B9F38589}"/>
                  </a:ext>
                </a:extLst>
              </p:cNvPr>
              <p:cNvSpPr txBox="1"/>
              <p:nvPr/>
            </p:nvSpPr>
            <p:spPr>
              <a:xfrm>
                <a:off x="739034" y="461237"/>
                <a:ext cx="3153940" cy="440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83426E-CFC1-245E-7716-FC37B9F38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34" y="461237"/>
                <a:ext cx="3153940" cy="440762"/>
              </a:xfrm>
              <a:prstGeom prst="rect">
                <a:avLst/>
              </a:prstGeom>
              <a:blipFill>
                <a:blip r:embed="rId2"/>
                <a:stretch>
                  <a:fillRect t="-23611" b="-47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C9AB51-EAE9-4D52-146C-B0E0CD633A50}"/>
                  </a:ext>
                </a:extLst>
              </p:cNvPr>
              <p:cNvSpPr txBox="1"/>
              <p:nvPr/>
            </p:nvSpPr>
            <p:spPr>
              <a:xfrm>
                <a:off x="739034" y="1267309"/>
                <a:ext cx="5019707" cy="440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C9AB51-EAE9-4D52-146C-B0E0CD633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34" y="1267309"/>
                <a:ext cx="5019707" cy="440313"/>
              </a:xfrm>
              <a:prstGeom prst="rect">
                <a:avLst/>
              </a:prstGeom>
              <a:blipFill>
                <a:blip r:embed="rId3"/>
                <a:stretch>
                  <a:fillRect t="-23611" b="-47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34D49F3-2AEA-7AE1-1C53-326DCCC5844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1402" y="2335523"/>
              <a:ext cx="4656900" cy="37646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1380">
                      <a:extLst>
                        <a:ext uri="{9D8B030D-6E8A-4147-A177-3AD203B41FA5}">
                          <a16:colId xmlns:a16="http://schemas.microsoft.com/office/drawing/2014/main" val="2452284893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308361781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2634525156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3084532600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2287919302"/>
                        </a:ext>
                      </a:extLst>
                    </a:gridCol>
                  </a:tblGrid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X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9313925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582577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6529298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854314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8686611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818570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190791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929400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14216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34D49F3-2AEA-7AE1-1C53-326DCCC5844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1402" y="2335523"/>
              <a:ext cx="4656900" cy="37646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1380">
                      <a:extLst>
                        <a:ext uri="{9D8B030D-6E8A-4147-A177-3AD203B41FA5}">
                          <a16:colId xmlns:a16="http://schemas.microsoft.com/office/drawing/2014/main" val="2452284893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308361781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2634525156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3084532600"/>
                        </a:ext>
                      </a:extLst>
                    </a:gridCol>
                    <a:gridCol w="931380">
                      <a:extLst>
                        <a:ext uri="{9D8B030D-6E8A-4147-A177-3AD203B41FA5}">
                          <a16:colId xmlns:a16="http://schemas.microsoft.com/office/drawing/2014/main" val="2287919302"/>
                        </a:ext>
                      </a:extLst>
                    </a:gridCol>
                  </a:tblGrid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X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654" t="-7246" r="-302614" b="-8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654" t="-7246" r="-202614" b="-8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654" t="-7246" r="-102614" b="-8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0654" t="-7246" r="-2614" b="-815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9313925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582577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6529298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854314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8686611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818570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190791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929400"/>
                      </a:ext>
                    </a:extLst>
                  </a:tr>
                  <a:tr h="418295"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1</a:t>
                          </a:r>
                          <a:endParaRPr lang="zh-CN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/>
                            <a:t>0</a:t>
                          </a:r>
                          <a:endParaRPr lang="zh-CN" alt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14216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4FCFF9-BF24-C822-13EA-ED4441392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5767" y="1267309"/>
          <a:ext cx="4229401" cy="3455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27373" imgH="920247" progId="">
                  <p:embed/>
                </p:oleObj>
              </mc:Choice>
              <mc:Fallback>
                <p:oleObj r:id="rId5" imgW="1127373" imgH="920247" progId="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C4FCFF9-BF24-C822-13EA-ED4441392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35767" y="1267309"/>
                        <a:ext cx="4229401" cy="3455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3BB41EB-6EB5-0719-EE24-9BF5C6D1A148}"/>
              </a:ext>
            </a:extLst>
          </p:cNvPr>
          <p:cNvSpPr/>
          <p:nvPr/>
        </p:nvSpPr>
        <p:spPr>
          <a:xfrm>
            <a:off x="3419605" y="2830882"/>
            <a:ext cx="1490598" cy="3156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7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0B306-1501-6428-162E-1A13A7863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68" y="232352"/>
            <a:ext cx="6476999" cy="47552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b="1" dirty="0"/>
              <a:t>组合逻辑设计题目：</a:t>
            </a:r>
          </a:p>
          <a:p>
            <a:r>
              <a:rPr lang="zh-CN" altLang="en-US" sz="2400" dirty="0"/>
              <a:t>有四个开关 </a:t>
            </a:r>
            <a:r>
              <a:rPr lang="en-US" altLang="zh-CN" sz="2400" dirty="0"/>
              <a:t>S1,S2,S3,S4</a:t>
            </a:r>
            <a:r>
              <a:rPr lang="zh-CN" altLang="en-US" sz="2400" dirty="0"/>
              <a:t>，它们用于控制一个 </a:t>
            </a:r>
            <a:r>
              <a:rPr lang="zh-CN" altLang="en-US" sz="2400" b="1" dirty="0"/>
              <a:t>警报系统</a:t>
            </a:r>
            <a:r>
              <a:rPr lang="zh-CN" altLang="en-US" sz="2400" dirty="0"/>
              <a:t> 和一个 </a:t>
            </a:r>
            <a:r>
              <a:rPr lang="zh-CN" altLang="en-US" sz="2400" b="1" dirty="0"/>
              <a:t>电灯</a:t>
            </a:r>
            <a:r>
              <a:rPr lang="zh-CN" altLang="en-US" sz="2400" dirty="0"/>
              <a:t> 的开关。设计一个组合逻辑电路，满足以下要求：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/>
              <a:t>电灯开关规则：</a:t>
            </a:r>
            <a:endParaRPr lang="zh-CN" alt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200" dirty="0"/>
              <a:t>当至少两个开关被按下时，电灯应打开。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200" dirty="0"/>
              <a:t>否则，电灯保持关闭。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/>
              <a:t>警报规则：</a:t>
            </a:r>
            <a:endParaRPr lang="zh-CN" alt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当恰好有两个开关被按下时和无开关按下时，警报不响。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当一个开关或三个以上的开关被按下时，警报响。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当恰好有四个开关被按下时，警报响。</a:t>
            </a:r>
          </a:p>
          <a:p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747E29-9340-8826-F351-D7E092977281}"/>
              </a:ext>
            </a:extLst>
          </p:cNvPr>
          <p:cNvSpPr txBox="1"/>
          <p:nvPr/>
        </p:nvSpPr>
        <p:spPr>
          <a:xfrm>
            <a:off x="706581" y="5702318"/>
            <a:ext cx="3491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输入：</a:t>
            </a:r>
            <a:r>
              <a:rPr lang="en-US" altLang="zh-CN" sz="2400" dirty="0"/>
              <a:t>4</a:t>
            </a:r>
            <a:r>
              <a:rPr lang="zh-CN" altLang="en-US" sz="2400" dirty="0"/>
              <a:t>个 （</a:t>
            </a:r>
            <a:r>
              <a:rPr lang="en-US" altLang="zh-CN" sz="2400" dirty="0"/>
              <a:t>ABCD)</a:t>
            </a:r>
          </a:p>
          <a:p>
            <a:r>
              <a:rPr lang="zh-CN" altLang="en-US" sz="2400" dirty="0"/>
              <a:t>输出：电灯   </a:t>
            </a:r>
            <a:r>
              <a:rPr lang="en-US" altLang="zh-CN" sz="2400" dirty="0"/>
              <a:t>Y</a:t>
            </a:r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警报   </a:t>
            </a:r>
            <a:r>
              <a:rPr lang="en-US" altLang="zh-CN" sz="2400" dirty="0"/>
              <a:t>Z</a:t>
            </a:r>
            <a:endParaRPr lang="zh-CN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3CA31EF-5265-E477-7A0F-DB2BC732FDC7}"/>
              </a:ext>
            </a:extLst>
          </p:cNvPr>
          <p:cNvGraphicFramePr>
            <a:graphicFrameLocks noGrp="1"/>
          </p:cNvGraphicFramePr>
          <p:nvPr/>
        </p:nvGraphicFramePr>
        <p:xfrm>
          <a:off x="7370617" y="232352"/>
          <a:ext cx="3491346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747">
                  <a:extLst>
                    <a:ext uri="{9D8B030D-6E8A-4147-A177-3AD203B41FA5}">
                      <a16:colId xmlns:a16="http://schemas.microsoft.com/office/drawing/2014/main" val="2413707454"/>
                    </a:ext>
                  </a:extLst>
                </a:gridCol>
                <a:gridCol w="568035">
                  <a:extLst>
                    <a:ext uri="{9D8B030D-6E8A-4147-A177-3AD203B41FA5}">
                      <a16:colId xmlns:a16="http://schemas.microsoft.com/office/drawing/2014/main" val="2811896751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3637475611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55026939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269367220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011589119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4270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008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852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9801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98989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0548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69585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6557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3268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932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79272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9263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8345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1022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01288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85468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8824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B757B4D-78E3-3CD3-63AD-0A51EC001485}"/>
              </a:ext>
            </a:extLst>
          </p:cNvPr>
          <p:cNvSpPr txBox="1"/>
          <p:nvPr/>
        </p:nvSpPr>
        <p:spPr>
          <a:xfrm>
            <a:off x="443345" y="4987636"/>
            <a:ext cx="507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用门电路、</a:t>
            </a:r>
            <a:r>
              <a:rPr lang="en-US" altLang="zh-CN" sz="2400" dirty="0"/>
              <a:t>3-8</a:t>
            </a:r>
            <a:r>
              <a:rPr lang="zh-CN" altLang="en-US" sz="2400" dirty="0"/>
              <a:t>译码器和与非门实现</a:t>
            </a:r>
          </a:p>
        </p:txBody>
      </p:sp>
    </p:spTree>
    <p:extLst>
      <p:ext uri="{BB962C8B-B14F-4D97-AF65-F5344CB8AC3E}">
        <p14:creationId xmlns:p14="http://schemas.microsoft.com/office/powerpoint/2010/main" val="10029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AEA9FFD-96BE-3ED8-D496-98FB8DD05204}"/>
              </a:ext>
            </a:extLst>
          </p:cNvPr>
          <p:cNvGraphicFramePr>
            <a:graphicFrameLocks noGrp="1"/>
          </p:cNvGraphicFramePr>
          <p:nvPr/>
        </p:nvGraphicFramePr>
        <p:xfrm>
          <a:off x="736598" y="91124"/>
          <a:ext cx="3491346" cy="662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747">
                  <a:extLst>
                    <a:ext uri="{9D8B030D-6E8A-4147-A177-3AD203B41FA5}">
                      <a16:colId xmlns:a16="http://schemas.microsoft.com/office/drawing/2014/main" val="2413707454"/>
                    </a:ext>
                  </a:extLst>
                </a:gridCol>
                <a:gridCol w="568035">
                  <a:extLst>
                    <a:ext uri="{9D8B030D-6E8A-4147-A177-3AD203B41FA5}">
                      <a16:colId xmlns:a16="http://schemas.microsoft.com/office/drawing/2014/main" val="2811896751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3637475611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55026939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269367220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011589119"/>
                    </a:ext>
                  </a:extLst>
                </a:gridCol>
              </a:tblGrid>
              <a:tr h="389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4270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0085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8526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9801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98989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0548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695856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6557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3268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932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792725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92634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8345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102267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012881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854683"/>
                  </a:ext>
                </a:extLst>
              </a:tr>
              <a:tr h="38974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8824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B052BB7-819D-087C-B5D6-6451C0BAE9A7}"/>
              </a:ext>
            </a:extLst>
          </p:cNvPr>
          <p:cNvGraphicFramePr>
            <a:graphicFrameLocks noGrp="1"/>
          </p:cNvGraphicFramePr>
          <p:nvPr/>
        </p:nvGraphicFramePr>
        <p:xfrm>
          <a:off x="5412510" y="266987"/>
          <a:ext cx="4244110" cy="293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822">
                  <a:extLst>
                    <a:ext uri="{9D8B030D-6E8A-4147-A177-3AD203B41FA5}">
                      <a16:colId xmlns:a16="http://schemas.microsoft.com/office/drawing/2014/main" val="1912476433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3278059390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2346397652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1568780799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1689189909"/>
                    </a:ext>
                  </a:extLst>
                </a:gridCol>
              </a:tblGrid>
              <a:tr h="58668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903164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848908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4792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575527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26756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E7B48B8-44C5-F511-4D0C-CB0478C7DA56}"/>
              </a:ext>
            </a:extLst>
          </p:cNvPr>
          <p:cNvSpPr txBox="1"/>
          <p:nvPr/>
        </p:nvSpPr>
        <p:spPr>
          <a:xfrm>
            <a:off x="5412510" y="50251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AB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3D7EFC-3D2F-4F75-38D7-F2F3A656BCB6}"/>
              </a:ext>
            </a:extLst>
          </p:cNvPr>
          <p:cNvSpPr txBox="1"/>
          <p:nvPr/>
        </p:nvSpPr>
        <p:spPr>
          <a:xfrm>
            <a:off x="5802748" y="204642"/>
            <a:ext cx="524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CD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88E1290-CA5F-FC44-F2AB-9E2F664C7580}"/>
              </a:ext>
            </a:extLst>
          </p:cNvPr>
          <p:cNvCxnSpPr/>
          <p:nvPr/>
        </p:nvCxnSpPr>
        <p:spPr>
          <a:xfrm>
            <a:off x="5465619" y="266987"/>
            <a:ext cx="808181" cy="6356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997FC6-73AB-0B36-0FDE-BEED77EE30A7}"/>
              </a:ext>
            </a:extLst>
          </p:cNvPr>
          <p:cNvGraphicFramePr>
            <a:graphicFrameLocks noGrp="1"/>
          </p:cNvGraphicFramePr>
          <p:nvPr/>
        </p:nvGraphicFramePr>
        <p:xfrm>
          <a:off x="5465619" y="3545176"/>
          <a:ext cx="4244110" cy="293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822">
                  <a:extLst>
                    <a:ext uri="{9D8B030D-6E8A-4147-A177-3AD203B41FA5}">
                      <a16:colId xmlns:a16="http://schemas.microsoft.com/office/drawing/2014/main" val="1912476433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3278059390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2346397652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1568780799"/>
                    </a:ext>
                  </a:extLst>
                </a:gridCol>
                <a:gridCol w="848822">
                  <a:extLst>
                    <a:ext uri="{9D8B030D-6E8A-4147-A177-3AD203B41FA5}">
                      <a16:colId xmlns:a16="http://schemas.microsoft.com/office/drawing/2014/main" val="1689189909"/>
                    </a:ext>
                  </a:extLst>
                </a:gridCol>
              </a:tblGrid>
              <a:tr h="58668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903164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848908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4792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575527"/>
                  </a:ext>
                </a:extLst>
              </a:tr>
              <a:tr h="586683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26756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7FB3FE0-16A4-649B-C6CE-B4728E3990F1}"/>
              </a:ext>
            </a:extLst>
          </p:cNvPr>
          <p:cNvSpPr txBox="1"/>
          <p:nvPr/>
        </p:nvSpPr>
        <p:spPr>
          <a:xfrm>
            <a:off x="9883032" y="179349"/>
            <a:ext cx="1265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Y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601FF7-ED44-6147-E533-41D32F3F45E7}"/>
              </a:ext>
            </a:extLst>
          </p:cNvPr>
          <p:cNvSpPr txBox="1"/>
          <p:nvPr/>
        </p:nvSpPr>
        <p:spPr>
          <a:xfrm>
            <a:off x="9964448" y="3680962"/>
            <a:ext cx="1265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Z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48345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3681</Words>
  <Application>Microsoft Office PowerPoint</Application>
  <PresentationFormat>宽屏</PresentationFormat>
  <Paragraphs>1299</Paragraphs>
  <Slides>50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Helvetica Neue</vt:lpstr>
      <vt:lpstr>等线</vt:lpstr>
      <vt:lpstr>等线 Light</vt:lpstr>
      <vt:lpstr>宋体</vt:lpstr>
      <vt:lpstr>Arial</vt:lpstr>
      <vt:lpstr>Cambria Math</vt:lpstr>
      <vt:lpstr>Symbol</vt:lpstr>
      <vt:lpstr>Wingdings</vt:lpstr>
      <vt:lpstr>Office 主题​​</vt:lpstr>
      <vt:lpstr>BMP 图像</vt:lpstr>
      <vt:lpstr>BMP 图象</vt:lpstr>
      <vt:lpstr>公式</vt:lpstr>
      <vt:lpstr>Photo Editor 照片</vt:lpstr>
      <vt:lpstr>总复习</vt:lpstr>
      <vt:lpstr>数字逻辑电路</vt:lpstr>
      <vt:lpstr>第一章：逻辑代数基础</vt:lpstr>
      <vt:lpstr>PowerPoint 演示文稿</vt:lpstr>
      <vt:lpstr>PowerPoint 演示文稿</vt:lpstr>
      <vt:lpstr>数字逻辑电路</vt:lpstr>
      <vt:lpstr>数字逻辑电路</vt:lpstr>
      <vt:lpstr>PowerPoint 演示文稿</vt:lpstr>
      <vt:lpstr>组合逻辑电路</vt:lpstr>
      <vt:lpstr>译码器、数据选择器、数据分配器的扩展</vt:lpstr>
      <vt:lpstr>译码器、数据选择器、数据分配器的扩展</vt:lpstr>
      <vt:lpstr>PowerPoint 演示文稿</vt:lpstr>
      <vt:lpstr>用译码器和数据选择器设计逻辑函数</vt:lpstr>
      <vt:lpstr>用译码器和数据选择器设计逻辑函数</vt:lpstr>
      <vt:lpstr>用译码器和数据选择器设计逻辑函数</vt:lpstr>
      <vt:lpstr>用译码器和数据选择器设计逻辑函数</vt:lpstr>
      <vt:lpstr>用译码器和数据选择器设计逻辑函数</vt:lpstr>
      <vt:lpstr>加法器</vt:lpstr>
      <vt:lpstr>如何利用加法器构成比较器</vt:lpstr>
      <vt:lpstr>竞争冒险</vt:lpstr>
      <vt:lpstr>竞争冒险</vt:lpstr>
      <vt:lpstr>PowerPoint 演示文稿</vt:lpstr>
      <vt:lpstr>时序逻辑电路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任意进制计数器设计</vt:lpstr>
      <vt:lpstr>PowerPoint 演示文稿</vt:lpstr>
      <vt:lpstr>PowerPoint 演示文稿</vt:lpstr>
      <vt:lpstr>PowerPoint 演示文稿</vt:lpstr>
      <vt:lpstr>PowerPoint 演示文稿</vt:lpstr>
      <vt:lpstr>顺序脉冲发生器和序列信号发生器</vt:lpstr>
      <vt:lpstr>第二章 门电路</vt:lpstr>
      <vt:lpstr>第二章 门电路</vt:lpstr>
      <vt:lpstr>PowerPoint 演示文稿</vt:lpstr>
      <vt:lpstr>第二章 门电路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欣怡 林</cp:lastModifiedBy>
  <cp:revision>4</cp:revision>
  <dcterms:created xsi:type="dcterms:W3CDTF">2026-01-05T05:06:19Z</dcterms:created>
  <dcterms:modified xsi:type="dcterms:W3CDTF">2026-01-27T13:50:23Z</dcterms:modified>
</cp:coreProperties>
</file>